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75" r:id="rId7"/>
    <p:sldId id="261" r:id="rId8"/>
    <p:sldId id="276" r:id="rId9"/>
    <p:sldId id="262" r:id="rId10"/>
    <p:sldId id="263" r:id="rId11"/>
    <p:sldId id="264" r:id="rId12"/>
    <p:sldId id="265" r:id="rId13"/>
    <p:sldId id="266" r:id="rId14"/>
    <p:sldId id="267" r:id="rId15"/>
    <p:sldId id="268" r:id="rId16"/>
    <p:sldId id="269" r:id="rId17"/>
    <p:sldId id="270" r:id="rId18"/>
    <p:sldId id="271" r:id="rId19"/>
    <p:sldId id="272" r:id="rId20"/>
    <p:sldId id="273"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86" autoAdjust="0"/>
    <p:restoredTop sz="94660"/>
  </p:normalViewPr>
  <p:slideViewPr>
    <p:cSldViewPr snapToGrid="0" snapToObjects="1">
      <p:cViewPr varScale="1">
        <p:scale>
          <a:sx n="70" d="100"/>
          <a:sy n="70" d="100"/>
        </p:scale>
        <p:origin x="4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2377440"/>
            <a:ext cx="10728655" cy="2011680"/>
          </a:xfrm>
          <a:prstGeom prst="rect">
            <a:avLst/>
          </a:prstGeom>
          <a:noFill/>
        </p:spPr>
        <p:txBody>
          <a:bodyPr wrap="square">
            <a:spAutoFit/>
          </a:bodyPr>
          <a:lstStyle/>
          <a:p>
            <a:pPr algn="ctr"/>
            <a:r>
              <a:rPr sz="4000" b="1">
                <a:solidFill>
                  <a:srgbClr val="0B3D8C"/>
                </a:solidFill>
              </a:rPr>
              <a:t>MTG2A01_L03_S01 — बंडल और पेंसिल जोड़ो!</a:t>
            </a:r>
          </a:p>
          <a:p>
            <a:pPr algn="ctr"/>
            <a:r>
              <a:rPr sz="1800">
                <a:solidFill>
                  <a:srgbClr val="5A6678"/>
                </a:solidFill>
              </a:rPr>
              <a:t>Page-by-page review · 16 pages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7200"/>
            <a:ext cx="10911535" cy="822960"/>
          </a:xfrm>
          <a:prstGeom prst="rect">
            <a:avLst/>
          </a:prstGeom>
          <a:noFill/>
        </p:spPr>
        <p:txBody>
          <a:bodyPr wrap="none">
            <a:spAutoFit/>
          </a:bodyPr>
          <a:lstStyle/>
          <a:p>
            <a:r>
              <a:rPr sz="2800" b="1">
                <a:solidFill>
                  <a:srgbClr val="0B3D8C"/>
                </a:solidFill>
              </a:rPr>
              <a:t>Overall recommendations &amp; open questions</a:t>
            </a:r>
          </a:p>
        </p:txBody>
      </p:sp>
      <p:sp>
        <p:nvSpPr>
          <p:cNvPr id="3" name="TextBox 2"/>
          <p:cNvSpPr txBox="1"/>
          <p:nvPr/>
        </p:nvSpPr>
        <p:spPr>
          <a:xfrm>
            <a:off x="822960" y="1463040"/>
            <a:ext cx="10545775" cy="4937760"/>
          </a:xfrm>
          <a:prstGeom prst="rect">
            <a:avLst/>
          </a:prstGeom>
          <a:noFill/>
        </p:spPr>
        <p:txBody>
          <a:bodyPr wrap="square">
            <a:spAutoFit/>
          </a:bodyPr>
          <a:lstStyle/>
          <a:p>
            <a:pPr>
              <a:spcAft>
                <a:spcPts val="800"/>
              </a:spcAft>
            </a:pPr>
            <a:r>
              <a:rPr sz="1700">
                <a:solidFill>
                  <a:srgbClr val="1B2A44"/>
                </a:solidFill>
              </a:rPr>
              <a:t>• {'skill': 'MTG2A01_L03_S01 — Add horizontally without regrouping', 'what_it_teaches': "2-digit + 2-digit horizontal addition where every column sum stays a single digit (no carrying), sums up to 99. Taught by decomposing each addition into its tens-column and ones-column sub-sums — a bundle-of-ten-pencils object represents tens, a single pencil represents ones — directly following the SME's own suggested pathways (place-value decomposition + a class-pencils-delivery story).", 'structure': '15 slides: 4 tutorial (2 fully-worked examples, autonomous DEMO_COUNT) → 4 guided (produce via MAKE_SET + pick via CONSERVE_COUNT, one of each per example) → 7 practice (6 test items + celebration), ramping 23 → 34 → 37 → 63 → 47 → 75 → 99 (99 is the literal maximum sum possible with zero regrouping).', 'mechanic_diversity': '3 mechanic types across 2 gesture families: MAKE_SET (produce, 4 slides), CONSERVE_COUNT (pick, two-cluster combine, 5 slides), COUNT_ACTION (pick, basket-drop, 1 slide). PICK sits at 60% of test slides — above the usual guideline — because MAKE_SET is hard-capped at 5 by the engine, so every column sum of 6–9 (including the mandatory top-of-range 9+9 item) must use a pick mechanic. Documented explicitly in the build script.', 'known_gap_flagged_to_dev': "No existing engine mechanic tests a full 2-digit horizontal sum directly (text stimulus '32 + 15 = ?' → pick/produce the 2-digit total, with digit-reversal-style misconception distractors). Spec'd as a new module 'ADD_HORIZONTAL' in the build script docstring and README — this is the one true gap for the whole 2-digit add/subtract skill family at G2, and MTG2A01_L03_S02 (with regrouping) will hit the identical wall.", 'self_review_result': "16/16 pages visually clean at full-resolution capture — no overlap, clipping, or broken layout found. All three mechanics function correctly end-to-end (verified interactively pre-capture): counting, produce, pick, and celebration all behave per the engine's standard feedback contract. No implementation defects found to fix in this pass.", 'blocked_on': 'GEMINI_KEY was not available this session, so the 2 art objects (obj_bundle, obj_pencil — currently emoji fallback 📦/✏️) and all 56 Hindi VO lines are not yet generated. The lesson is fully playable and logically complete without them; verify_bundle.py reports 15 pass / 3 FAIL (art + VO + spoken-prompt checks, all traceable to the missing key) / 8 warn (6 are VO-dependent silence warnings, 1 is the known DEMO_COUNT/pick miscount — see below, 1 was resolved by this capture run).', 'please_check': ['Is the bundle-of-ten-pencils / single-pencil metaphor the right concrete model for this skill, or would a different manipulative (e.g. base-10 blocks) match classroom practice better?', 'Is the aap register appropriate throughout, matching the G2/G3 default?', "Does the always-visible 'A + B = ?' header on every guided/practice slide successfully keep the 'add horizontally' framing even though the interaction is column-by-column underneath?", 'Should the ADD_HORIZONTAL mechanic spec be prioritized, given it blocks a fully direct test of this skill (and its S02 sibling)?']}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 · 01_landing.png</a:t>
            </a:r>
          </a:p>
        </p:txBody>
      </p:sp>
      <p:pic>
        <p:nvPicPr>
          <p:cNvPr id="3" name="Picture 2" descr="01_landing.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29600" y="731520"/>
            <a:ext cx="3596335" cy="2139047"/>
          </a:xfrm>
          <a:prstGeom prst="rect">
            <a:avLst/>
          </a:prstGeom>
          <a:noFill/>
        </p:spPr>
        <p:txBody>
          <a:bodyPr wrap="square">
            <a:spAutoFit/>
          </a:bodyPr>
          <a:lstStyle/>
          <a:p>
            <a:r>
              <a:rPr sz="1600" b="1" dirty="0">
                <a:solidFill>
                  <a:srgbClr val="0B3D8C"/>
                </a:solidFill>
              </a:rPr>
              <a:t>Recommendations</a:t>
            </a:r>
          </a:p>
          <a:p>
            <a:endParaRPr lang="en-US" sz="1300" dirty="0">
              <a:solidFill>
                <a:srgbClr val="1B2A44"/>
              </a:solidFill>
            </a:endParaRPr>
          </a:p>
          <a:p>
            <a:r>
              <a:rPr lang="en-US" sz="1300" dirty="0">
                <a:solidFill>
                  <a:srgbClr val="1B2A44"/>
                </a:solidFill>
              </a:rPr>
              <a:t>Replace“</a:t>
            </a:r>
            <a:r>
              <a:rPr lang="hi-IN" sz="1300" dirty="0">
                <a:solidFill>
                  <a:srgbClr val="1B2A44"/>
                </a:solidFill>
              </a:rPr>
              <a:t>बंडल और पेंसिल जोड़ों!” </a:t>
            </a:r>
            <a:r>
              <a:rPr lang="en-US" sz="1300" dirty="0">
                <a:solidFill>
                  <a:srgbClr val="1B2A44"/>
                </a:solidFill>
              </a:rPr>
              <a:t>with “</a:t>
            </a:r>
            <a:r>
              <a:rPr lang="hi-IN" sz="1300" dirty="0">
                <a:solidFill>
                  <a:srgbClr val="1B2A44"/>
                </a:solidFill>
              </a:rPr>
              <a:t>संख्याओं की जोड़</a:t>
            </a:r>
            <a:r>
              <a:rPr lang="en-US" sz="1300" dirty="0">
                <a:solidFill>
                  <a:srgbClr val="1B2A44"/>
                </a:solidFill>
              </a:rPr>
              <a:t>”</a:t>
            </a:r>
            <a:endParaRPr lang="hi-IN" sz="1300" dirty="0">
              <a:solidFill>
                <a:srgbClr val="1B2A44"/>
              </a:solidFill>
            </a:endParaRPr>
          </a:p>
          <a:p>
            <a:endParaRPr lang="en-US" sz="1300" dirty="0">
              <a:solidFill>
                <a:srgbClr val="1B2A44"/>
              </a:solidFill>
            </a:endParaRPr>
          </a:p>
          <a:p>
            <a:r>
              <a:rPr lang="en-US" sz="1300" dirty="0">
                <a:solidFill>
                  <a:srgbClr val="1B2A44"/>
                </a:solidFill>
              </a:rPr>
              <a:t>Visual: Tara and Kabir playing with blocks.</a:t>
            </a:r>
          </a:p>
          <a:p>
            <a:r>
              <a:rPr lang="en-US" sz="1300" dirty="0">
                <a:solidFill>
                  <a:srgbClr val="1B2A44"/>
                </a:solidFill>
              </a:rPr>
              <a:t>Equation: </a:t>
            </a:r>
            <a:r>
              <a:rPr lang="en-US" sz="1300" b="1" dirty="0">
                <a:solidFill>
                  <a:srgbClr val="1B2A44"/>
                </a:solidFill>
              </a:rPr>
              <a:t>23 + 12 = ?</a:t>
            </a:r>
          </a:p>
          <a:p>
            <a:endParaRPr lang="hi-IN" sz="1300" b="1" dirty="0">
              <a:solidFill>
                <a:srgbClr val="1B2A44"/>
              </a:solidFill>
            </a:endParaRPr>
          </a:p>
          <a:p>
            <a:r>
              <a:rPr lang="en-US" sz="1300" dirty="0">
                <a:solidFill>
                  <a:srgbClr val="1B2A44"/>
                </a:solidFill>
              </a:rPr>
              <a:t>VO: </a:t>
            </a:r>
            <a:r>
              <a:rPr lang="hi-IN" sz="1300" dirty="0">
                <a:solidFill>
                  <a:srgbClr val="1B2A44"/>
                </a:solidFill>
              </a:rPr>
              <a:t>नमस्ते दोस्त! मैं हूँ स्विफ्टी! आज हम संख्याओं को जोड़ना सीखेंगे। </a:t>
            </a:r>
            <a:endParaRPr sz="1300" dirty="0">
              <a:solidFill>
                <a:srgbClr val="1B2A44"/>
              </a:solidFill>
            </a:endParaRPr>
          </a:p>
        </p:txBody>
      </p:sp>
      <p:sp>
        <p:nvSpPr>
          <p:cNvPr id="5" name="Rectangle: Rounded Corners 4">
            <a:extLst>
              <a:ext uri="{FF2B5EF4-FFF2-40B4-BE49-F238E27FC236}">
                <a16:creationId xmlns:a16="http://schemas.microsoft.com/office/drawing/2014/main" id="{6A8AADAE-142B-5202-D5B1-85DFE4851760}"/>
              </a:ext>
            </a:extLst>
          </p:cNvPr>
          <p:cNvSpPr/>
          <p:nvPr/>
        </p:nvSpPr>
        <p:spPr>
          <a:xfrm>
            <a:off x="3323844" y="3137969"/>
            <a:ext cx="1650492" cy="303329"/>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2000" b="1" dirty="0"/>
              <a:t>23  +  12  =   ?</a:t>
            </a:r>
            <a:endParaRPr lang="en-IN"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2 · 02_DEMO_COUNT.png</a:t>
            </a:r>
          </a:p>
        </p:txBody>
      </p:sp>
      <p:pic>
        <p:nvPicPr>
          <p:cNvPr id="3" name="Picture 2" descr="02_DEMO_COUNT.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7946136" y="1280809"/>
            <a:ext cx="3596335" cy="3170099"/>
          </a:xfrm>
          <a:prstGeom prst="rect">
            <a:avLst/>
          </a:prstGeom>
          <a:noFill/>
        </p:spPr>
        <p:txBody>
          <a:bodyPr wrap="square">
            <a:spAutoFit/>
          </a:bodyPr>
          <a:lstStyle/>
          <a:p>
            <a:r>
              <a:rPr sz="1600" b="1" dirty="0">
                <a:solidFill>
                  <a:srgbClr val="0B3D8C"/>
                </a:solidFill>
              </a:rPr>
              <a:t>Recommendations</a:t>
            </a:r>
          </a:p>
          <a:p>
            <a:endParaRPr lang="hi-IN" sz="1300" dirty="0">
              <a:solidFill>
                <a:srgbClr val="1B2A44"/>
              </a:solidFill>
            </a:endParaRPr>
          </a:p>
          <a:p>
            <a:r>
              <a:rPr lang="en-US" altLang="en-US" sz="1300" dirty="0"/>
              <a:t>Replace the entire slide content with the following:</a:t>
            </a:r>
          </a:p>
          <a:p>
            <a:r>
              <a:rPr lang="en-US" sz="1300" dirty="0">
                <a:solidFill>
                  <a:srgbClr val="1B2A44"/>
                </a:solidFill>
              </a:rPr>
              <a:t>Heading Text: </a:t>
            </a:r>
            <a:r>
              <a:rPr lang="hi-IN" sz="1300" dirty="0">
                <a:solidFill>
                  <a:srgbClr val="1B2A44"/>
                </a:solidFill>
              </a:rPr>
              <a:t>कुल कितने ब्लॉक्स ?</a:t>
            </a:r>
          </a:p>
          <a:p>
            <a:r>
              <a:rPr lang="en-US" sz="1300" dirty="0" err="1">
                <a:solidFill>
                  <a:srgbClr val="1B2A44"/>
                </a:solidFill>
              </a:rPr>
              <a:t>Visauls</a:t>
            </a:r>
            <a:r>
              <a:rPr lang="en-US" sz="1300" dirty="0">
                <a:solidFill>
                  <a:srgbClr val="1B2A44"/>
                </a:solidFill>
              </a:rPr>
              <a:t>: Tara and Kabir with blocks and number of blocks. </a:t>
            </a:r>
          </a:p>
          <a:p>
            <a:endParaRPr lang="en-US" sz="1300" dirty="0">
              <a:solidFill>
                <a:srgbClr val="1B2A44"/>
              </a:solidFill>
            </a:endParaRPr>
          </a:p>
          <a:p>
            <a:r>
              <a:rPr lang="en-US" sz="1300" dirty="0">
                <a:solidFill>
                  <a:srgbClr val="1B2A44"/>
                </a:solidFill>
              </a:rPr>
              <a:t>VO: </a:t>
            </a:r>
            <a:r>
              <a:rPr lang="hi-IN" sz="1300" dirty="0">
                <a:solidFill>
                  <a:srgbClr val="1B2A44"/>
                </a:solidFill>
              </a:rPr>
              <a:t>तारा और कबीर ब्लॉक्स से टॉवर बना रहे हैं। तारा के पास 23 ब्लॉक्स हैं और कबीर के पास 12 ब्लॉक्स हैं। चलिए, पता करते हैं, दोनों के पास मिलाकर कुल कितने ब्लॉक्स हैं? </a:t>
            </a:r>
          </a:p>
          <a:p>
            <a:endParaRPr lang="hi-IN" sz="1300" dirty="0">
              <a:solidFill>
                <a:srgbClr val="1B2A44"/>
              </a:solidFill>
            </a:endParaRPr>
          </a:p>
          <a:p>
            <a:r>
              <a:rPr lang="en-US" sz="1300" dirty="0">
                <a:solidFill>
                  <a:srgbClr val="1B2A44"/>
                </a:solidFill>
              </a:rPr>
              <a:t>Equation completes in sync with VO.</a:t>
            </a:r>
            <a:endParaRPr lang="hi-IN" sz="1300" dirty="0">
              <a:solidFill>
                <a:srgbClr val="1B2A44"/>
              </a:solidFill>
            </a:endParaRPr>
          </a:p>
          <a:p>
            <a:endParaRPr lang="hi-IN" sz="1300" dirty="0">
              <a:solidFill>
                <a:srgbClr val="1B2A44"/>
              </a:solidFill>
            </a:endParaRPr>
          </a:p>
        </p:txBody>
      </p:sp>
      <p:sp>
        <p:nvSpPr>
          <p:cNvPr id="7" name="Rectangle: Rounded Corners 6">
            <a:extLst>
              <a:ext uri="{FF2B5EF4-FFF2-40B4-BE49-F238E27FC236}">
                <a16:creationId xmlns:a16="http://schemas.microsoft.com/office/drawing/2014/main" id="{EEBDDA85-157F-E276-8CD4-82943AD3EFD7}"/>
              </a:ext>
            </a:extLst>
          </p:cNvPr>
          <p:cNvSpPr/>
          <p:nvPr/>
        </p:nvSpPr>
        <p:spPr>
          <a:xfrm>
            <a:off x="3088391" y="3796908"/>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23</a:t>
            </a:r>
            <a:endParaRPr lang="en-IN" sz="2800" b="1" dirty="0"/>
          </a:p>
        </p:txBody>
      </p:sp>
      <p:sp>
        <p:nvSpPr>
          <p:cNvPr id="8" name="Rectangle: Rounded Corners 7">
            <a:extLst>
              <a:ext uri="{FF2B5EF4-FFF2-40B4-BE49-F238E27FC236}">
                <a16:creationId xmlns:a16="http://schemas.microsoft.com/office/drawing/2014/main" id="{8BD8D3D1-258C-4AE6-7512-DBADAEDE206A}"/>
              </a:ext>
            </a:extLst>
          </p:cNvPr>
          <p:cNvSpPr/>
          <p:nvPr/>
        </p:nvSpPr>
        <p:spPr>
          <a:xfrm>
            <a:off x="4410022" y="3796908"/>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12</a:t>
            </a:r>
            <a:endParaRPr lang="en-IN" sz="2800" b="1" dirty="0"/>
          </a:p>
        </p:txBody>
      </p:sp>
      <p:sp>
        <p:nvSpPr>
          <p:cNvPr id="11" name="Rectangle: Rounded Corners 10">
            <a:extLst>
              <a:ext uri="{FF2B5EF4-FFF2-40B4-BE49-F238E27FC236}">
                <a16:creationId xmlns:a16="http://schemas.microsoft.com/office/drawing/2014/main" id="{97F607F7-74A0-CB67-AA4F-922B1D1EEB9F}"/>
              </a:ext>
            </a:extLst>
          </p:cNvPr>
          <p:cNvSpPr/>
          <p:nvPr/>
        </p:nvSpPr>
        <p:spPr>
          <a:xfrm>
            <a:off x="6028088" y="3796908"/>
            <a:ext cx="756826"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a:t>
            </a:r>
            <a:endParaRPr lang="en-IN" sz="2800" b="1" dirty="0"/>
          </a:p>
        </p:txBody>
      </p:sp>
      <p:sp>
        <p:nvSpPr>
          <p:cNvPr id="12" name="TextBox 11">
            <a:extLst>
              <a:ext uri="{FF2B5EF4-FFF2-40B4-BE49-F238E27FC236}">
                <a16:creationId xmlns:a16="http://schemas.microsoft.com/office/drawing/2014/main" id="{AE2BDAC4-4AD8-FA83-D665-53753E748874}"/>
              </a:ext>
            </a:extLst>
          </p:cNvPr>
          <p:cNvSpPr txBox="1"/>
          <p:nvPr/>
        </p:nvSpPr>
        <p:spPr>
          <a:xfrm>
            <a:off x="4031885" y="3784570"/>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3" name="TextBox 12">
            <a:extLst>
              <a:ext uri="{FF2B5EF4-FFF2-40B4-BE49-F238E27FC236}">
                <a16:creationId xmlns:a16="http://schemas.microsoft.com/office/drawing/2014/main" id="{A572C760-7841-855D-0533-9246DDDB7E68}"/>
              </a:ext>
            </a:extLst>
          </p:cNvPr>
          <p:cNvSpPr txBox="1"/>
          <p:nvPr/>
        </p:nvSpPr>
        <p:spPr>
          <a:xfrm>
            <a:off x="5464880" y="3784570"/>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4" name="Oval 13">
            <a:extLst>
              <a:ext uri="{FF2B5EF4-FFF2-40B4-BE49-F238E27FC236}">
                <a16:creationId xmlns:a16="http://schemas.microsoft.com/office/drawing/2014/main" id="{ADB89B0C-C73F-1D3A-40CC-D4BB7CB9E6C5}"/>
              </a:ext>
            </a:extLst>
          </p:cNvPr>
          <p:cNvSpPr/>
          <p:nvPr/>
        </p:nvSpPr>
        <p:spPr>
          <a:xfrm>
            <a:off x="3033666" y="1999377"/>
            <a:ext cx="866279" cy="79418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Tara’s Photo</a:t>
            </a:r>
            <a:endParaRPr lang="en-IN" sz="1200" dirty="0"/>
          </a:p>
        </p:txBody>
      </p:sp>
      <p:sp>
        <p:nvSpPr>
          <p:cNvPr id="15" name="Oval 14">
            <a:extLst>
              <a:ext uri="{FF2B5EF4-FFF2-40B4-BE49-F238E27FC236}">
                <a16:creationId xmlns:a16="http://schemas.microsoft.com/office/drawing/2014/main" id="{D628D0A7-5471-0EE3-32E8-DFC1EDF97A77}"/>
              </a:ext>
            </a:extLst>
          </p:cNvPr>
          <p:cNvSpPr/>
          <p:nvPr/>
        </p:nvSpPr>
        <p:spPr>
          <a:xfrm>
            <a:off x="4355297" y="1999377"/>
            <a:ext cx="866279" cy="79418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Kabir’s Photo</a:t>
            </a:r>
            <a:endParaRPr lang="en-IN" sz="1200" dirty="0"/>
          </a:p>
        </p:txBody>
      </p:sp>
      <p:sp>
        <p:nvSpPr>
          <p:cNvPr id="16" name="Rectangle 15">
            <a:extLst>
              <a:ext uri="{FF2B5EF4-FFF2-40B4-BE49-F238E27FC236}">
                <a16:creationId xmlns:a16="http://schemas.microsoft.com/office/drawing/2014/main" id="{6AD85519-59DF-58C7-F584-7BC6536CEFA5}"/>
              </a:ext>
            </a:extLst>
          </p:cNvPr>
          <p:cNvSpPr/>
          <p:nvPr/>
        </p:nvSpPr>
        <p:spPr>
          <a:xfrm>
            <a:off x="2886160" y="2882058"/>
            <a:ext cx="1161288" cy="82635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Tara’s blocks</a:t>
            </a:r>
            <a:endParaRPr lang="en-IN" dirty="0"/>
          </a:p>
        </p:txBody>
      </p:sp>
      <p:sp>
        <p:nvSpPr>
          <p:cNvPr id="17" name="Rectangle 16">
            <a:extLst>
              <a:ext uri="{FF2B5EF4-FFF2-40B4-BE49-F238E27FC236}">
                <a16:creationId xmlns:a16="http://schemas.microsoft.com/office/drawing/2014/main" id="{96D2879D-9CB7-2B79-6873-9A759A4FFAC6}"/>
              </a:ext>
            </a:extLst>
          </p:cNvPr>
          <p:cNvSpPr/>
          <p:nvPr/>
        </p:nvSpPr>
        <p:spPr>
          <a:xfrm>
            <a:off x="4207791" y="2882058"/>
            <a:ext cx="1161288" cy="82635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Kabir’s blocks</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3 · 03_DEMO_COUNT.png</a:t>
            </a:r>
          </a:p>
        </p:txBody>
      </p:sp>
      <p:pic>
        <p:nvPicPr>
          <p:cNvPr id="3" name="Picture 2" descr="03_DEMO_COUNT.png"/>
          <p:cNvPicPr>
            <a:picLocks noChangeAspect="1"/>
          </p:cNvPicPr>
          <p:nvPr/>
        </p:nvPicPr>
        <p:blipFill>
          <a:blip r:embed="rId2"/>
          <a:stretch>
            <a:fillRect/>
          </a:stretch>
        </p:blipFill>
        <p:spPr>
          <a:xfrm>
            <a:off x="3310793" y="20539"/>
            <a:ext cx="1896204" cy="1061191"/>
          </a:xfrm>
          <a:prstGeom prst="rect">
            <a:avLst/>
          </a:prstGeom>
        </p:spPr>
      </p:pic>
      <p:sp>
        <p:nvSpPr>
          <p:cNvPr id="4" name="TextBox 3"/>
          <p:cNvSpPr txBox="1"/>
          <p:nvPr/>
        </p:nvSpPr>
        <p:spPr>
          <a:xfrm>
            <a:off x="7294857" y="280064"/>
            <a:ext cx="4758281" cy="6247864"/>
          </a:xfrm>
          <a:prstGeom prst="rect">
            <a:avLst/>
          </a:prstGeom>
          <a:noFill/>
        </p:spPr>
        <p:txBody>
          <a:bodyPr wrap="square">
            <a:spAutoFit/>
          </a:bodyPr>
          <a:lstStyle/>
          <a:p>
            <a:r>
              <a:rPr sz="1600" b="1" dirty="0">
                <a:solidFill>
                  <a:srgbClr val="0B3D8C"/>
                </a:solidFill>
              </a:rPr>
              <a:t>Recommendations</a:t>
            </a:r>
            <a:endParaRPr lang="en-US" sz="1600" b="1" dirty="0">
              <a:solidFill>
                <a:srgbClr val="0B3D8C"/>
              </a:solidFill>
            </a:endParaRPr>
          </a:p>
          <a:p>
            <a:r>
              <a:rPr lang="en-US" altLang="en-US" sz="1200" dirty="0"/>
              <a:t>Replace the entire slide content with the following:</a:t>
            </a:r>
            <a:endParaRPr lang="hi-IN" sz="1200" b="1" dirty="0">
              <a:solidFill>
                <a:srgbClr val="0B3D8C"/>
              </a:solidFill>
            </a:endParaRPr>
          </a:p>
          <a:p>
            <a:r>
              <a:rPr lang="en-US" sz="1200" dirty="0"/>
              <a:t>Heading Text:</a:t>
            </a:r>
            <a:r>
              <a:rPr lang="hi-IN" sz="1200" dirty="0"/>
              <a:t> आइए, 23 और 12 को जोड़ते हैं। </a:t>
            </a:r>
          </a:p>
          <a:p>
            <a:r>
              <a:rPr lang="en-US" sz="1200" dirty="0"/>
              <a:t>Heading VO: </a:t>
            </a:r>
            <a:r>
              <a:rPr lang="hi-IN" sz="1200" dirty="0"/>
              <a:t>आइए,</a:t>
            </a:r>
            <a:r>
              <a:rPr lang="en-US" sz="1200" dirty="0"/>
              <a:t> </a:t>
            </a:r>
            <a:r>
              <a:rPr lang="hi-IN" sz="1200" dirty="0"/>
              <a:t>23 और 12 को जोड़ते हैं।</a:t>
            </a:r>
          </a:p>
          <a:p>
            <a:r>
              <a:rPr lang="en-US" sz="1200" b="1" dirty="0"/>
              <a:t>VO1: </a:t>
            </a:r>
            <a:r>
              <a:rPr lang="hi-IN" sz="1200" dirty="0"/>
              <a:t>सबसे पहले ब्लॉक्स की सहायता से दोनों संख्याएँ बनाते हैं।</a:t>
            </a:r>
          </a:p>
          <a:p>
            <a:r>
              <a:rPr lang="en-US" sz="1200" b="1" dirty="0"/>
              <a:t>VO2: </a:t>
            </a:r>
            <a:r>
              <a:rPr lang="hi-IN" sz="1200" dirty="0"/>
              <a:t>23 में 2 दहाई और 3 इकाई हैं।</a:t>
            </a:r>
            <a:r>
              <a:rPr lang="en-US" sz="1200" dirty="0"/>
              <a:t> </a:t>
            </a:r>
            <a:r>
              <a:rPr lang="en-US" sz="1200" i="1" dirty="0"/>
              <a:t>[Card appears below 23 and its tens and ones digits highlights in sync with VO.]</a:t>
            </a:r>
            <a:endParaRPr lang="hi-IN" sz="1200" i="1" dirty="0"/>
          </a:p>
          <a:p>
            <a:r>
              <a:rPr lang="en-US" sz="1200" b="1" dirty="0"/>
              <a:t>VO3: </a:t>
            </a:r>
            <a:r>
              <a:rPr lang="hi-IN" sz="1200" dirty="0"/>
              <a:t>पहले 2 दहाई के लिए 2 बंडल रखते हैं।</a:t>
            </a:r>
            <a:r>
              <a:rPr lang="en-US" sz="1200" dirty="0"/>
              <a:t> </a:t>
            </a:r>
            <a:r>
              <a:rPr lang="en-US" sz="1200" i="1" dirty="0"/>
              <a:t>[Source buttons appears below and </a:t>
            </a:r>
            <a:r>
              <a:rPr lang="en-US" sz="1200" i="1" dirty="0" err="1"/>
              <a:t>Swiftee</a:t>
            </a:r>
            <a:r>
              <a:rPr lang="en-US" sz="1200" i="1" dirty="0"/>
              <a:t> adds 2 rods by tapping on plus in tens + button.]</a:t>
            </a:r>
            <a:endParaRPr lang="hi-IN" sz="1200" i="1" dirty="0"/>
          </a:p>
          <a:p>
            <a:r>
              <a:rPr lang="en-US" sz="1200" b="1" dirty="0"/>
              <a:t>VO4: </a:t>
            </a:r>
            <a:r>
              <a:rPr lang="hi-IN" sz="1200" dirty="0"/>
              <a:t>अब 3 इकाई के लिए 3 ब्लॉक रखते हैं।</a:t>
            </a:r>
            <a:r>
              <a:rPr lang="en-US" sz="1200" dirty="0"/>
              <a:t> </a:t>
            </a:r>
            <a:r>
              <a:rPr lang="en-US" sz="1200" i="1" dirty="0"/>
              <a:t>[</a:t>
            </a:r>
            <a:r>
              <a:rPr lang="en-US" sz="1200" i="1" dirty="0" err="1"/>
              <a:t>Swiftee</a:t>
            </a:r>
            <a:r>
              <a:rPr lang="en-US" sz="1200" i="1" dirty="0"/>
              <a:t> adds 3 blocks by tapping on ones + button.]</a:t>
            </a:r>
            <a:endParaRPr lang="hi-IN" sz="1200" dirty="0"/>
          </a:p>
          <a:p>
            <a:r>
              <a:rPr lang="en-US" sz="1200" b="1" dirty="0"/>
              <a:t>VO5: </a:t>
            </a:r>
            <a:r>
              <a:rPr lang="hi-IN" sz="1200" dirty="0"/>
              <a:t>इसी तरह, 12 में 1 दहाई और 2 इकाई हैं। </a:t>
            </a:r>
            <a:r>
              <a:rPr lang="en-US" sz="1200" i="1" dirty="0"/>
              <a:t>[Card appears below 12 and its tens and ones digits highlights in sync with VO.]</a:t>
            </a:r>
            <a:endParaRPr lang="hi-IN" sz="1200" dirty="0"/>
          </a:p>
          <a:p>
            <a:r>
              <a:rPr lang="en-US" sz="1200" b="1" dirty="0"/>
              <a:t>VO6: </a:t>
            </a:r>
            <a:r>
              <a:rPr lang="hi-IN" sz="1200" dirty="0"/>
              <a:t>अब आप ब्लॉक्स की सहायता से 12 बनाइए।</a:t>
            </a:r>
            <a:r>
              <a:rPr lang="en-US" sz="1200" i="1" dirty="0"/>
              <a:t>[Pulsate the Tens </a:t>
            </a:r>
            <a:r>
              <a:rPr lang="en-US" sz="1200" b="1" i="1" dirty="0"/>
              <a:t>+</a:t>
            </a:r>
            <a:r>
              <a:rPr lang="en-US" sz="1200" i="1" dirty="0"/>
              <a:t> button; disable after 1 tap. Then pulsate the Ones </a:t>
            </a:r>
            <a:r>
              <a:rPr lang="en-US" sz="1200" b="1" i="1" dirty="0"/>
              <a:t>+</a:t>
            </a:r>
            <a:r>
              <a:rPr lang="en-US" sz="1200" i="1" dirty="0"/>
              <a:t> button; disable after 2 taps. If idle after 1 tap, pulsate again until 2 blocks are added.]</a:t>
            </a:r>
            <a:endParaRPr lang="hi-IN" sz="1200" i="1" dirty="0"/>
          </a:p>
          <a:p>
            <a:r>
              <a:rPr lang="en-US" sz="1200" b="1" dirty="0"/>
              <a:t>VO7: </a:t>
            </a:r>
            <a:r>
              <a:rPr lang="hi-IN" sz="1200" dirty="0"/>
              <a:t>बहुत बढ़िया! अब दोनों संख्याओं को जोड़ते हैं।</a:t>
            </a:r>
            <a:r>
              <a:rPr lang="en-US" sz="1200" dirty="0"/>
              <a:t>[Remove the Tens and Ones source buttons, then show the place-value table below for the sum.]</a:t>
            </a:r>
            <a:endParaRPr lang="hi-IN" sz="1200" dirty="0"/>
          </a:p>
          <a:p>
            <a:r>
              <a:rPr lang="en-US" sz="1200" b="1" dirty="0"/>
              <a:t>VO8: </a:t>
            </a:r>
            <a:r>
              <a:rPr lang="hi-IN" sz="1200" dirty="0"/>
              <a:t>पहले इकाइयों को जोड़ते हैं।</a:t>
            </a:r>
            <a:r>
              <a:rPr lang="en-US" sz="1200" dirty="0"/>
              <a:t> </a:t>
            </a:r>
            <a:r>
              <a:rPr lang="en-US" sz="1200" i="1" dirty="0"/>
              <a:t>[Tens are disabled. Pulsate the Ones blocks until all are tapped; each tapped block moves to the sum card, leaving a greyed-out image behind.]</a:t>
            </a:r>
            <a:endParaRPr lang="en-US" sz="1200" dirty="0"/>
          </a:p>
          <a:p>
            <a:r>
              <a:rPr lang="en-US" sz="1200" b="1" dirty="0"/>
              <a:t>VO9: </a:t>
            </a:r>
            <a:r>
              <a:rPr lang="hi-IN" sz="1200" dirty="0"/>
              <a:t>3 इकाई और 2 इकाई मिलाकर हुई, 5 इकाई।</a:t>
            </a:r>
            <a:r>
              <a:rPr lang="en-US" sz="1200" i="1" dirty="0"/>
              <a:t> [Highlights the blocks on the sum card in sync with the VO.]</a:t>
            </a:r>
            <a:br>
              <a:rPr lang="hi-IN" sz="1200" dirty="0"/>
            </a:br>
            <a:r>
              <a:rPr lang="en-US" sz="1200" b="1" dirty="0"/>
              <a:t>VO10: </a:t>
            </a:r>
            <a:r>
              <a:rPr lang="hi-IN" sz="1200" dirty="0"/>
              <a:t>अब</a:t>
            </a:r>
            <a:r>
              <a:rPr lang="en-US" sz="1200" dirty="0"/>
              <a:t> </a:t>
            </a:r>
            <a:r>
              <a:rPr lang="hi-IN" sz="1200" dirty="0"/>
              <a:t>दहाइयों को जोड़ते हैं। </a:t>
            </a:r>
            <a:r>
              <a:rPr lang="en-US" sz="1200" i="1" dirty="0"/>
              <a:t>[Pulsate the Tens rods until all are tapped; each tapped rod moves to the sum card, leaving a greyed-out image behind.]</a:t>
            </a:r>
          </a:p>
          <a:p>
            <a:r>
              <a:rPr lang="en-US" sz="1200" b="1" dirty="0"/>
              <a:t>VO11: </a:t>
            </a:r>
            <a:r>
              <a:rPr lang="hi-IN" sz="1200" dirty="0"/>
              <a:t>2 दहाई और 1 दहाई मिलाकर हुई, 3 दहाई।</a:t>
            </a:r>
            <a:r>
              <a:rPr lang="en-US" sz="1200" dirty="0"/>
              <a:t> </a:t>
            </a:r>
            <a:r>
              <a:rPr lang="en-US" sz="1200" i="1" dirty="0"/>
              <a:t>[Highlight the rods on the sum card in sync with the VO.]</a:t>
            </a:r>
            <a:endParaRPr lang="hi-IN" sz="1200" dirty="0"/>
          </a:p>
          <a:p>
            <a:r>
              <a:rPr lang="en-US" sz="1200" b="1" dirty="0"/>
              <a:t>VO12:</a:t>
            </a:r>
            <a:r>
              <a:rPr lang="en-IN" sz="1200" dirty="0"/>
              <a:t> </a:t>
            </a:r>
            <a:r>
              <a:rPr lang="hi-IN" sz="1200" dirty="0"/>
              <a:t>अब हमारे पास</a:t>
            </a:r>
            <a:r>
              <a:rPr lang="en-US" sz="1200" dirty="0"/>
              <a:t> </a:t>
            </a:r>
            <a:r>
              <a:rPr lang="hi-IN" sz="1200" dirty="0"/>
              <a:t>कुल </a:t>
            </a:r>
            <a:r>
              <a:rPr lang="en-US" sz="1200" dirty="0"/>
              <a:t>3</a:t>
            </a:r>
            <a:r>
              <a:rPr lang="hi-IN" sz="1200" dirty="0"/>
              <a:t> दहाइयाँ और </a:t>
            </a:r>
            <a:r>
              <a:rPr lang="en-US" sz="1200" dirty="0"/>
              <a:t>5</a:t>
            </a:r>
            <a:r>
              <a:rPr lang="hi-IN" sz="1200" dirty="0"/>
              <a:t> इकाइयाँ हैं, यानी </a:t>
            </a:r>
            <a:r>
              <a:rPr lang="en-US" sz="1200" dirty="0"/>
              <a:t>35 </a:t>
            </a:r>
            <a:r>
              <a:rPr lang="en-US" sz="1200" i="1" dirty="0"/>
              <a:t>[Highlight the rods, blocks, digits on the card and the number 35 in sync with the VO.]</a:t>
            </a:r>
            <a:endParaRPr lang="hi-IN" sz="1200" i="1" dirty="0"/>
          </a:p>
          <a:p>
            <a:r>
              <a:rPr lang="en-IN" sz="1200" b="1" dirty="0"/>
              <a:t>Completion VO:</a:t>
            </a:r>
            <a:r>
              <a:rPr lang="en-IN" sz="1200" dirty="0"/>
              <a:t> </a:t>
            </a:r>
            <a:r>
              <a:rPr lang="hi-IN" sz="1200" dirty="0"/>
              <a:t>शाबाश! </a:t>
            </a:r>
            <a:r>
              <a:rPr lang="en-US" sz="1200" dirty="0"/>
              <a:t>23</a:t>
            </a:r>
            <a:r>
              <a:rPr lang="hi-IN" sz="1200" dirty="0"/>
              <a:t> और </a:t>
            </a:r>
            <a:r>
              <a:rPr lang="en-US" sz="1200" dirty="0"/>
              <a:t>12</a:t>
            </a:r>
            <a:r>
              <a:rPr lang="hi-IN" sz="1200" dirty="0"/>
              <a:t> को जोड़ने पर</a:t>
            </a:r>
            <a:r>
              <a:rPr lang="en-US" sz="1200" dirty="0"/>
              <a:t> 35</a:t>
            </a:r>
            <a:r>
              <a:rPr lang="hi-IN" sz="1200" dirty="0"/>
              <a:t> मिलता है।</a:t>
            </a:r>
          </a:p>
        </p:txBody>
      </p:sp>
      <p:graphicFrame>
        <p:nvGraphicFramePr>
          <p:cNvPr id="5" name="Table 4">
            <a:extLst>
              <a:ext uri="{FF2B5EF4-FFF2-40B4-BE49-F238E27FC236}">
                <a16:creationId xmlns:a16="http://schemas.microsoft.com/office/drawing/2014/main" id="{6C2D48F8-D885-61F1-3455-0BC0D875C64C}"/>
              </a:ext>
            </a:extLst>
          </p:cNvPr>
          <p:cNvGraphicFramePr>
            <a:graphicFrameLocks noGrp="1"/>
          </p:cNvGraphicFramePr>
          <p:nvPr>
            <p:extLst>
              <p:ext uri="{D42A27DB-BD31-4B8C-83A1-F6EECF244321}">
                <p14:modId xmlns:p14="http://schemas.microsoft.com/office/powerpoint/2010/main" val="1889784552"/>
              </p:ext>
            </p:extLst>
          </p:nvPr>
        </p:nvGraphicFramePr>
        <p:xfrm>
          <a:off x="1117604" y="1699045"/>
          <a:ext cx="2777744" cy="1260542"/>
        </p:xfrm>
        <a:graphic>
          <a:graphicData uri="http://schemas.openxmlformats.org/drawingml/2006/table">
            <a:tbl>
              <a:tblPr firstRow="1" bandRow="1">
                <a:tableStyleId>{5C22544A-7EE6-4342-B048-85BDC9FD1C3A}</a:tableStyleId>
              </a:tblPr>
              <a:tblGrid>
                <a:gridCol w="1388872">
                  <a:extLst>
                    <a:ext uri="{9D8B030D-6E8A-4147-A177-3AD203B41FA5}">
                      <a16:colId xmlns:a16="http://schemas.microsoft.com/office/drawing/2014/main" val="1758657152"/>
                    </a:ext>
                  </a:extLst>
                </a:gridCol>
                <a:gridCol w="1388872">
                  <a:extLst>
                    <a:ext uri="{9D8B030D-6E8A-4147-A177-3AD203B41FA5}">
                      <a16:colId xmlns:a16="http://schemas.microsoft.com/office/drawing/2014/main" val="4045408627"/>
                    </a:ext>
                  </a:extLst>
                </a:gridCol>
              </a:tblGrid>
              <a:tr h="225041">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1001462">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graphicFrame>
        <p:nvGraphicFramePr>
          <p:cNvPr id="6" name="Table 5">
            <a:extLst>
              <a:ext uri="{FF2B5EF4-FFF2-40B4-BE49-F238E27FC236}">
                <a16:creationId xmlns:a16="http://schemas.microsoft.com/office/drawing/2014/main" id="{3EA74F98-24EB-6E84-911B-D866601F1595}"/>
              </a:ext>
            </a:extLst>
          </p:cNvPr>
          <p:cNvGraphicFramePr>
            <a:graphicFrameLocks noGrp="1"/>
          </p:cNvGraphicFramePr>
          <p:nvPr>
            <p:extLst>
              <p:ext uri="{D42A27DB-BD31-4B8C-83A1-F6EECF244321}">
                <p14:modId xmlns:p14="http://schemas.microsoft.com/office/powerpoint/2010/main" val="1217616308"/>
              </p:ext>
            </p:extLst>
          </p:nvPr>
        </p:nvGraphicFramePr>
        <p:xfrm>
          <a:off x="4369820" y="1699045"/>
          <a:ext cx="2777744" cy="1252922"/>
        </p:xfrm>
        <a:graphic>
          <a:graphicData uri="http://schemas.openxmlformats.org/drawingml/2006/table">
            <a:tbl>
              <a:tblPr firstRow="1" bandRow="1">
                <a:tableStyleId>{5C22544A-7EE6-4342-B048-85BDC9FD1C3A}</a:tableStyleId>
              </a:tblPr>
              <a:tblGrid>
                <a:gridCol w="1388872">
                  <a:extLst>
                    <a:ext uri="{9D8B030D-6E8A-4147-A177-3AD203B41FA5}">
                      <a16:colId xmlns:a16="http://schemas.microsoft.com/office/drawing/2014/main" val="1758657152"/>
                    </a:ext>
                  </a:extLst>
                </a:gridCol>
                <a:gridCol w="1388872">
                  <a:extLst>
                    <a:ext uri="{9D8B030D-6E8A-4147-A177-3AD203B41FA5}">
                      <a16:colId xmlns:a16="http://schemas.microsoft.com/office/drawing/2014/main" val="4045408627"/>
                    </a:ext>
                  </a:extLst>
                </a:gridCol>
              </a:tblGrid>
              <a:tr h="234185">
                <a:tc>
                  <a:txBody>
                    <a:bodyPr/>
                    <a:lstStyle/>
                    <a:p>
                      <a:pPr algn="ctr"/>
                      <a:r>
                        <a:rPr lang="hi-IN" sz="1050" dirty="0"/>
                        <a:t>दहाई </a:t>
                      </a:r>
                      <a:endParaRPr lang="en-IN" sz="1050" dirty="0"/>
                    </a:p>
                  </a:txBody>
                  <a:tcPr anchor="ctr"/>
                </a:tc>
                <a:tc>
                  <a:txBody>
                    <a:bodyPr/>
                    <a:lstStyle/>
                    <a:p>
                      <a:pPr algn="ctr"/>
                      <a:r>
                        <a:rPr lang="hi-IN" sz="1050" dirty="0"/>
                        <a:t>इकाई </a:t>
                      </a:r>
                      <a:endParaRPr lang="en-IN" sz="1050" dirty="0"/>
                    </a:p>
                  </a:txBody>
                  <a:tcPr anchor="ctr"/>
                </a:tc>
                <a:extLst>
                  <a:ext uri="{0D108BD9-81ED-4DB2-BD59-A6C34878D82A}">
                    <a16:rowId xmlns:a16="http://schemas.microsoft.com/office/drawing/2014/main" val="2006277989"/>
                  </a:ext>
                </a:extLst>
              </a:tr>
              <a:tr h="1001462">
                <a:tc>
                  <a:txBody>
                    <a:bodyPr/>
                    <a:lstStyle/>
                    <a:p>
                      <a:endParaRPr lang="en-IN" dirty="0"/>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sp>
        <p:nvSpPr>
          <p:cNvPr id="7" name="Rectangle: Rounded Corners 6">
            <a:extLst>
              <a:ext uri="{FF2B5EF4-FFF2-40B4-BE49-F238E27FC236}">
                <a16:creationId xmlns:a16="http://schemas.microsoft.com/office/drawing/2014/main" id="{9363F16B-4681-D3AE-31DF-CA0C53E0E74C}"/>
              </a:ext>
            </a:extLst>
          </p:cNvPr>
          <p:cNvSpPr/>
          <p:nvPr/>
        </p:nvSpPr>
        <p:spPr>
          <a:xfrm>
            <a:off x="2223012" y="1238286"/>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23</a:t>
            </a:r>
            <a:endParaRPr lang="en-IN" b="1" dirty="0"/>
          </a:p>
        </p:txBody>
      </p:sp>
      <p:sp>
        <p:nvSpPr>
          <p:cNvPr id="8" name="Rectangle: Rounded Corners 7">
            <a:extLst>
              <a:ext uri="{FF2B5EF4-FFF2-40B4-BE49-F238E27FC236}">
                <a16:creationId xmlns:a16="http://schemas.microsoft.com/office/drawing/2014/main" id="{21321D7C-2B49-BFCB-A41B-10FD4C1D5052}"/>
              </a:ext>
            </a:extLst>
          </p:cNvPr>
          <p:cNvSpPr/>
          <p:nvPr/>
        </p:nvSpPr>
        <p:spPr>
          <a:xfrm>
            <a:off x="5479800" y="1238286"/>
            <a:ext cx="566928" cy="3693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12</a:t>
            </a:r>
            <a:endParaRPr lang="en-IN" b="1" dirty="0"/>
          </a:p>
        </p:txBody>
      </p:sp>
      <p:graphicFrame>
        <p:nvGraphicFramePr>
          <p:cNvPr id="15" name="Table 14">
            <a:extLst>
              <a:ext uri="{FF2B5EF4-FFF2-40B4-BE49-F238E27FC236}">
                <a16:creationId xmlns:a16="http://schemas.microsoft.com/office/drawing/2014/main" id="{84AD10A7-4EEC-BE2E-D7C7-A08C1B8B38E4}"/>
              </a:ext>
            </a:extLst>
          </p:cNvPr>
          <p:cNvGraphicFramePr>
            <a:graphicFrameLocks noGrp="1"/>
          </p:cNvGraphicFramePr>
          <p:nvPr>
            <p:extLst>
              <p:ext uri="{D42A27DB-BD31-4B8C-83A1-F6EECF244321}">
                <p14:modId xmlns:p14="http://schemas.microsoft.com/office/powerpoint/2010/main" val="493155060"/>
              </p:ext>
            </p:extLst>
          </p:nvPr>
        </p:nvGraphicFramePr>
        <p:xfrm>
          <a:off x="1725945" y="3842065"/>
          <a:ext cx="4756912" cy="1385885"/>
        </p:xfrm>
        <a:graphic>
          <a:graphicData uri="http://schemas.openxmlformats.org/drawingml/2006/table">
            <a:tbl>
              <a:tblPr firstRow="1" bandRow="1">
                <a:tableStyleId>{5C22544A-7EE6-4342-B048-85BDC9FD1C3A}</a:tableStyleId>
              </a:tblPr>
              <a:tblGrid>
                <a:gridCol w="2378456">
                  <a:extLst>
                    <a:ext uri="{9D8B030D-6E8A-4147-A177-3AD203B41FA5}">
                      <a16:colId xmlns:a16="http://schemas.microsoft.com/office/drawing/2014/main" val="1758657152"/>
                    </a:ext>
                  </a:extLst>
                </a:gridCol>
                <a:gridCol w="2378456">
                  <a:extLst>
                    <a:ext uri="{9D8B030D-6E8A-4147-A177-3AD203B41FA5}">
                      <a16:colId xmlns:a16="http://schemas.microsoft.com/office/drawing/2014/main" val="4045408627"/>
                    </a:ext>
                  </a:extLst>
                </a:gridCol>
              </a:tblGrid>
              <a:tr h="223302">
                <a:tc>
                  <a:txBody>
                    <a:bodyPr/>
                    <a:lstStyle/>
                    <a:p>
                      <a:pPr algn="ctr"/>
                      <a:r>
                        <a:rPr lang="hi-IN" sz="1100" dirty="0"/>
                        <a:t>दहाई </a:t>
                      </a:r>
                      <a:endParaRPr lang="en-IN" sz="1100" dirty="0"/>
                    </a:p>
                  </a:txBody>
                  <a:tcPr anchor="ctr"/>
                </a:tc>
                <a:tc>
                  <a:txBody>
                    <a:bodyPr/>
                    <a:lstStyle/>
                    <a:p>
                      <a:pPr algn="ctr"/>
                      <a:r>
                        <a:rPr lang="hi-IN" sz="1100" dirty="0"/>
                        <a:t>इकाई </a:t>
                      </a:r>
                      <a:endParaRPr lang="en-IN" sz="1100" dirty="0"/>
                    </a:p>
                  </a:txBody>
                  <a:tcPr anchor="ctr"/>
                </a:tc>
                <a:extLst>
                  <a:ext uri="{0D108BD9-81ED-4DB2-BD59-A6C34878D82A}">
                    <a16:rowId xmlns:a16="http://schemas.microsoft.com/office/drawing/2014/main" val="2006277989"/>
                  </a:ext>
                </a:extLst>
              </a:tr>
              <a:tr h="1126805">
                <a:tc>
                  <a:txBody>
                    <a:bodyPr/>
                    <a:lstStyle/>
                    <a:p>
                      <a:endParaRPr lang="en-IN"/>
                    </a:p>
                  </a:txBody>
                  <a:tcPr/>
                </a:tc>
                <a:tc>
                  <a:txBody>
                    <a:bodyPr/>
                    <a:lstStyle/>
                    <a:p>
                      <a:endParaRPr lang="en-IN" dirty="0"/>
                    </a:p>
                  </a:txBody>
                  <a:tcPr/>
                </a:tc>
                <a:extLst>
                  <a:ext uri="{0D108BD9-81ED-4DB2-BD59-A6C34878D82A}">
                    <a16:rowId xmlns:a16="http://schemas.microsoft.com/office/drawing/2014/main" val="493348077"/>
                  </a:ext>
                </a:extLst>
              </a:tr>
            </a:tbl>
          </a:graphicData>
        </a:graphic>
      </p:graphicFrame>
      <p:grpSp>
        <p:nvGrpSpPr>
          <p:cNvPr id="27" name="Group 26">
            <a:extLst>
              <a:ext uri="{FF2B5EF4-FFF2-40B4-BE49-F238E27FC236}">
                <a16:creationId xmlns:a16="http://schemas.microsoft.com/office/drawing/2014/main" id="{BA37F8C1-A8CC-D037-C8CD-E102F092CB43}"/>
              </a:ext>
            </a:extLst>
          </p:cNvPr>
          <p:cNvGrpSpPr/>
          <p:nvPr/>
        </p:nvGrpSpPr>
        <p:grpSpPr>
          <a:xfrm>
            <a:off x="2505914" y="3130652"/>
            <a:ext cx="3215951" cy="546689"/>
            <a:chOff x="2607251" y="3803709"/>
            <a:chExt cx="3215951" cy="554777"/>
          </a:xfrm>
        </p:grpSpPr>
        <p:cxnSp>
          <p:nvCxnSpPr>
            <p:cNvPr id="22" name="Straight Connector 21">
              <a:extLst>
                <a:ext uri="{FF2B5EF4-FFF2-40B4-BE49-F238E27FC236}">
                  <a16:creationId xmlns:a16="http://schemas.microsoft.com/office/drawing/2014/main" id="{9EFE4835-1270-92B3-722B-7DE8FF11F4D2}"/>
                </a:ext>
              </a:extLst>
            </p:cNvPr>
            <p:cNvCxnSpPr>
              <a:cxnSpLocks/>
            </p:cNvCxnSpPr>
            <p:nvPr/>
          </p:nvCxnSpPr>
          <p:spPr>
            <a:xfrm>
              <a:off x="2607251" y="3811442"/>
              <a:ext cx="1598483" cy="547044"/>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8A230F2-3FF9-4781-F0BA-E345AA9E2CAE}"/>
                </a:ext>
              </a:extLst>
            </p:cNvPr>
            <p:cNvCxnSpPr>
              <a:cxnSpLocks/>
            </p:cNvCxnSpPr>
            <p:nvPr/>
          </p:nvCxnSpPr>
          <p:spPr>
            <a:xfrm flipH="1">
              <a:off x="4196590" y="3803709"/>
              <a:ext cx="1626612" cy="554777"/>
            </a:xfrm>
            <a:prstGeom prst="line">
              <a:avLst/>
            </a:prstGeom>
          </p:spPr>
          <p:style>
            <a:lnRef idx="2">
              <a:schemeClr val="accent1"/>
            </a:lnRef>
            <a:fillRef idx="0">
              <a:schemeClr val="accent1"/>
            </a:fillRef>
            <a:effectRef idx="1">
              <a:schemeClr val="accent1"/>
            </a:effectRef>
            <a:fontRef idx="minor">
              <a:schemeClr val="tx1"/>
            </a:fontRef>
          </p:style>
        </p:cxnSp>
      </p:grpSp>
      <p:sp>
        <p:nvSpPr>
          <p:cNvPr id="30" name="Rectangle: Rounded Corners 29">
            <a:extLst>
              <a:ext uri="{FF2B5EF4-FFF2-40B4-BE49-F238E27FC236}">
                <a16:creationId xmlns:a16="http://schemas.microsoft.com/office/drawing/2014/main" id="{77641B23-52E6-85EE-053C-E39392F1DB29}"/>
              </a:ext>
            </a:extLst>
          </p:cNvPr>
          <p:cNvSpPr/>
          <p:nvPr/>
        </p:nvSpPr>
        <p:spPr>
          <a:xfrm>
            <a:off x="3820933" y="5422982"/>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35</a:t>
            </a:r>
            <a:endParaRPr lang="en-IN" b="1" dirty="0"/>
          </a:p>
        </p:txBody>
      </p:sp>
      <p:pic>
        <p:nvPicPr>
          <p:cNvPr id="10" name="Picture 9">
            <a:extLst>
              <a:ext uri="{FF2B5EF4-FFF2-40B4-BE49-F238E27FC236}">
                <a16:creationId xmlns:a16="http://schemas.microsoft.com/office/drawing/2014/main" id="{D6355998-1D17-B3BD-4BE2-5E0959011454}"/>
              </a:ext>
            </a:extLst>
          </p:cNvPr>
          <p:cNvPicPr>
            <a:picLocks noChangeAspect="1"/>
          </p:cNvPicPr>
          <p:nvPr/>
        </p:nvPicPr>
        <p:blipFill>
          <a:blip r:embed="rId3"/>
          <a:srcRect/>
          <a:stretch>
            <a:fillRect/>
          </a:stretch>
        </p:blipFill>
        <p:spPr>
          <a:xfrm>
            <a:off x="1886285" y="5422982"/>
            <a:ext cx="1570327" cy="757613"/>
          </a:xfrm>
          <a:prstGeom prst="rect">
            <a:avLst/>
          </a:prstGeom>
        </p:spPr>
      </p:pic>
      <p:pic>
        <p:nvPicPr>
          <p:cNvPr id="17" name="Picture 16">
            <a:extLst>
              <a:ext uri="{FF2B5EF4-FFF2-40B4-BE49-F238E27FC236}">
                <a16:creationId xmlns:a16="http://schemas.microsoft.com/office/drawing/2014/main" id="{8C546547-B8B1-ADA2-9883-EBAB990EDC45}"/>
              </a:ext>
            </a:extLst>
          </p:cNvPr>
          <p:cNvPicPr>
            <a:picLocks noChangeAspect="1"/>
          </p:cNvPicPr>
          <p:nvPr/>
        </p:nvPicPr>
        <p:blipFill>
          <a:blip r:embed="rId4"/>
          <a:stretch>
            <a:fillRect/>
          </a:stretch>
        </p:blipFill>
        <p:spPr>
          <a:xfrm>
            <a:off x="4547337" y="5453292"/>
            <a:ext cx="1896096" cy="760698"/>
          </a:xfrm>
          <a:prstGeom prst="rect">
            <a:avLst/>
          </a:prstGeom>
        </p:spPr>
      </p:pic>
      <p:pic>
        <p:nvPicPr>
          <p:cNvPr id="18" name="Picture 17" descr="A green rectangular object with black background&#10;&#10;AI-generated content may be incorrect.">
            <a:extLst>
              <a:ext uri="{FF2B5EF4-FFF2-40B4-BE49-F238E27FC236}">
                <a16:creationId xmlns:a16="http://schemas.microsoft.com/office/drawing/2014/main" id="{78206E39-4BD1-4419-0838-870230D70AB3}"/>
              </a:ext>
            </a:extLst>
          </p:cNvPr>
          <p:cNvPicPr>
            <a:picLocks noChangeAspect="1"/>
          </p:cNvPicPr>
          <p:nvPr/>
        </p:nvPicPr>
        <p:blipFill>
          <a:blip r:embed="rId5"/>
          <a:stretch>
            <a:fillRect/>
          </a:stretch>
        </p:blipFill>
        <p:spPr>
          <a:xfrm>
            <a:off x="1420566" y="2087904"/>
            <a:ext cx="501194" cy="751791"/>
          </a:xfrm>
          <a:prstGeom prst="rect">
            <a:avLst/>
          </a:prstGeom>
        </p:spPr>
      </p:pic>
      <p:pic>
        <p:nvPicPr>
          <p:cNvPr id="19" name="Picture 18" descr="A green rectangular object with black background&#10;&#10;AI-generated content may be incorrect.">
            <a:extLst>
              <a:ext uri="{FF2B5EF4-FFF2-40B4-BE49-F238E27FC236}">
                <a16:creationId xmlns:a16="http://schemas.microsoft.com/office/drawing/2014/main" id="{BE545F76-B30F-34E8-E91D-C02AAE2F0893}"/>
              </a:ext>
            </a:extLst>
          </p:cNvPr>
          <p:cNvPicPr>
            <a:picLocks noChangeAspect="1"/>
          </p:cNvPicPr>
          <p:nvPr/>
        </p:nvPicPr>
        <p:blipFill>
          <a:blip r:embed="rId5"/>
          <a:stretch>
            <a:fillRect/>
          </a:stretch>
        </p:blipFill>
        <p:spPr>
          <a:xfrm>
            <a:off x="1572966" y="2087903"/>
            <a:ext cx="501194" cy="751791"/>
          </a:xfrm>
          <a:prstGeom prst="rect">
            <a:avLst/>
          </a:prstGeom>
        </p:spPr>
      </p:pic>
      <p:pic>
        <p:nvPicPr>
          <p:cNvPr id="20" name="Picture 19" descr="A yellow cube with black background&#10;&#10;AI-generated content may be incorrect.">
            <a:extLst>
              <a:ext uri="{FF2B5EF4-FFF2-40B4-BE49-F238E27FC236}">
                <a16:creationId xmlns:a16="http://schemas.microsoft.com/office/drawing/2014/main" id="{F5445CC2-E93D-D7A9-6393-D83A716945FF}"/>
              </a:ext>
            </a:extLst>
          </p:cNvPr>
          <p:cNvPicPr>
            <a:picLocks noChangeAspect="1"/>
          </p:cNvPicPr>
          <p:nvPr/>
        </p:nvPicPr>
        <p:blipFill>
          <a:blip r:embed="rId6"/>
          <a:stretch>
            <a:fillRect/>
          </a:stretch>
        </p:blipFill>
        <p:spPr>
          <a:xfrm>
            <a:off x="2933939" y="2359599"/>
            <a:ext cx="188427" cy="157023"/>
          </a:xfrm>
          <a:prstGeom prst="rect">
            <a:avLst/>
          </a:prstGeom>
        </p:spPr>
      </p:pic>
      <p:pic>
        <p:nvPicPr>
          <p:cNvPr id="21" name="Picture 20" descr="A yellow cube with black background&#10;&#10;AI-generated content may be incorrect.">
            <a:extLst>
              <a:ext uri="{FF2B5EF4-FFF2-40B4-BE49-F238E27FC236}">
                <a16:creationId xmlns:a16="http://schemas.microsoft.com/office/drawing/2014/main" id="{C26E5421-A6C8-3894-24E0-CF3C9318D09E}"/>
              </a:ext>
            </a:extLst>
          </p:cNvPr>
          <p:cNvPicPr>
            <a:picLocks noChangeAspect="1"/>
          </p:cNvPicPr>
          <p:nvPr/>
        </p:nvPicPr>
        <p:blipFill>
          <a:blip r:embed="rId6"/>
          <a:stretch>
            <a:fillRect/>
          </a:stretch>
        </p:blipFill>
        <p:spPr>
          <a:xfrm>
            <a:off x="3122366" y="2361403"/>
            <a:ext cx="188427" cy="157023"/>
          </a:xfrm>
          <a:prstGeom prst="rect">
            <a:avLst/>
          </a:prstGeom>
        </p:spPr>
      </p:pic>
      <p:pic>
        <p:nvPicPr>
          <p:cNvPr id="24" name="Picture 23" descr="A yellow cube with black background&#10;&#10;AI-generated content may be incorrect.">
            <a:extLst>
              <a:ext uri="{FF2B5EF4-FFF2-40B4-BE49-F238E27FC236}">
                <a16:creationId xmlns:a16="http://schemas.microsoft.com/office/drawing/2014/main" id="{89BD0FE4-3D7E-9999-FFA5-4E2B89164AEA}"/>
              </a:ext>
            </a:extLst>
          </p:cNvPr>
          <p:cNvPicPr>
            <a:picLocks noChangeAspect="1"/>
          </p:cNvPicPr>
          <p:nvPr/>
        </p:nvPicPr>
        <p:blipFill>
          <a:blip r:embed="rId6"/>
          <a:stretch>
            <a:fillRect/>
          </a:stretch>
        </p:blipFill>
        <p:spPr>
          <a:xfrm>
            <a:off x="3310793" y="2362700"/>
            <a:ext cx="188427" cy="157023"/>
          </a:xfrm>
          <a:prstGeom prst="rect">
            <a:avLst/>
          </a:prstGeom>
        </p:spPr>
      </p:pic>
      <p:pic>
        <p:nvPicPr>
          <p:cNvPr id="25" name="Picture 24" descr="A green rectangular object with black background&#10;&#10;AI-generated content may be incorrect.">
            <a:extLst>
              <a:ext uri="{FF2B5EF4-FFF2-40B4-BE49-F238E27FC236}">
                <a16:creationId xmlns:a16="http://schemas.microsoft.com/office/drawing/2014/main" id="{080BF498-982A-8887-CF2B-CFA3E337C72A}"/>
              </a:ext>
            </a:extLst>
          </p:cNvPr>
          <p:cNvPicPr>
            <a:picLocks noChangeAspect="1"/>
          </p:cNvPicPr>
          <p:nvPr/>
        </p:nvPicPr>
        <p:blipFill>
          <a:blip r:embed="rId5"/>
          <a:stretch>
            <a:fillRect/>
          </a:stretch>
        </p:blipFill>
        <p:spPr>
          <a:xfrm>
            <a:off x="4804348" y="2078040"/>
            <a:ext cx="501194" cy="751791"/>
          </a:xfrm>
          <a:prstGeom prst="rect">
            <a:avLst/>
          </a:prstGeom>
        </p:spPr>
      </p:pic>
      <p:pic>
        <p:nvPicPr>
          <p:cNvPr id="28" name="Picture 27" descr="A yellow cube with black background&#10;&#10;AI-generated content may be incorrect.">
            <a:extLst>
              <a:ext uri="{FF2B5EF4-FFF2-40B4-BE49-F238E27FC236}">
                <a16:creationId xmlns:a16="http://schemas.microsoft.com/office/drawing/2014/main" id="{57F74F7D-D5A8-C9F3-E1BE-2AF89852B6BE}"/>
              </a:ext>
            </a:extLst>
          </p:cNvPr>
          <p:cNvPicPr>
            <a:picLocks noChangeAspect="1"/>
          </p:cNvPicPr>
          <p:nvPr/>
        </p:nvPicPr>
        <p:blipFill>
          <a:blip r:embed="rId6"/>
          <a:stretch>
            <a:fillRect/>
          </a:stretch>
        </p:blipFill>
        <p:spPr>
          <a:xfrm>
            <a:off x="6264977" y="2362700"/>
            <a:ext cx="188427" cy="157023"/>
          </a:xfrm>
          <a:prstGeom prst="rect">
            <a:avLst/>
          </a:prstGeom>
        </p:spPr>
      </p:pic>
      <p:pic>
        <p:nvPicPr>
          <p:cNvPr id="29" name="Picture 28" descr="A yellow cube with black background&#10;&#10;AI-generated content may be incorrect.">
            <a:extLst>
              <a:ext uri="{FF2B5EF4-FFF2-40B4-BE49-F238E27FC236}">
                <a16:creationId xmlns:a16="http://schemas.microsoft.com/office/drawing/2014/main" id="{B46B898E-1A96-0F16-2F1B-6688BE41AF77}"/>
              </a:ext>
            </a:extLst>
          </p:cNvPr>
          <p:cNvPicPr>
            <a:picLocks noChangeAspect="1"/>
          </p:cNvPicPr>
          <p:nvPr/>
        </p:nvPicPr>
        <p:blipFill>
          <a:blip r:embed="rId6"/>
          <a:stretch>
            <a:fillRect/>
          </a:stretch>
        </p:blipFill>
        <p:spPr>
          <a:xfrm>
            <a:off x="6453404" y="2364504"/>
            <a:ext cx="188427" cy="157023"/>
          </a:xfrm>
          <a:prstGeom prst="rect">
            <a:avLst/>
          </a:prstGeom>
        </p:spPr>
      </p:pic>
      <p:pic>
        <p:nvPicPr>
          <p:cNvPr id="32" name="Picture 31" descr="A green rectangular object with black background&#10;&#10;AI-generated content may be incorrect.">
            <a:extLst>
              <a:ext uri="{FF2B5EF4-FFF2-40B4-BE49-F238E27FC236}">
                <a16:creationId xmlns:a16="http://schemas.microsoft.com/office/drawing/2014/main" id="{67A1BEF0-CB40-367C-0C7B-1663F771CA32}"/>
              </a:ext>
            </a:extLst>
          </p:cNvPr>
          <p:cNvPicPr>
            <a:picLocks noChangeAspect="1"/>
          </p:cNvPicPr>
          <p:nvPr/>
        </p:nvPicPr>
        <p:blipFill>
          <a:blip r:embed="rId5"/>
          <a:stretch>
            <a:fillRect/>
          </a:stretch>
        </p:blipFill>
        <p:spPr>
          <a:xfrm>
            <a:off x="2487626" y="4314104"/>
            <a:ext cx="501194" cy="751791"/>
          </a:xfrm>
          <a:prstGeom prst="rect">
            <a:avLst/>
          </a:prstGeom>
        </p:spPr>
      </p:pic>
      <p:pic>
        <p:nvPicPr>
          <p:cNvPr id="33" name="Picture 32" descr="A green rectangular object with black background&#10;&#10;AI-generated content may be incorrect.">
            <a:extLst>
              <a:ext uri="{FF2B5EF4-FFF2-40B4-BE49-F238E27FC236}">
                <a16:creationId xmlns:a16="http://schemas.microsoft.com/office/drawing/2014/main" id="{09016D16-B2B3-6306-2C2C-1CE5B73837A9}"/>
              </a:ext>
            </a:extLst>
          </p:cNvPr>
          <p:cNvPicPr>
            <a:picLocks noChangeAspect="1"/>
          </p:cNvPicPr>
          <p:nvPr/>
        </p:nvPicPr>
        <p:blipFill>
          <a:blip r:embed="rId5"/>
          <a:stretch>
            <a:fillRect/>
          </a:stretch>
        </p:blipFill>
        <p:spPr>
          <a:xfrm>
            <a:off x="2640026" y="4314103"/>
            <a:ext cx="501194" cy="751791"/>
          </a:xfrm>
          <a:prstGeom prst="rect">
            <a:avLst/>
          </a:prstGeom>
        </p:spPr>
      </p:pic>
      <p:pic>
        <p:nvPicPr>
          <p:cNvPr id="34" name="Picture 33" descr="A yellow cube with black background&#10;&#10;AI-generated content may be incorrect.">
            <a:extLst>
              <a:ext uri="{FF2B5EF4-FFF2-40B4-BE49-F238E27FC236}">
                <a16:creationId xmlns:a16="http://schemas.microsoft.com/office/drawing/2014/main" id="{FC407923-2EF2-CEEC-DD22-4D0C1671BD1E}"/>
              </a:ext>
            </a:extLst>
          </p:cNvPr>
          <p:cNvPicPr>
            <a:picLocks noChangeAspect="1"/>
          </p:cNvPicPr>
          <p:nvPr/>
        </p:nvPicPr>
        <p:blipFill>
          <a:blip r:embed="rId6"/>
          <a:stretch>
            <a:fillRect/>
          </a:stretch>
        </p:blipFill>
        <p:spPr>
          <a:xfrm>
            <a:off x="4823171" y="4615273"/>
            <a:ext cx="188427" cy="157023"/>
          </a:xfrm>
          <a:prstGeom prst="rect">
            <a:avLst/>
          </a:prstGeom>
        </p:spPr>
      </p:pic>
      <p:pic>
        <p:nvPicPr>
          <p:cNvPr id="35" name="Picture 34" descr="A yellow cube with black background&#10;&#10;AI-generated content may be incorrect.">
            <a:extLst>
              <a:ext uri="{FF2B5EF4-FFF2-40B4-BE49-F238E27FC236}">
                <a16:creationId xmlns:a16="http://schemas.microsoft.com/office/drawing/2014/main" id="{F946606B-819A-742B-21B5-B9318C2B6788}"/>
              </a:ext>
            </a:extLst>
          </p:cNvPr>
          <p:cNvPicPr>
            <a:picLocks noChangeAspect="1"/>
          </p:cNvPicPr>
          <p:nvPr/>
        </p:nvPicPr>
        <p:blipFill>
          <a:blip r:embed="rId6"/>
          <a:stretch>
            <a:fillRect/>
          </a:stretch>
        </p:blipFill>
        <p:spPr>
          <a:xfrm>
            <a:off x="5011598" y="4617077"/>
            <a:ext cx="188427" cy="157023"/>
          </a:xfrm>
          <a:prstGeom prst="rect">
            <a:avLst/>
          </a:prstGeom>
        </p:spPr>
      </p:pic>
      <p:pic>
        <p:nvPicPr>
          <p:cNvPr id="36" name="Picture 35" descr="A yellow cube with black background&#10;&#10;AI-generated content may be incorrect.">
            <a:extLst>
              <a:ext uri="{FF2B5EF4-FFF2-40B4-BE49-F238E27FC236}">
                <a16:creationId xmlns:a16="http://schemas.microsoft.com/office/drawing/2014/main" id="{41E73A0B-DF29-2138-29E2-02DAD3438E96}"/>
              </a:ext>
            </a:extLst>
          </p:cNvPr>
          <p:cNvPicPr>
            <a:picLocks noChangeAspect="1"/>
          </p:cNvPicPr>
          <p:nvPr/>
        </p:nvPicPr>
        <p:blipFill>
          <a:blip r:embed="rId6"/>
          <a:stretch>
            <a:fillRect/>
          </a:stretch>
        </p:blipFill>
        <p:spPr>
          <a:xfrm>
            <a:off x="5200025" y="4618374"/>
            <a:ext cx="188427" cy="157023"/>
          </a:xfrm>
          <a:prstGeom prst="rect">
            <a:avLst/>
          </a:prstGeom>
        </p:spPr>
      </p:pic>
      <p:pic>
        <p:nvPicPr>
          <p:cNvPr id="37" name="Picture 36" descr="A green rectangular object with black background&#10;&#10;AI-generated content may be incorrect.">
            <a:extLst>
              <a:ext uri="{FF2B5EF4-FFF2-40B4-BE49-F238E27FC236}">
                <a16:creationId xmlns:a16="http://schemas.microsoft.com/office/drawing/2014/main" id="{FA6A0EA1-9CB0-BE8B-E561-D04E81E5BA22}"/>
              </a:ext>
            </a:extLst>
          </p:cNvPr>
          <p:cNvPicPr>
            <a:picLocks noChangeAspect="1"/>
          </p:cNvPicPr>
          <p:nvPr/>
        </p:nvPicPr>
        <p:blipFill>
          <a:blip r:embed="rId5"/>
          <a:stretch>
            <a:fillRect/>
          </a:stretch>
        </p:blipFill>
        <p:spPr>
          <a:xfrm>
            <a:off x="2792426" y="4314104"/>
            <a:ext cx="501194" cy="751791"/>
          </a:xfrm>
          <a:prstGeom prst="rect">
            <a:avLst/>
          </a:prstGeom>
        </p:spPr>
      </p:pic>
      <p:pic>
        <p:nvPicPr>
          <p:cNvPr id="38" name="Picture 37" descr="A yellow cube with black background&#10;&#10;AI-generated content may be incorrect.">
            <a:extLst>
              <a:ext uri="{FF2B5EF4-FFF2-40B4-BE49-F238E27FC236}">
                <a16:creationId xmlns:a16="http://schemas.microsoft.com/office/drawing/2014/main" id="{20159C38-88DD-AB2C-A0B7-E64D31403C78}"/>
              </a:ext>
            </a:extLst>
          </p:cNvPr>
          <p:cNvPicPr>
            <a:picLocks noChangeAspect="1"/>
          </p:cNvPicPr>
          <p:nvPr/>
        </p:nvPicPr>
        <p:blipFill>
          <a:blip r:embed="rId6"/>
          <a:stretch>
            <a:fillRect/>
          </a:stretch>
        </p:blipFill>
        <p:spPr>
          <a:xfrm>
            <a:off x="5388452" y="4618374"/>
            <a:ext cx="188427" cy="157023"/>
          </a:xfrm>
          <a:prstGeom prst="rect">
            <a:avLst/>
          </a:prstGeom>
        </p:spPr>
      </p:pic>
      <p:pic>
        <p:nvPicPr>
          <p:cNvPr id="39" name="Picture 38" descr="A yellow cube with black background&#10;&#10;AI-generated content may be incorrect.">
            <a:extLst>
              <a:ext uri="{FF2B5EF4-FFF2-40B4-BE49-F238E27FC236}">
                <a16:creationId xmlns:a16="http://schemas.microsoft.com/office/drawing/2014/main" id="{6AA34D3E-7DEB-A846-95C2-17DAE6E198A6}"/>
              </a:ext>
            </a:extLst>
          </p:cNvPr>
          <p:cNvPicPr>
            <a:picLocks noChangeAspect="1"/>
          </p:cNvPicPr>
          <p:nvPr/>
        </p:nvPicPr>
        <p:blipFill>
          <a:blip r:embed="rId6"/>
          <a:stretch>
            <a:fillRect/>
          </a:stretch>
        </p:blipFill>
        <p:spPr>
          <a:xfrm>
            <a:off x="5576879" y="4618374"/>
            <a:ext cx="188427" cy="157023"/>
          </a:xfrm>
          <a:prstGeom prst="rect">
            <a:avLst/>
          </a:prstGeom>
        </p:spPr>
      </p:pic>
      <p:sp>
        <p:nvSpPr>
          <p:cNvPr id="9" name="TextBox 11">
            <a:extLst>
              <a:ext uri="{FF2B5EF4-FFF2-40B4-BE49-F238E27FC236}">
                <a16:creationId xmlns:a16="http://schemas.microsoft.com/office/drawing/2014/main" id="{09C066F9-7C27-6968-DCFE-185252EC6852}"/>
              </a:ext>
            </a:extLst>
          </p:cNvPr>
          <p:cNvSpPr txBox="1"/>
          <p:nvPr/>
        </p:nvSpPr>
        <p:spPr>
          <a:xfrm>
            <a:off x="3958093" y="2103120"/>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9"/>
                                          </p:stCondLst>
                                        </p:cTn>
                                        <p:tgtEl>
                                          <p:spTgt spid="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 presetClass="exit" presetSubtype="4" fill="hold" nodeType="clickEffect">
                                  <p:stCondLst>
                                    <p:cond delay="0"/>
                                  </p:stCondLst>
                                  <p:childTnLst>
                                    <p:anim calcmode="lin" valueType="num">
                                      <p:cBhvr additive="base">
                                        <p:cTn id="42" dur="500"/>
                                        <p:tgtEl>
                                          <p:spTgt spid="10"/>
                                        </p:tgtEl>
                                        <p:attrNameLst>
                                          <p:attrName>ppt_x</p:attrName>
                                        </p:attrNameLst>
                                      </p:cBhvr>
                                      <p:tavLst>
                                        <p:tav tm="0">
                                          <p:val>
                                            <p:strVal val="ppt_x"/>
                                          </p:val>
                                        </p:tav>
                                        <p:tav tm="100000">
                                          <p:val>
                                            <p:strVal val="ppt_x"/>
                                          </p:val>
                                        </p:tav>
                                      </p:tavLst>
                                    </p:anim>
                                    <p:anim calcmode="lin" valueType="num">
                                      <p:cBhvr additive="base">
                                        <p:cTn id="43" dur="500"/>
                                        <p:tgtEl>
                                          <p:spTgt spid="10"/>
                                        </p:tgtEl>
                                        <p:attrNameLst>
                                          <p:attrName>ppt_y</p:attrName>
                                        </p:attrNameLst>
                                      </p:cBhvr>
                                      <p:tavLst>
                                        <p:tav tm="0">
                                          <p:val>
                                            <p:strVal val="ppt_y"/>
                                          </p:val>
                                        </p:tav>
                                        <p:tav tm="100000">
                                          <p:val>
                                            <p:strVal val="1+ppt_h/2"/>
                                          </p:val>
                                        </p:tav>
                                      </p:tavLst>
                                    </p:anim>
                                    <p:set>
                                      <p:cBhvr>
                                        <p:cTn id="44" dur="1" fill="hold">
                                          <p:stCondLst>
                                            <p:cond delay="499"/>
                                          </p:stCondLst>
                                        </p:cTn>
                                        <p:tgtEl>
                                          <p:spTgt spid="10"/>
                                        </p:tgtEl>
                                        <p:attrNameLst>
                                          <p:attrName>style.visibility</p:attrName>
                                        </p:attrNameLst>
                                      </p:cBhvr>
                                      <p:to>
                                        <p:strVal val="hidden"/>
                                      </p:to>
                                    </p:set>
                                  </p:childTnLst>
                                </p:cTn>
                              </p:par>
                              <p:par>
                                <p:cTn id="45" presetID="2" presetClass="exit" presetSubtype="4" fill="hold" nodeType="withEffect">
                                  <p:stCondLst>
                                    <p:cond delay="0"/>
                                  </p:stCondLst>
                                  <p:childTnLst>
                                    <p:anim calcmode="lin" valueType="num">
                                      <p:cBhvr additive="base">
                                        <p:cTn id="46" dur="500"/>
                                        <p:tgtEl>
                                          <p:spTgt spid="17"/>
                                        </p:tgtEl>
                                        <p:attrNameLst>
                                          <p:attrName>ppt_x</p:attrName>
                                        </p:attrNameLst>
                                      </p:cBhvr>
                                      <p:tavLst>
                                        <p:tav tm="0">
                                          <p:val>
                                            <p:strVal val="ppt_x"/>
                                          </p:val>
                                        </p:tav>
                                        <p:tav tm="100000">
                                          <p:val>
                                            <p:strVal val="ppt_x"/>
                                          </p:val>
                                        </p:tav>
                                      </p:tavLst>
                                    </p:anim>
                                    <p:anim calcmode="lin" valueType="num">
                                      <p:cBhvr additive="base">
                                        <p:cTn id="47" dur="500"/>
                                        <p:tgtEl>
                                          <p:spTgt spid="17"/>
                                        </p:tgtEl>
                                        <p:attrNameLst>
                                          <p:attrName>ppt_y</p:attrName>
                                        </p:attrNameLst>
                                      </p:cBhvr>
                                      <p:tavLst>
                                        <p:tav tm="0">
                                          <p:val>
                                            <p:strVal val="ppt_y"/>
                                          </p:val>
                                        </p:tav>
                                        <p:tav tm="100000">
                                          <p:val>
                                            <p:strVal val="1+ppt_h/2"/>
                                          </p:val>
                                        </p:tav>
                                      </p:tavLst>
                                    </p:anim>
                                    <p:set>
                                      <p:cBhvr>
                                        <p:cTn id="48" dur="1" fill="hold">
                                          <p:stCondLst>
                                            <p:cond delay="499"/>
                                          </p:stCondLst>
                                        </p:cTn>
                                        <p:tgtEl>
                                          <p:spTgt spid="17"/>
                                        </p:tgtEl>
                                        <p:attrNameLst>
                                          <p:attrName>style.visibility</p:attrName>
                                        </p:attrNameLst>
                                      </p:cBhvr>
                                      <p:to>
                                        <p:strVal val="hidden"/>
                                      </p:to>
                                    </p:set>
                                  </p:childTnLst>
                                </p:cTn>
                              </p:par>
                              <p:par>
                                <p:cTn id="49" presetID="1"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9"/>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9"/>
                                          </p:stCondLst>
                                        </p:cTn>
                                        <p:tgtEl>
                                          <p:spTgt spid="1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9" presetClass="emph" presetSubtype="0" nodeType="clickEffect">
                                  <p:stCondLst>
                                    <p:cond delay="0"/>
                                  </p:stCondLst>
                                  <p:childTnLst>
                                    <p:set>
                                      <p:cBhvr>
                                        <p:cTn id="60" dur="indefinite"/>
                                        <p:tgtEl>
                                          <p:spTgt spid="20"/>
                                        </p:tgtEl>
                                        <p:attrNameLst>
                                          <p:attrName>style.opacity</p:attrName>
                                        </p:attrNameLst>
                                      </p:cBhvr>
                                      <p:to>
                                        <p:strVal val="0.5"/>
                                      </p:to>
                                    </p:set>
                                    <p:animEffect filter="image" prLst="opacity: 0.5">
                                      <p:cBhvr rctx="IE">
                                        <p:cTn id="61" dur="indefinite"/>
                                        <p:tgtEl>
                                          <p:spTgt spid="20"/>
                                        </p:tgtEl>
                                      </p:cBhvr>
                                    </p:animEffect>
                                  </p:childTnLst>
                                </p:cTn>
                              </p:par>
                              <p:par>
                                <p:cTn id="62" presetID="9" presetClass="emph" presetSubtype="0" nodeType="withEffect">
                                  <p:stCondLst>
                                    <p:cond delay="0"/>
                                  </p:stCondLst>
                                  <p:childTnLst>
                                    <p:set>
                                      <p:cBhvr>
                                        <p:cTn id="63" dur="indefinite"/>
                                        <p:tgtEl>
                                          <p:spTgt spid="21"/>
                                        </p:tgtEl>
                                        <p:attrNameLst>
                                          <p:attrName>style.opacity</p:attrName>
                                        </p:attrNameLst>
                                      </p:cBhvr>
                                      <p:to>
                                        <p:strVal val="0.5"/>
                                      </p:to>
                                    </p:set>
                                    <p:animEffect filter="image" prLst="opacity: 0.5">
                                      <p:cBhvr rctx="IE">
                                        <p:cTn id="64" dur="indefinite"/>
                                        <p:tgtEl>
                                          <p:spTgt spid="21"/>
                                        </p:tgtEl>
                                      </p:cBhvr>
                                    </p:animEffect>
                                  </p:childTnLst>
                                </p:cTn>
                              </p:par>
                              <p:par>
                                <p:cTn id="65" presetID="9" presetClass="emph" presetSubtype="0" nodeType="withEffect">
                                  <p:stCondLst>
                                    <p:cond delay="0"/>
                                  </p:stCondLst>
                                  <p:childTnLst>
                                    <p:set>
                                      <p:cBhvr>
                                        <p:cTn id="66" dur="indefinite"/>
                                        <p:tgtEl>
                                          <p:spTgt spid="24"/>
                                        </p:tgtEl>
                                        <p:attrNameLst>
                                          <p:attrName>style.opacity</p:attrName>
                                        </p:attrNameLst>
                                      </p:cBhvr>
                                      <p:to>
                                        <p:strVal val="0.5"/>
                                      </p:to>
                                    </p:set>
                                    <p:animEffect filter="image" prLst="opacity: 0.5">
                                      <p:cBhvr rctx="IE">
                                        <p:cTn id="67" dur="indefinite"/>
                                        <p:tgtEl>
                                          <p:spTgt spid="24"/>
                                        </p:tgtEl>
                                      </p:cBhvr>
                                    </p:animEffect>
                                  </p:childTnLst>
                                </p:cTn>
                              </p:par>
                              <p:par>
                                <p:cTn id="68" presetID="9" presetClass="emph" presetSubtype="0" nodeType="withEffect">
                                  <p:stCondLst>
                                    <p:cond delay="0"/>
                                  </p:stCondLst>
                                  <p:childTnLst>
                                    <p:set>
                                      <p:cBhvr>
                                        <p:cTn id="69" dur="indefinite"/>
                                        <p:tgtEl>
                                          <p:spTgt spid="28"/>
                                        </p:tgtEl>
                                        <p:attrNameLst>
                                          <p:attrName>style.opacity</p:attrName>
                                        </p:attrNameLst>
                                      </p:cBhvr>
                                      <p:to>
                                        <p:strVal val="0.5"/>
                                      </p:to>
                                    </p:set>
                                    <p:animEffect filter="image" prLst="opacity: 0.5">
                                      <p:cBhvr rctx="IE">
                                        <p:cTn id="70" dur="indefinite"/>
                                        <p:tgtEl>
                                          <p:spTgt spid="28"/>
                                        </p:tgtEl>
                                      </p:cBhvr>
                                    </p:animEffect>
                                  </p:childTnLst>
                                </p:cTn>
                              </p:par>
                              <p:par>
                                <p:cTn id="71" presetID="9" presetClass="emph" presetSubtype="0" nodeType="withEffect">
                                  <p:stCondLst>
                                    <p:cond delay="0"/>
                                  </p:stCondLst>
                                  <p:childTnLst>
                                    <p:set>
                                      <p:cBhvr>
                                        <p:cTn id="72" dur="indefinite"/>
                                        <p:tgtEl>
                                          <p:spTgt spid="29"/>
                                        </p:tgtEl>
                                        <p:attrNameLst>
                                          <p:attrName>style.opacity</p:attrName>
                                        </p:attrNameLst>
                                      </p:cBhvr>
                                      <p:to>
                                        <p:strVal val="0.5"/>
                                      </p:to>
                                    </p:set>
                                    <p:animEffect filter="image" prLst="opacity: 0.5">
                                      <p:cBhvr rctx="IE">
                                        <p:cTn id="73" dur="indefinite"/>
                                        <p:tgtEl>
                                          <p:spTgt spid="29"/>
                                        </p:tgtEl>
                                      </p:cBhvr>
                                    </p:animEffect>
                                  </p:childTnLst>
                                </p:cTn>
                              </p:par>
                              <p:par>
                                <p:cTn id="74" presetID="1" presetClass="entr" presetSubtype="0" fill="hold" nodeType="withEffect">
                                  <p:stCondLst>
                                    <p:cond delay="0"/>
                                  </p:stCondLst>
                                  <p:childTnLst>
                                    <p:set>
                                      <p:cBhvr>
                                        <p:cTn id="75" dur="1" fill="hold">
                                          <p:stCondLst>
                                            <p:cond delay="0"/>
                                          </p:stCondLst>
                                        </p:cTn>
                                        <p:tgtEl>
                                          <p:spTgt spid="34"/>
                                        </p:tgtEl>
                                        <p:attrNameLst>
                                          <p:attrName>style.visibility</p:attrName>
                                        </p:attrNameLst>
                                      </p:cBhvr>
                                      <p:to>
                                        <p:strVal val="visible"/>
                                      </p:to>
                                    </p:set>
                                  </p:childTnLst>
                                </p:cTn>
                              </p:par>
                              <p:par>
                                <p:cTn id="76" presetID="1" presetClass="entr" presetSubtype="0" fill="hold" nodeType="withEffect">
                                  <p:stCondLst>
                                    <p:cond delay="0"/>
                                  </p:stCondLst>
                                  <p:childTnLst>
                                    <p:set>
                                      <p:cBhvr>
                                        <p:cTn id="77" dur="1" fill="hold">
                                          <p:stCondLst>
                                            <p:cond delay="0"/>
                                          </p:stCondLst>
                                        </p:cTn>
                                        <p:tgtEl>
                                          <p:spTgt spid="35"/>
                                        </p:tgtEl>
                                        <p:attrNameLst>
                                          <p:attrName>style.visibility</p:attrName>
                                        </p:attrNameLst>
                                      </p:cBhvr>
                                      <p:to>
                                        <p:strVal val="visible"/>
                                      </p:to>
                                    </p:set>
                                  </p:childTnLst>
                                </p:cTn>
                              </p:par>
                              <p:par>
                                <p:cTn id="78" presetID="1" presetClass="entr" presetSubtype="0" fill="hold" nodeType="withEffect">
                                  <p:stCondLst>
                                    <p:cond delay="0"/>
                                  </p:stCondLst>
                                  <p:childTnLst>
                                    <p:set>
                                      <p:cBhvr>
                                        <p:cTn id="79" dur="1" fill="hold">
                                          <p:stCondLst>
                                            <p:cond delay="0"/>
                                          </p:stCondLst>
                                        </p:cTn>
                                        <p:tgtEl>
                                          <p:spTgt spid="36"/>
                                        </p:tgtEl>
                                        <p:attrNameLst>
                                          <p:attrName>style.visibility</p:attrName>
                                        </p:attrNameLst>
                                      </p:cBhvr>
                                      <p:to>
                                        <p:strVal val="visible"/>
                                      </p:to>
                                    </p:set>
                                  </p:childTnLst>
                                </p:cTn>
                              </p:par>
                              <p:par>
                                <p:cTn id="80" presetID="1" presetClass="entr" presetSubtype="0" fill="hold" nodeType="withEffect">
                                  <p:stCondLst>
                                    <p:cond delay="0"/>
                                  </p:stCondLst>
                                  <p:childTnLst>
                                    <p:set>
                                      <p:cBhvr>
                                        <p:cTn id="81" dur="1" fill="hold">
                                          <p:stCondLst>
                                            <p:cond delay="0"/>
                                          </p:stCondLst>
                                        </p:cTn>
                                        <p:tgtEl>
                                          <p:spTgt spid="38"/>
                                        </p:tgtEl>
                                        <p:attrNameLst>
                                          <p:attrName>style.visibility</p:attrName>
                                        </p:attrNameLst>
                                      </p:cBhvr>
                                      <p:to>
                                        <p:strVal val="visible"/>
                                      </p:to>
                                    </p:set>
                                  </p:childTnLst>
                                </p:cTn>
                              </p:par>
                              <p:par>
                                <p:cTn id="82" presetID="1" presetClass="entr" presetSubtype="0" fill="hold" nodeType="withEffect">
                                  <p:stCondLst>
                                    <p:cond delay="0"/>
                                  </p:stCondLst>
                                  <p:childTnLst>
                                    <p:set>
                                      <p:cBhvr>
                                        <p:cTn id="83" dur="1" fill="hold">
                                          <p:stCondLst>
                                            <p:cond delay="0"/>
                                          </p:stCondLst>
                                        </p:cTn>
                                        <p:tgtEl>
                                          <p:spTgt spid="39"/>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9" presetClass="emph" presetSubtype="0" nodeType="clickEffect">
                                  <p:stCondLst>
                                    <p:cond delay="0"/>
                                  </p:stCondLst>
                                  <p:childTnLst>
                                    <p:set>
                                      <p:cBhvr>
                                        <p:cTn id="87" dur="indefinite"/>
                                        <p:tgtEl>
                                          <p:spTgt spid="19"/>
                                        </p:tgtEl>
                                        <p:attrNameLst>
                                          <p:attrName>style.opacity</p:attrName>
                                        </p:attrNameLst>
                                      </p:cBhvr>
                                      <p:to>
                                        <p:strVal val="0.5"/>
                                      </p:to>
                                    </p:set>
                                    <p:animEffect filter="image" prLst="opacity: 0.5">
                                      <p:cBhvr rctx="IE">
                                        <p:cTn id="88" dur="indefinite"/>
                                        <p:tgtEl>
                                          <p:spTgt spid="19"/>
                                        </p:tgtEl>
                                      </p:cBhvr>
                                    </p:animEffect>
                                  </p:childTnLst>
                                </p:cTn>
                              </p:par>
                              <p:par>
                                <p:cTn id="89" presetID="9" presetClass="emph" presetSubtype="0" nodeType="withEffect">
                                  <p:stCondLst>
                                    <p:cond delay="0"/>
                                  </p:stCondLst>
                                  <p:childTnLst>
                                    <p:set>
                                      <p:cBhvr>
                                        <p:cTn id="90" dur="indefinite"/>
                                        <p:tgtEl>
                                          <p:spTgt spid="18"/>
                                        </p:tgtEl>
                                        <p:attrNameLst>
                                          <p:attrName>style.opacity</p:attrName>
                                        </p:attrNameLst>
                                      </p:cBhvr>
                                      <p:to>
                                        <p:strVal val="0.5"/>
                                      </p:to>
                                    </p:set>
                                    <p:animEffect filter="image" prLst="opacity: 0.5">
                                      <p:cBhvr rctx="IE">
                                        <p:cTn id="91" dur="indefinite"/>
                                        <p:tgtEl>
                                          <p:spTgt spid="18"/>
                                        </p:tgtEl>
                                      </p:cBhvr>
                                    </p:animEffect>
                                  </p:childTnLst>
                                </p:cTn>
                              </p:par>
                              <p:par>
                                <p:cTn id="92" presetID="9" presetClass="emph" presetSubtype="0" nodeType="withEffect">
                                  <p:stCondLst>
                                    <p:cond delay="0"/>
                                  </p:stCondLst>
                                  <p:childTnLst>
                                    <p:set>
                                      <p:cBhvr>
                                        <p:cTn id="93" dur="indefinite"/>
                                        <p:tgtEl>
                                          <p:spTgt spid="25"/>
                                        </p:tgtEl>
                                        <p:attrNameLst>
                                          <p:attrName>style.opacity</p:attrName>
                                        </p:attrNameLst>
                                      </p:cBhvr>
                                      <p:to>
                                        <p:strVal val="0.5"/>
                                      </p:to>
                                    </p:set>
                                    <p:animEffect filter="image" prLst="opacity: 0.5">
                                      <p:cBhvr rctx="IE">
                                        <p:cTn id="94" dur="indefinite"/>
                                        <p:tgtEl>
                                          <p:spTgt spid="25"/>
                                        </p:tgtEl>
                                      </p:cBhvr>
                                    </p:animEffect>
                                  </p:childTnLst>
                                </p:cTn>
                              </p:par>
                              <p:par>
                                <p:cTn id="95" presetID="1" presetClass="entr" presetSubtype="0" fill="hold" nodeType="withEffect">
                                  <p:stCondLst>
                                    <p:cond delay="0"/>
                                  </p:stCondLst>
                                  <p:childTnLst>
                                    <p:set>
                                      <p:cBhvr>
                                        <p:cTn id="96" dur="1" fill="hold">
                                          <p:stCondLst>
                                            <p:cond delay="0"/>
                                          </p:stCondLst>
                                        </p:cTn>
                                        <p:tgtEl>
                                          <p:spTgt spid="32"/>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3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37"/>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77068-5426-81AB-8472-13ED3410BD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2EF1FD3-7121-E45F-0C8F-4313043D9637}"/>
              </a:ext>
            </a:extLst>
          </p:cNvPr>
          <p:cNvSpPr txBox="1"/>
          <p:nvPr/>
        </p:nvSpPr>
        <p:spPr>
          <a:xfrm>
            <a:off x="365760" y="137160"/>
            <a:ext cx="2586606" cy="307777"/>
          </a:xfrm>
          <a:prstGeom prst="rect">
            <a:avLst/>
          </a:prstGeom>
          <a:noFill/>
        </p:spPr>
        <p:txBody>
          <a:bodyPr wrap="none">
            <a:spAutoFit/>
          </a:bodyPr>
          <a:lstStyle/>
          <a:p>
            <a:r>
              <a:rPr sz="1400" b="1" dirty="0">
                <a:solidFill>
                  <a:srgbClr val="0B3D8C"/>
                </a:solidFill>
              </a:rPr>
              <a:t>Page 3</a:t>
            </a:r>
            <a:r>
              <a:rPr lang="en-US" sz="1400" b="1" dirty="0">
                <a:solidFill>
                  <a:srgbClr val="0B3D8C"/>
                </a:solidFill>
              </a:rPr>
              <a:t>b</a:t>
            </a:r>
            <a:r>
              <a:rPr sz="1400" b="1" dirty="0">
                <a:solidFill>
                  <a:srgbClr val="0B3D8C"/>
                </a:solidFill>
              </a:rPr>
              <a:t> · 03_DEMO_COUNT.png</a:t>
            </a:r>
          </a:p>
        </p:txBody>
      </p:sp>
      <p:sp>
        <p:nvSpPr>
          <p:cNvPr id="4" name="TextBox 3">
            <a:extLst>
              <a:ext uri="{FF2B5EF4-FFF2-40B4-BE49-F238E27FC236}">
                <a16:creationId xmlns:a16="http://schemas.microsoft.com/office/drawing/2014/main" id="{327B53E0-DA3F-D7D0-BA93-79F004825DE0}"/>
              </a:ext>
            </a:extLst>
          </p:cNvPr>
          <p:cNvSpPr txBox="1"/>
          <p:nvPr/>
        </p:nvSpPr>
        <p:spPr>
          <a:xfrm>
            <a:off x="8229600" y="731520"/>
            <a:ext cx="3596335" cy="2277547"/>
          </a:xfrm>
          <a:prstGeom prst="rect">
            <a:avLst/>
          </a:prstGeom>
          <a:noFill/>
        </p:spPr>
        <p:txBody>
          <a:bodyPr wrap="square">
            <a:spAutoFit/>
          </a:bodyPr>
          <a:lstStyle/>
          <a:p>
            <a:r>
              <a:rPr sz="1600" b="1" dirty="0">
                <a:solidFill>
                  <a:srgbClr val="0B3D8C"/>
                </a:solidFill>
              </a:rPr>
              <a:t>Recommendations</a:t>
            </a:r>
            <a:endParaRPr lang="hi-IN" sz="1600" b="1" dirty="0">
              <a:solidFill>
                <a:srgbClr val="0B3D8C"/>
              </a:solidFill>
            </a:endParaRPr>
          </a:p>
          <a:p>
            <a:r>
              <a:rPr lang="en-US" altLang="en-US" sz="1400" dirty="0"/>
              <a:t>Add a new slide with the following content:</a:t>
            </a:r>
          </a:p>
          <a:p>
            <a:r>
              <a:rPr lang="en-US" sz="1400" dirty="0"/>
              <a:t>Images as written. </a:t>
            </a:r>
          </a:p>
          <a:p>
            <a:r>
              <a:rPr lang="en-US" sz="1400" dirty="0"/>
              <a:t>Equation: </a:t>
            </a:r>
            <a:r>
              <a:rPr lang="en-US" sz="1400" b="1" dirty="0"/>
              <a:t>23 + 12 = 35 </a:t>
            </a:r>
            <a:r>
              <a:rPr lang="en-US" sz="1400" dirty="0"/>
              <a:t>below the images.</a:t>
            </a:r>
          </a:p>
          <a:p>
            <a:endParaRPr lang="en-US" sz="1400" dirty="0"/>
          </a:p>
          <a:p>
            <a:r>
              <a:rPr lang="en-US" sz="1400" dirty="0"/>
              <a:t>VO1:</a:t>
            </a:r>
            <a:r>
              <a:rPr lang="hi-IN" sz="1400" dirty="0"/>
              <a:t> 23 जोड़ 12 बराबर 35 </a:t>
            </a:r>
          </a:p>
          <a:p>
            <a:endParaRPr lang="hi-IN" sz="1400" dirty="0"/>
          </a:p>
          <a:p>
            <a:endParaRPr lang="hi-IN" sz="1400" dirty="0"/>
          </a:p>
          <a:p>
            <a:r>
              <a:rPr lang="en-US" sz="1400" dirty="0"/>
              <a:t>VO2: </a:t>
            </a:r>
            <a:r>
              <a:rPr lang="hi-IN" sz="1400" dirty="0"/>
              <a:t>तारा और कबीर के पास कुल मिलाकर 35 ब्लॉक्स हैं। </a:t>
            </a:r>
          </a:p>
        </p:txBody>
      </p:sp>
      <p:sp>
        <p:nvSpPr>
          <p:cNvPr id="10" name="Rectangle: Rounded Corners 9">
            <a:extLst>
              <a:ext uri="{FF2B5EF4-FFF2-40B4-BE49-F238E27FC236}">
                <a16:creationId xmlns:a16="http://schemas.microsoft.com/office/drawing/2014/main" id="{B31B1BD9-392D-6612-8513-F5CB7B5655DB}"/>
              </a:ext>
            </a:extLst>
          </p:cNvPr>
          <p:cNvSpPr/>
          <p:nvPr/>
        </p:nvSpPr>
        <p:spPr>
          <a:xfrm>
            <a:off x="1871388" y="4046180"/>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23</a:t>
            </a:r>
            <a:endParaRPr lang="en-IN" sz="2800" b="1" dirty="0"/>
          </a:p>
        </p:txBody>
      </p:sp>
      <p:sp>
        <p:nvSpPr>
          <p:cNvPr id="13" name="Rectangle: Rounded Corners 12">
            <a:extLst>
              <a:ext uri="{FF2B5EF4-FFF2-40B4-BE49-F238E27FC236}">
                <a16:creationId xmlns:a16="http://schemas.microsoft.com/office/drawing/2014/main" id="{E45C4D2B-11BA-9B2C-5AA7-2D8F5698DF08}"/>
              </a:ext>
            </a:extLst>
          </p:cNvPr>
          <p:cNvSpPr/>
          <p:nvPr/>
        </p:nvSpPr>
        <p:spPr>
          <a:xfrm>
            <a:off x="3193019" y="4046180"/>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12</a:t>
            </a:r>
            <a:endParaRPr lang="en-IN" sz="2800" b="1" dirty="0"/>
          </a:p>
        </p:txBody>
      </p:sp>
      <p:sp>
        <p:nvSpPr>
          <p:cNvPr id="15" name="Rectangle: Rounded Corners 14">
            <a:extLst>
              <a:ext uri="{FF2B5EF4-FFF2-40B4-BE49-F238E27FC236}">
                <a16:creationId xmlns:a16="http://schemas.microsoft.com/office/drawing/2014/main" id="{174AE4ED-8F03-6D30-3C62-C4F6F572E8B5}"/>
              </a:ext>
            </a:extLst>
          </p:cNvPr>
          <p:cNvSpPr/>
          <p:nvPr/>
        </p:nvSpPr>
        <p:spPr>
          <a:xfrm>
            <a:off x="4811085" y="4046180"/>
            <a:ext cx="756826"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35</a:t>
            </a:r>
            <a:endParaRPr lang="en-IN" sz="2800" b="1" dirty="0"/>
          </a:p>
        </p:txBody>
      </p:sp>
      <p:sp>
        <p:nvSpPr>
          <p:cNvPr id="16" name="TextBox 15">
            <a:extLst>
              <a:ext uri="{FF2B5EF4-FFF2-40B4-BE49-F238E27FC236}">
                <a16:creationId xmlns:a16="http://schemas.microsoft.com/office/drawing/2014/main" id="{CD3FCB4C-C13E-1AF8-09EA-621CDB39BEDA}"/>
              </a:ext>
            </a:extLst>
          </p:cNvPr>
          <p:cNvSpPr txBox="1"/>
          <p:nvPr/>
        </p:nvSpPr>
        <p:spPr>
          <a:xfrm>
            <a:off x="2814882" y="4033842"/>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8" name="TextBox 17">
            <a:extLst>
              <a:ext uri="{FF2B5EF4-FFF2-40B4-BE49-F238E27FC236}">
                <a16:creationId xmlns:a16="http://schemas.microsoft.com/office/drawing/2014/main" id="{F9D5B384-374A-94D7-F994-9F784BA41DCB}"/>
              </a:ext>
            </a:extLst>
          </p:cNvPr>
          <p:cNvSpPr txBox="1"/>
          <p:nvPr/>
        </p:nvSpPr>
        <p:spPr>
          <a:xfrm>
            <a:off x="4247877" y="4033842"/>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6" name="TextBox 5">
            <a:extLst>
              <a:ext uri="{FF2B5EF4-FFF2-40B4-BE49-F238E27FC236}">
                <a16:creationId xmlns:a16="http://schemas.microsoft.com/office/drawing/2014/main" id="{8645A867-3229-D028-B371-3CB793482AFC}"/>
              </a:ext>
            </a:extLst>
          </p:cNvPr>
          <p:cNvSpPr txBox="1"/>
          <p:nvPr/>
        </p:nvSpPr>
        <p:spPr>
          <a:xfrm>
            <a:off x="1508760" y="2807422"/>
            <a:ext cx="1306122" cy="923330"/>
          </a:xfrm>
          <a:prstGeom prst="rect">
            <a:avLst/>
          </a:prstGeom>
          <a:noFill/>
        </p:spPr>
        <p:txBody>
          <a:bodyPr wrap="square" rtlCol="0">
            <a:spAutoFit/>
          </a:bodyPr>
          <a:lstStyle/>
          <a:p>
            <a:pPr algn="ctr"/>
            <a:r>
              <a:rPr lang="en-US" dirty="0"/>
              <a:t>23 blocks with Tara’s photo</a:t>
            </a:r>
            <a:endParaRPr lang="en-IN" dirty="0"/>
          </a:p>
        </p:txBody>
      </p:sp>
      <p:sp>
        <p:nvSpPr>
          <p:cNvPr id="9" name="TextBox 8">
            <a:extLst>
              <a:ext uri="{FF2B5EF4-FFF2-40B4-BE49-F238E27FC236}">
                <a16:creationId xmlns:a16="http://schemas.microsoft.com/office/drawing/2014/main" id="{E4094290-8BA1-AE79-CBA7-48EF649685D3}"/>
              </a:ext>
            </a:extLst>
          </p:cNvPr>
          <p:cNvSpPr txBox="1"/>
          <p:nvPr/>
        </p:nvSpPr>
        <p:spPr>
          <a:xfrm>
            <a:off x="3080058" y="2807422"/>
            <a:ext cx="1200639" cy="1200329"/>
          </a:xfrm>
          <a:prstGeom prst="rect">
            <a:avLst/>
          </a:prstGeom>
          <a:noFill/>
        </p:spPr>
        <p:txBody>
          <a:bodyPr wrap="square">
            <a:spAutoFit/>
          </a:bodyPr>
          <a:lstStyle/>
          <a:p>
            <a:pPr algn="ctr"/>
            <a:r>
              <a:rPr lang="en-US" dirty="0"/>
              <a:t>12 blocks with Kabir’s photo</a:t>
            </a:r>
            <a:endParaRPr lang="en-IN" dirty="0"/>
          </a:p>
        </p:txBody>
      </p:sp>
      <p:sp>
        <p:nvSpPr>
          <p:cNvPr id="12" name="TextBox 11">
            <a:extLst>
              <a:ext uri="{FF2B5EF4-FFF2-40B4-BE49-F238E27FC236}">
                <a16:creationId xmlns:a16="http://schemas.microsoft.com/office/drawing/2014/main" id="{488B09B8-F2F8-571B-DF2D-7730033FF426}"/>
              </a:ext>
            </a:extLst>
          </p:cNvPr>
          <p:cNvSpPr txBox="1"/>
          <p:nvPr/>
        </p:nvSpPr>
        <p:spPr>
          <a:xfrm>
            <a:off x="4480232" y="2824158"/>
            <a:ext cx="2066871" cy="923330"/>
          </a:xfrm>
          <a:prstGeom prst="rect">
            <a:avLst/>
          </a:prstGeom>
          <a:noFill/>
        </p:spPr>
        <p:txBody>
          <a:bodyPr wrap="square">
            <a:spAutoFit/>
          </a:bodyPr>
          <a:lstStyle/>
          <a:p>
            <a:pPr algn="ctr"/>
            <a:r>
              <a:rPr lang="en-US" dirty="0"/>
              <a:t>Animate all the blocks here in sync with the VO1.</a:t>
            </a:r>
            <a:endParaRPr lang="en-IN" dirty="0"/>
          </a:p>
        </p:txBody>
      </p:sp>
    </p:spTree>
    <p:extLst>
      <p:ext uri="{BB962C8B-B14F-4D97-AF65-F5344CB8AC3E}">
        <p14:creationId xmlns:p14="http://schemas.microsoft.com/office/powerpoint/2010/main" val="7806408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2578591" cy="307777"/>
          </a:xfrm>
          <a:prstGeom prst="rect">
            <a:avLst/>
          </a:prstGeom>
          <a:noFill/>
        </p:spPr>
        <p:txBody>
          <a:bodyPr wrap="none">
            <a:spAutoFit/>
          </a:bodyPr>
          <a:lstStyle/>
          <a:p>
            <a:r>
              <a:rPr sz="1400" b="1" dirty="0">
                <a:solidFill>
                  <a:srgbClr val="0B3D8C"/>
                </a:solidFill>
              </a:rPr>
              <a:t>Page 4</a:t>
            </a:r>
            <a:r>
              <a:rPr lang="en-US" sz="1400" b="1" dirty="0">
                <a:solidFill>
                  <a:srgbClr val="0B3D8C"/>
                </a:solidFill>
              </a:rPr>
              <a:t>a</a:t>
            </a:r>
            <a:r>
              <a:rPr sz="1400" b="1" dirty="0">
                <a:solidFill>
                  <a:srgbClr val="0B3D8C"/>
                </a:solidFill>
              </a:rPr>
              <a:t> · 04_DEMO_COUNT.png</a:t>
            </a:r>
          </a:p>
        </p:txBody>
      </p:sp>
      <p:pic>
        <p:nvPicPr>
          <p:cNvPr id="3" name="Picture 2" descr="04_DEMO_COUNT.png"/>
          <p:cNvPicPr>
            <a:picLocks noChangeAspect="1"/>
          </p:cNvPicPr>
          <p:nvPr/>
        </p:nvPicPr>
        <p:blipFill>
          <a:blip r:embed="rId2"/>
          <a:stretch>
            <a:fillRect/>
          </a:stretch>
        </p:blipFill>
        <p:spPr>
          <a:xfrm>
            <a:off x="3458104" y="135807"/>
            <a:ext cx="1988226" cy="1112690"/>
          </a:xfrm>
          <a:prstGeom prst="rect">
            <a:avLst/>
          </a:prstGeom>
        </p:spPr>
      </p:pic>
      <p:sp>
        <p:nvSpPr>
          <p:cNvPr id="4" name="TextBox 3"/>
          <p:cNvSpPr txBox="1"/>
          <p:nvPr/>
        </p:nvSpPr>
        <p:spPr>
          <a:xfrm>
            <a:off x="7423920" y="489734"/>
            <a:ext cx="4763422" cy="1446550"/>
          </a:xfrm>
          <a:prstGeom prst="rect">
            <a:avLst/>
          </a:prstGeom>
          <a:noFill/>
        </p:spPr>
        <p:txBody>
          <a:bodyPr wrap="square">
            <a:spAutoFit/>
          </a:bodyPr>
          <a:lstStyle/>
          <a:p>
            <a:r>
              <a:rPr sz="1600" b="1" dirty="0">
                <a:solidFill>
                  <a:srgbClr val="0B3D8C"/>
                </a:solidFill>
              </a:rPr>
              <a:t>Recommendations</a:t>
            </a:r>
            <a:endParaRPr lang="hi-IN" sz="1600" b="1" dirty="0">
              <a:solidFill>
                <a:srgbClr val="0B3D8C"/>
              </a:solidFill>
            </a:endParaRPr>
          </a:p>
          <a:p>
            <a:r>
              <a:rPr lang="en-US" altLang="en-US" sz="1200" dirty="0"/>
              <a:t>Replace the entire slide content with the following:</a:t>
            </a:r>
            <a:endParaRPr lang="en-US" sz="1200" b="1" dirty="0"/>
          </a:p>
          <a:p>
            <a:r>
              <a:rPr lang="en-US" sz="1200" b="1" dirty="0"/>
              <a:t>Heading Text: </a:t>
            </a:r>
            <a:r>
              <a:rPr lang="hi-IN" sz="1200" dirty="0">
                <a:solidFill>
                  <a:srgbClr val="1B2A44"/>
                </a:solidFill>
              </a:rPr>
              <a:t>एक और उदाहरण देखते हैं। </a:t>
            </a:r>
          </a:p>
          <a:p>
            <a:r>
              <a:rPr lang="en-US" sz="1200" b="1" dirty="0">
                <a:solidFill>
                  <a:srgbClr val="1B2A44"/>
                </a:solidFill>
              </a:rPr>
              <a:t>Heading VO</a:t>
            </a:r>
            <a:r>
              <a:rPr lang="en-US" sz="1200" dirty="0">
                <a:solidFill>
                  <a:srgbClr val="1B2A44"/>
                </a:solidFill>
              </a:rPr>
              <a:t>: </a:t>
            </a:r>
            <a:r>
              <a:rPr lang="hi-IN" sz="1200" dirty="0">
                <a:solidFill>
                  <a:srgbClr val="1B2A44"/>
                </a:solidFill>
              </a:rPr>
              <a:t>आइए, एक और उदाहरण देखते है। </a:t>
            </a:r>
          </a:p>
          <a:p>
            <a:endParaRPr lang="hi-IN" sz="1200" dirty="0">
              <a:solidFill>
                <a:srgbClr val="1B2A44"/>
              </a:solidFill>
            </a:endParaRPr>
          </a:p>
          <a:p>
            <a:r>
              <a:rPr lang="en-US" sz="1200" b="1" dirty="0">
                <a:solidFill>
                  <a:srgbClr val="1B2A44"/>
                </a:solidFill>
              </a:rPr>
              <a:t>VO1:</a:t>
            </a:r>
            <a:r>
              <a:rPr lang="en-US" sz="1200" dirty="0">
                <a:solidFill>
                  <a:srgbClr val="1B2A44"/>
                </a:solidFill>
              </a:rPr>
              <a:t> </a:t>
            </a:r>
            <a:r>
              <a:rPr lang="hi-IN" sz="1200" dirty="0">
                <a:solidFill>
                  <a:srgbClr val="1B2A44"/>
                </a:solidFill>
              </a:rPr>
              <a:t>तारा के पास 34</a:t>
            </a:r>
            <a:r>
              <a:rPr lang="en-US" sz="1200" dirty="0">
                <a:solidFill>
                  <a:srgbClr val="1B2A44"/>
                </a:solidFill>
              </a:rPr>
              <a:t> </a:t>
            </a:r>
            <a:r>
              <a:rPr lang="hi-IN" sz="1200" dirty="0">
                <a:solidFill>
                  <a:srgbClr val="1B2A44"/>
                </a:solidFill>
              </a:rPr>
              <a:t>ब्लॉक्स हैं। माँ ने उसे 52 ब्लॉक्स और दिए। चलिए, पता करते हैं, अब तारा के पास कुल कितने ब्लॉक्स हो गए? </a:t>
            </a:r>
            <a:endParaRPr lang="en-US" sz="1200" dirty="0">
              <a:solidFill>
                <a:srgbClr val="1B2A44"/>
              </a:solidFill>
            </a:endParaRPr>
          </a:p>
        </p:txBody>
      </p:sp>
      <p:sp>
        <p:nvSpPr>
          <p:cNvPr id="28" name="Rectangle: Rounded Corners 27">
            <a:extLst>
              <a:ext uri="{FF2B5EF4-FFF2-40B4-BE49-F238E27FC236}">
                <a16:creationId xmlns:a16="http://schemas.microsoft.com/office/drawing/2014/main" id="{88144641-7CC9-EF71-42DD-662E27AFEB22}"/>
              </a:ext>
            </a:extLst>
          </p:cNvPr>
          <p:cNvSpPr/>
          <p:nvPr/>
        </p:nvSpPr>
        <p:spPr>
          <a:xfrm>
            <a:off x="2331565" y="3879204"/>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23</a:t>
            </a:r>
            <a:endParaRPr lang="en-IN" sz="2800" b="1" dirty="0"/>
          </a:p>
        </p:txBody>
      </p:sp>
      <p:sp>
        <p:nvSpPr>
          <p:cNvPr id="29" name="Rectangle: Rounded Corners 28">
            <a:extLst>
              <a:ext uri="{FF2B5EF4-FFF2-40B4-BE49-F238E27FC236}">
                <a16:creationId xmlns:a16="http://schemas.microsoft.com/office/drawing/2014/main" id="{BEB694A3-3A8B-3157-E505-CC6AB5CF285C}"/>
              </a:ext>
            </a:extLst>
          </p:cNvPr>
          <p:cNvSpPr/>
          <p:nvPr/>
        </p:nvSpPr>
        <p:spPr>
          <a:xfrm>
            <a:off x="3653196" y="3879204"/>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12</a:t>
            </a:r>
            <a:endParaRPr lang="en-IN" sz="2800" b="1" dirty="0"/>
          </a:p>
        </p:txBody>
      </p:sp>
      <p:sp>
        <p:nvSpPr>
          <p:cNvPr id="30" name="Rectangle: Rounded Corners 29">
            <a:extLst>
              <a:ext uri="{FF2B5EF4-FFF2-40B4-BE49-F238E27FC236}">
                <a16:creationId xmlns:a16="http://schemas.microsoft.com/office/drawing/2014/main" id="{3506D9D4-A8C5-7429-9711-6776C62ACE9D}"/>
              </a:ext>
            </a:extLst>
          </p:cNvPr>
          <p:cNvSpPr/>
          <p:nvPr/>
        </p:nvSpPr>
        <p:spPr>
          <a:xfrm>
            <a:off x="5271262" y="3879204"/>
            <a:ext cx="756826"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a:t>
            </a:r>
            <a:endParaRPr lang="en-IN" sz="2800" b="1" dirty="0"/>
          </a:p>
        </p:txBody>
      </p:sp>
      <p:sp>
        <p:nvSpPr>
          <p:cNvPr id="36" name="TextBox 35">
            <a:extLst>
              <a:ext uri="{FF2B5EF4-FFF2-40B4-BE49-F238E27FC236}">
                <a16:creationId xmlns:a16="http://schemas.microsoft.com/office/drawing/2014/main" id="{A4D06CD4-25B6-044A-0796-35B6669C5C63}"/>
              </a:ext>
            </a:extLst>
          </p:cNvPr>
          <p:cNvSpPr txBox="1"/>
          <p:nvPr/>
        </p:nvSpPr>
        <p:spPr>
          <a:xfrm>
            <a:off x="3275059" y="3866866"/>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37" name="TextBox 36">
            <a:extLst>
              <a:ext uri="{FF2B5EF4-FFF2-40B4-BE49-F238E27FC236}">
                <a16:creationId xmlns:a16="http://schemas.microsoft.com/office/drawing/2014/main" id="{4648CF50-BFB8-5741-3946-11E0317FF2E9}"/>
              </a:ext>
            </a:extLst>
          </p:cNvPr>
          <p:cNvSpPr txBox="1"/>
          <p:nvPr/>
        </p:nvSpPr>
        <p:spPr>
          <a:xfrm>
            <a:off x="4708054" y="3866866"/>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54" name="Oval 53">
            <a:extLst>
              <a:ext uri="{FF2B5EF4-FFF2-40B4-BE49-F238E27FC236}">
                <a16:creationId xmlns:a16="http://schemas.microsoft.com/office/drawing/2014/main" id="{8F1C8476-FC0D-B72F-3C94-B95085541730}"/>
              </a:ext>
            </a:extLst>
          </p:cNvPr>
          <p:cNvSpPr/>
          <p:nvPr/>
        </p:nvSpPr>
        <p:spPr>
          <a:xfrm>
            <a:off x="2276840" y="2081673"/>
            <a:ext cx="866279" cy="79418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Tara’s Photo</a:t>
            </a:r>
            <a:endParaRPr lang="en-IN" sz="1200" dirty="0"/>
          </a:p>
        </p:txBody>
      </p:sp>
      <p:sp>
        <p:nvSpPr>
          <p:cNvPr id="55" name="Oval 54">
            <a:extLst>
              <a:ext uri="{FF2B5EF4-FFF2-40B4-BE49-F238E27FC236}">
                <a16:creationId xmlns:a16="http://schemas.microsoft.com/office/drawing/2014/main" id="{582D5711-E69A-2588-90A1-5E05CF130F4E}"/>
              </a:ext>
            </a:extLst>
          </p:cNvPr>
          <p:cNvSpPr/>
          <p:nvPr/>
        </p:nvSpPr>
        <p:spPr>
          <a:xfrm>
            <a:off x="3598471" y="2081673"/>
            <a:ext cx="1013782" cy="794182"/>
          </a:xfrm>
          <a:prstGeom prst="ellipse">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Tara’s Mother Photo</a:t>
            </a:r>
            <a:endParaRPr lang="en-IN" sz="1200" dirty="0"/>
          </a:p>
        </p:txBody>
      </p:sp>
      <p:sp>
        <p:nvSpPr>
          <p:cNvPr id="56" name="Rectangle 55">
            <a:extLst>
              <a:ext uri="{FF2B5EF4-FFF2-40B4-BE49-F238E27FC236}">
                <a16:creationId xmlns:a16="http://schemas.microsoft.com/office/drawing/2014/main" id="{1196A9E2-14CD-4DC0-2DA8-D6813C6DCFC9}"/>
              </a:ext>
            </a:extLst>
          </p:cNvPr>
          <p:cNvSpPr/>
          <p:nvPr/>
        </p:nvSpPr>
        <p:spPr>
          <a:xfrm>
            <a:off x="2129334" y="2964354"/>
            <a:ext cx="1161288" cy="82635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Tara’s blocks</a:t>
            </a:r>
            <a:endParaRPr lang="en-IN" dirty="0"/>
          </a:p>
        </p:txBody>
      </p:sp>
      <p:sp>
        <p:nvSpPr>
          <p:cNvPr id="57" name="Rectangle 56">
            <a:extLst>
              <a:ext uri="{FF2B5EF4-FFF2-40B4-BE49-F238E27FC236}">
                <a16:creationId xmlns:a16="http://schemas.microsoft.com/office/drawing/2014/main" id="{0D95405B-C8E2-B1ED-BA6F-39D313B11066}"/>
              </a:ext>
            </a:extLst>
          </p:cNvPr>
          <p:cNvSpPr/>
          <p:nvPr/>
        </p:nvSpPr>
        <p:spPr>
          <a:xfrm>
            <a:off x="3450965" y="2964354"/>
            <a:ext cx="1161288" cy="826352"/>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dirty="0"/>
              <a:t>Her Mother’s blocks</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AC2C0-EDEE-9611-9D21-202DD6DAFE0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136A875-3B6A-6E6E-3007-DF6031955AD8}"/>
              </a:ext>
            </a:extLst>
          </p:cNvPr>
          <p:cNvSpPr txBox="1"/>
          <p:nvPr/>
        </p:nvSpPr>
        <p:spPr>
          <a:xfrm>
            <a:off x="365760" y="137160"/>
            <a:ext cx="2586606" cy="307777"/>
          </a:xfrm>
          <a:prstGeom prst="rect">
            <a:avLst/>
          </a:prstGeom>
          <a:noFill/>
        </p:spPr>
        <p:txBody>
          <a:bodyPr wrap="none">
            <a:spAutoFit/>
          </a:bodyPr>
          <a:lstStyle/>
          <a:p>
            <a:r>
              <a:rPr sz="1400" b="1" dirty="0">
                <a:solidFill>
                  <a:srgbClr val="0B3D8C"/>
                </a:solidFill>
              </a:rPr>
              <a:t>Page 4</a:t>
            </a:r>
            <a:r>
              <a:rPr lang="en-US" sz="1400" b="1" dirty="0">
                <a:solidFill>
                  <a:srgbClr val="0B3D8C"/>
                </a:solidFill>
              </a:rPr>
              <a:t>b</a:t>
            </a:r>
            <a:r>
              <a:rPr sz="1400" b="1" dirty="0">
                <a:solidFill>
                  <a:srgbClr val="0B3D8C"/>
                </a:solidFill>
              </a:rPr>
              <a:t> · 04_DEMO_COUNT.png</a:t>
            </a:r>
          </a:p>
        </p:txBody>
      </p:sp>
      <p:pic>
        <p:nvPicPr>
          <p:cNvPr id="3" name="Picture 2" descr="04_DEMO_COUNT.png">
            <a:extLst>
              <a:ext uri="{FF2B5EF4-FFF2-40B4-BE49-F238E27FC236}">
                <a16:creationId xmlns:a16="http://schemas.microsoft.com/office/drawing/2014/main" id="{04F13C0F-8DC9-27D1-8A9B-2FF51E718359}"/>
              </a:ext>
            </a:extLst>
          </p:cNvPr>
          <p:cNvPicPr>
            <a:picLocks noChangeAspect="1"/>
          </p:cNvPicPr>
          <p:nvPr/>
        </p:nvPicPr>
        <p:blipFill>
          <a:blip r:embed="rId2"/>
          <a:stretch>
            <a:fillRect/>
          </a:stretch>
        </p:blipFill>
        <p:spPr>
          <a:xfrm>
            <a:off x="3458104" y="135807"/>
            <a:ext cx="1988226" cy="1112690"/>
          </a:xfrm>
          <a:prstGeom prst="rect">
            <a:avLst/>
          </a:prstGeom>
        </p:spPr>
      </p:pic>
      <p:sp>
        <p:nvSpPr>
          <p:cNvPr id="4" name="TextBox 3">
            <a:extLst>
              <a:ext uri="{FF2B5EF4-FFF2-40B4-BE49-F238E27FC236}">
                <a16:creationId xmlns:a16="http://schemas.microsoft.com/office/drawing/2014/main" id="{06FC23D1-974D-343A-44DA-69FF2C0F0129}"/>
              </a:ext>
            </a:extLst>
          </p:cNvPr>
          <p:cNvSpPr txBox="1"/>
          <p:nvPr/>
        </p:nvSpPr>
        <p:spPr>
          <a:xfrm>
            <a:off x="7423920" y="489734"/>
            <a:ext cx="4763422" cy="5139869"/>
          </a:xfrm>
          <a:prstGeom prst="rect">
            <a:avLst/>
          </a:prstGeom>
          <a:noFill/>
        </p:spPr>
        <p:txBody>
          <a:bodyPr wrap="square">
            <a:spAutoFit/>
          </a:bodyPr>
          <a:lstStyle/>
          <a:p>
            <a:r>
              <a:rPr sz="1600" b="1" dirty="0">
                <a:solidFill>
                  <a:srgbClr val="0B3D8C"/>
                </a:solidFill>
              </a:rPr>
              <a:t>Recommendations</a:t>
            </a:r>
            <a:endParaRPr lang="hi-IN" sz="1600" b="1" dirty="0">
              <a:solidFill>
                <a:srgbClr val="0B3D8C"/>
              </a:solidFill>
            </a:endParaRPr>
          </a:p>
          <a:p>
            <a:r>
              <a:rPr lang="en-US" altLang="en-US" sz="1200" dirty="0"/>
              <a:t>Replace the entire slide content with the following:</a:t>
            </a:r>
            <a:endParaRPr lang="en-US" sz="1200" b="1" dirty="0"/>
          </a:p>
          <a:p>
            <a:r>
              <a:rPr lang="en-US" sz="1200" dirty="0"/>
              <a:t>Use the same place-value table as in the first tutorial.</a:t>
            </a:r>
          </a:p>
          <a:p>
            <a:r>
              <a:rPr lang="en-US" sz="1200" b="1" dirty="0"/>
              <a:t>VO1: </a:t>
            </a:r>
            <a:r>
              <a:rPr lang="hi-IN" sz="1200" dirty="0"/>
              <a:t>पहले ब्लॉक्स की सहायता से दोनों संख्याएँ बनाते हैं।</a:t>
            </a:r>
            <a:r>
              <a:rPr lang="en-US" sz="1200" dirty="0"/>
              <a:t> </a:t>
            </a:r>
            <a:endParaRPr lang="hi-IN" sz="1200" dirty="0"/>
          </a:p>
          <a:p>
            <a:r>
              <a:rPr lang="en-US" sz="1200" b="1" dirty="0"/>
              <a:t>VO2:</a:t>
            </a:r>
            <a:r>
              <a:rPr lang="en-US" sz="1200" dirty="0"/>
              <a:t> </a:t>
            </a:r>
            <a:r>
              <a:rPr lang="hi-IN" sz="1200" dirty="0"/>
              <a:t>34 में 3 दहाई और 4 इकाई हैं।</a:t>
            </a:r>
            <a:r>
              <a:rPr lang="en-US" sz="1200" dirty="0"/>
              <a:t> </a:t>
            </a:r>
            <a:r>
              <a:rPr lang="hi-IN" sz="1200" dirty="0"/>
              <a:t>ब्लॉक्स की सहायता से 34 बनाइए। </a:t>
            </a:r>
            <a:r>
              <a:rPr lang="en-US" sz="1200" dirty="0"/>
              <a:t>[PV table appears below 34. Pulsate the Tens </a:t>
            </a:r>
            <a:r>
              <a:rPr lang="en-US" sz="1200" b="1" dirty="0"/>
              <a:t>+</a:t>
            </a:r>
            <a:r>
              <a:rPr lang="en-US" sz="1200" dirty="0"/>
              <a:t> button until tapped 3 times, then disable it. Then, pulsate the Ones </a:t>
            </a:r>
            <a:r>
              <a:rPr lang="en-US" sz="1200" b="1" dirty="0"/>
              <a:t>+</a:t>
            </a:r>
            <a:r>
              <a:rPr lang="en-US" sz="1200" dirty="0"/>
              <a:t> button until tapped 4 times, then disable it.]</a:t>
            </a:r>
            <a:endParaRPr lang="hi-IN" sz="1200" dirty="0"/>
          </a:p>
          <a:p>
            <a:r>
              <a:rPr lang="en-US" sz="1200" b="1" dirty="0"/>
              <a:t>VO3: </a:t>
            </a:r>
            <a:r>
              <a:rPr lang="en-US" sz="1200" dirty="0"/>
              <a:t>52</a:t>
            </a:r>
            <a:r>
              <a:rPr lang="hi-IN" sz="1200" dirty="0"/>
              <a:t> में </a:t>
            </a:r>
            <a:r>
              <a:rPr lang="en-US" sz="1200" dirty="0"/>
              <a:t>5</a:t>
            </a:r>
            <a:r>
              <a:rPr lang="hi-IN" sz="1200" dirty="0"/>
              <a:t> दहाई और 2 इकाई हैं।</a:t>
            </a:r>
            <a:r>
              <a:rPr lang="en-US" sz="1200" dirty="0"/>
              <a:t> </a:t>
            </a:r>
            <a:r>
              <a:rPr lang="hi-IN" sz="1200" dirty="0"/>
              <a:t>ब्लॉक्स की सहायता से 52 बनाइए।</a:t>
            </a:r>
            <a:r>
              <a:rPr lang="en-US" sz="1200" dirty="0"/>
              <a:t> [PV table appears below 52. Pulsate the Tens </a:t>
            </a:r>
            <a:r>
              <a:rPr lang="en-US" sz="1200" b="1" dirty="0"/>
              <a:t>+</a:t>
            </a:r>
            <a:r>
              <a:rPr lang="en-US" sz="1200" dirty="0"/>
              <a:t> button until tapped 5 times, then disable it. Then, pulsate the Ones </a:t>
            </a:r>
            <a:r>
              <a:rPr lang="en-US" sz="1200" b="1" dirty="0"/>
              <a:t>+</a:t>
            </a:r>
            <a:r>
              <a:rPr lang="en-US" sz="1200" dirty="0"/>
              <a:t> button until tapped 2 times, then disable it.]</a:t>
            </a:r>
            <a:endParaRPr lang="hi-IN" sz="1200" dirty="0"/>
          </a:p>
          <a:p>
            <a:r>
              <a:rPr lang="en-US" sz="1200" b="1" dirty="0"/>
              <a:t>VO4: </a:t>
            </a:r>
            <a:r>
              <a:rPr lang="hi-IN" sz="1200" dirty="0"/>
              <a:t>बहुत बढ़िया! अब दोनों संख्याओं को जोड़ते हैं। </a:t>
            </a:r>
            <a:r>
              <a:rPr lang="en-US" sz="1200" dirty="0"/>
              <a:t>[Remove the Tens and Ones source buttons, then show the place-value table below for the sum.]</a:t>
            </a:r>
          </a:p>
          <a:p>
            <a:r>
              <a:rPr lang="en-US" sz="1200" b="1" dirty="0"/>
              <a:t>VO5: </a:t>
            </a:r>
            <a:r>
              <a:rPr lang="hi-IN" sz="1200" dirty="0"/>
              <a:t>पहले इकाइयों को जोड़ते हैं। </a:t>
            </a:r>
            <a:r>
              <a:rPr lang="en-US" sz="1200" dirty="0"/>
              <a:t>[Pulsate the Ones blocks on both cards and keep the Tens disabled. On tap, move each block to the Ones column of the sum card.]</a:t>
            </a:r>
          </a:p>
          <a:p>
            <a:r>
              <a:rPr lang="en-US" sz="1200" b="1" dirty="0"/>
              <a:t>VO6: </a:t>
            </a:r>
            <a:r>
              <a:rPr lang="hi-IN" sz="1200" dirty="0"/>
              <a:t>3 इकाई और 2 इकाई मिलाकर हुईं, 5 इकाई।</a:t>
            </a:r>
            <a:br>
              <a:rPr lang="hi-IN" sz="1200" dirty="0"/>
            </a:br>
            <a:r>
              <a:rPr lang="en-US" sz="1200" b="1" dirty="0"/>
              <a:t>VO7: </a:t>
            </a:r>
            <a:r>
              <a:rPr lang="hi-IN" sz="1200" dirty="0"/>
              <a:t>अब</a:t>
            </a:r>
            <a:r>
              <a:rPr lang="en-US" sz="1200" dirty="0"/>
              <a:t> </a:t>
            </a:r>
            <a:r>
              <a:rPr lang="hi-IN" sz="1200" dirty="0"/>
              <a:t>दहाइयों को जोड़ते हैं। </a:t>
            </a:r>
            <a:r>
              <a:rPr lang="en-US" sz="1200" dirty="0"/>
              <a:t>[Pulsate the tens rods on both cards  and on tap, move each rod to the Tens column of the sum card.]</a:t>
            </a:r>
          </a:p>
          <a:p>
            <a:r>
              <a:rPr lang="en-US" sz="1200" b="1" dirty="0"/>
              <a:t>VO8: </a:t>
            </a:r>
            <a:r>
              <a:rPr lang="hi-IN" sz="1200" dirty="0"/>
              <a:t>2 दहाई और 1 दहाई मिलाकर हुईं, 3 दहाई।</a:t>
            </a:r>
            <a:r>
              <a:rPr lang="en-US" sz="1200" i="1" dirty="0"/>
              <a:t>[Highlight the rods on the sum card in sync with the VO.]</a:t>
            </a:r>
            <a:endParaRPr lang="hi-IN" sz="1200" dirty="0"/>
          </a:p>
          <a:p>
            <a:r>
              <a:rPr lang="en-US" sz="1200" b="1" dirty="0"/>
              <a:t>VO9:</a:t>
            </a:r>
            <a:r>
              <a:rPr lang="en-IN" sz="1200" dirty="0"/>
              <a:t> </a:t>
            </a:r>
            <a:r>
              <a:rPr lang="hi-IN" sz="1200" dirty="0"/>
              <a:t>अब हमारे पास</a:t>
            </a:r>
            <a:r>
              <a:rPr lang="en-US" sz="1200" dirty="0"/>
              <a:t> </a:t>
            </a:r>
            <a:r>
              <a:rPr lang="hi-IN" sz="1200" dirty="0"/>
              <a:t>कुल </a:t>
            </a:r>
            <a:r>
              <a:rPr lang="en-US" sz="1200" dirty="0"/>
              <a:t>3</a:t>
            </a:r>
            <a:r>
              <a:rPr lang="hi-IN" sz="1200" dirty="0"/>
              <a:t> दहाइयाँ और </a:t>
            </a:r>
            <a:r>
              <a:rPr lang="en-US" sz="1200" dirty="0"/>
              <a:t>5</a:t>
            </a:r>
            <a:r>
              <a:rPr lang="hi-IN" sz="1200" dirty="0"/>
              <a:t> इकाइयाँ हैं, यानी </a:t>
            </a:r>
            <a:r>
              <a:rPr lang="en-US" sz="1200" dirty="0"/>
              <a:t>35 </a:t>
            </a:r>
            <a:r>
              <a:rPr lang="en-US" sz="1200" i="1" dirty="0"/>
              <a:t>[Highlight the rods, blocks, digits on the card and the number 35 in sync with the VO.]</a:t>
            </a:r>
            <a:endParaRPr lang="hi-IN" sz="1200" i="1" dirty="0"/>
          </a:p>
          <a:p>
            <a:r>
              <a:rPr lang="en-IN" sz="1200" b="1" dirty="0"/>
              <a:t>Completion VO:</a:t>
            </a:r>
            <a:r>
              <a:rPr lang="en-IN" sz="1200" dirty="0"/>
              <a:t> </a:t>
            </a:r>
            <a:r>
              <a:rPr lang="hi-IN" sz="1200" dirty="0"/>
              <a:t>शाबाश! </a:t>
            </a:r>
            <a:r>
              <a:rPr lang="en-US" sz="1200" dirty="0"/>
              <a:t>23</a:t>
            </a:r>
            <a:r>
              <a:rPr lang="hi-IN" sz="1200" dirty="0"/>
              <a:t> और </a:t>
            </a:r>
            <a:r>
              <a:rPr lang="en-US" sz="1200" dirty="0"/>
              <a:t>12</a:t>
            </a:r>
            <a:r>
              <a:rPr lang="hi-IN" sz="1200" dirty="0"/>
              <a:t> को जोड़ने पर</a:t>
            </a:r>
            <a:r>
              <a:rPr lang="en-US" sz="1200" dirty="0"/>
              <a:t> 35</a:t>
            </a:r>
            <a:r>
              <a:rPr lang="hi-IN" sz="1200" dirty="0"/>
              <a:t> मिलता है।</a:t>
            </a:r>
          </a:p>
        </p:txBody>
      </p:sp>
      <p:sp>
        <p:nvSpPr>
          <p:cNvPr id="5" name="Rectangle: Rounded Corners 4">
            <a:extLst>
              <a:ext uri="{FF2B5EF4-FFF2-40B4-BE49-F238E27FC236}">
                <a16:creationId xmlns:a16="http://schemas.microsoft.com/office/drawing/2014/main" id="{CC9A3B51-5B2D-9703-DFD3-8D8301B6162E}"/>
              </a:ext>
            </a:extLst>
          </p:cNvPr>
          <p:cNvSpPr/>
          <p:nvPr/>
        </p:nvSpPr>
        <p:spPr>
          <a:xfrm>
            <a:off x="2060964" y="1243200"/>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34</a:t>
            </a:r>
            <a:endParaRPr lang="en-IN" b="1" dirty="0"/>
          </a:p>
        </p:txBody>
      </p:sp>
      <p:sp>
        <p:nvSpPr>
          <p:cNvPr id="6" name="Rectangle: Rounded Corners 5">
            <a:extLst>
              <a:ext uri="{FF2B5EF4-FFF2-40B4-BE49-F238E27FC236}">
                <a16:creationId xmlns:a16="http://schemas.microsoft.com/office/drawing/2014/main" id="{DAA60A58-C4D0-FF54-80CF-0E98B4B81060}"/>
              </a:ext>
            </a:extLst>
          </p:cNvPr>
          <p:cNvSpPr/>
          <p:nvPr/>
        </p:nvSpPr>
        <p:spPr>
          <a:xfrm>
            <a:off x="5636268" y="1238286"/>
            <a:ext cx="566928" cy="36931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hi-IN" b="1" dirty="0"/>
              <a:t>52</a:t>
            </a:r>
            <a:endParaRPr lang="en-IN" b="1" dirty="0"/>
          </a:p>
        </p:txBody>
      </p:sp>
      <p:grpSp>
        <p:nvGrpSpPr>
          <p:cNvPr id="7" name="Group 6">
            <a:extLst>
              <a:ext uri="{FF2B5EF4-FFF2-40B4-BE49-F238E27FC236}">
                <a16:creationId xmlns:a16="http://schemas.microsoft.com/office/drawing/2014/main" id="{96675435-7828-4C5C-7A81-0FDE77EEA249}"/>
              </a:ext>
            </a:extLst>
          </p:cNvPr>
          <p:cNvGrpSpPr/>
          <p:nvPr/>
        </p:nvGrpSpPr>
        <p:grpSpPr>
          <a:xfrm>
            <a:off x="2533151" y="3361193"/>
            <a:ext cx="3197858" cy="526628"/>
            <a:chOff x="2634488" y="3824067"/>
            <a:chExt cx="3197858" cy="534419"/>
          </a:xfrm>
        </p:grpSpPr>
        <p:cxnSp>
          <p:nvCxnSpPr>
            <p:cNvPr id="8" name="Straight Connector 7">
              <a:extLst>
                <a:ext uri="{FF2B5EF4-FFF2-40B4-BE49-F238E27FC236}">
                  <a16:creationId xmlns:a16="http://schemas.microsoft.com/office/drawing/2014/main" id="{AD58D383-DA68-1858-5FD1-BAB4C1EE9D79}"/>
                </a:ext>
              </a:extLst>
            </p:cNvPr>
            <p:cNvCxnSpPr>
              <a:cxnSpLocks/>
            </p:cNvCxnSpPr>
            <p:nvPr/>
          </p:nvCxnSpPr>
          <p:spPr>
            <a:xfrm>
              <a:off x="2634488" y="3833346"/>
              <a:ext cx="1571246" cy="52514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147B5DD-C646-EA85-C38A-2AACA07B8484}"/>
                </a:ext>
              </a:extLst>
            </p:cNvPr>
            <p:cNvCxnSpPr>
              <a:cxnSpLocks/>
            </p:cNvCxnSpPr>
            <p:nvPr/>
          </p:nvCxnSpPr>
          <p:spPr>
            <a:xfrm flipH="1">
              <a:off x="4205734" y="3824067"/>
              <a:ext cx="1626612" cy="530400"/>
            </a:xfrm>
            <a:prstGeom prst="line">
              <a:avLst/>
            </a:prstGeom>
          </p:spPr>
          <p:style>
            <a:lnRef idx="2">
              <a:schemeClr val="accent1"/>
            </a:lnRef>
            <a:fillRef idx="0">
              <a:schemeClr val="accent1"/>
            </a:fillRef>
            <a:effectRef idx="1">
              <a:schemeClr val="accent1"/>
            </a:effectRef>
            <a:fontRef idx="minor">
              <a:schemeClr val="tx1"/>
            </a:fontRef>
          </p:style>
        </p:cxnSp>
      </p:grpSp>
      <p:sp>
        <p:nvSpPr>
          <p:cNvPr id="10" name="Rectangle: Rounded Corners 9">
            <a:extLst>
              <a:ext uri="{FF2B5EF4-FFF2-40B4-BE49-F238E27FC236}">
                <a16:creationId xmlns:a16="http://schemas.microsoft.com/office/drawing/2014/main" id="{FA06CCF3-B5CB-9CCB-33ED-220A19A5504B}"/>
              </a:ext>
            </a:extLst>
          </p:cNvPr>
          <p:cNvSpPr/>
          <p:nvPr/>
        </p:nvSpPr>
        <p:spPr>
          <a:xfrm>
            <a:off x="840240" y="1671914"/>
            <a:ext cx="3008376" cy="1543677"/>
          </a:xfrm>
          <a:prstGeom prst="roundRect">
            <a:avLst/>
          </a:prstGeom>
          <a:solidFill>
            <a:schemeClr val="accent1">
              <a:lumMod val="20000"/>
              <a:lumOff val="80000"/>
            </a:schemeClr>
          </a:solidFill>
          <a:ln>
            <a:solidFill>
              <a:schemeClr val="tx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1" name="Rectangle: Rounded Corners 10">
            <a:extLst>
              <a:ext uri="{FF2B5EF4-FFF2-40B4-BE49-F238E27FC236}">
                <a16:creationId xmlns:a16="http://schemas.microsoft.com/office/drawing/2014/main" id="{53B94131-F81F-C077-655B-073E3CE614FA}"/>
              </a:ext>
            </a:extLst>
          </p:cNvPr>
          <p:cNvSpPr/>
          <p:nvPr/>
        </p:nvSpPr>
        <p:spPr>
          <a:xfrm>
            <a:off x="4415544" y="1705967"/>
            <a:ext cx="3008376" cy="1543677"/>
          </a:xfrm>
          <a:prstGeom prst="roundRect">
            <a:avLst/>
          </a:prstGeom>
          <a:solidFill>
            <a:schemeClr val="accent1">
              <a:lumMod val="20000"/>
              <a:lumOff val="80000"/>
            </a:schemeClr>
          </a:solidFill>
          <a:ln>
            <a:solidFill>
              <a:schemeClr val="tx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3EC3BF9D-6CB2-12E0-839F-C118CC892CBF}"/>
              </a:ext>
            </a:extLst>
          </p:cNvPr>
          <p:cNvSpPr txBox="1"/>
          <p:nvPr/>
        </p:nvSpPr>
        <p:spPr>
          <a:xfrm>
            <a:off x="1261872" y="1705967"/>
            <a:ext cx="1088136" cy="369332"/>
          </a:xfrm>
          <a:prstGeom prst="rect">
            <a:avLst/>
          </a:prstGeom>
          <a:noFill/>
        </p:spPr>
        <p:txBody>
          <a:bodyPr wrap="square" rtlCol="0">
            <a:spAutoFit/>
          </a:bodyPr>
          <a:lstStyle/>
          <a:p>
            <a:pPr algn="ctr"/>
            <a:r>
              <a:rPr lang="en-US" dirty="0"/>
              <a:t>3 </a:t>
            </a:r>
            <a:r>
              <a:rPr lang="hi-IN" dirty="0"/>
              <a:t>दहाई</a:t>
            </a:r>
            <a:endParaRPr lang="en-IN" dirty="0"/>
          </a:p>
        </p:txBody>
      </p:sp>
      <p:sp>
        <p:nvSpPr>
          <p:cNvPr id="13" name="Rectangle: Rounded Corners 12">
            <a:extLst>
              <a:ext uri="{FF2B5EF4-FFF2-40B4-BE49-F238E27FC236}">
                <a16:creationId xmlns:a16="http://schemas.microsoft.com/office/drawing/2014/main" id="{82F262C2-6161-AE97-E198-187E97E23E5B}"/>
              </a:ext>
            </a:extLst>
          </p:cNvPr>
          <p:cNvSpPr/>
          <p:nvPr/>
        </p:nvSpPr>
        <p:spPr>
          <a:xfrm>
            <a:off x="2600209" y="3995410"/>
            <a:ext cx="3008376" cy="1543677"/>
          </a:xfrm>
          <a:prstGeom prst="roundRect">
            <a:avLst/>
          </a:prstGeom>
          <a:solidFill>
            <a:schemeClr val="accent1">
              <a:lumMod val="20000"/>
              <a:lumOff val="80000"/>
            </a:schemeClr>
          </a:solidFill>
          <a:ln>
            <a:solidFill>
              <a:schemeClr val="tx2"/>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092D0C8B-D525-992D-DB4B-BAD64E8057F7}"/>
              </a:ext>
            </a:extLst>
          </p:cNvPr>
          <p:cNvSpPr txBox="1"/>
          <p:nvPr/>
        </p:nvSpPr>
        <p:spPr>
          <a:xfrm>
            <a:off x="2927918" y="5178899"/>
            <a:ext cx="897969" cy="369332"/>
          </a:xfrm>
          <a:prstGeom prst="rect">
            <a:avLst/>
          </a:prstGeom>
          <a:noFill/>
        </p:spPr>
        <p:txBody>
          <a:bodyPr wrap="square" rtlCol="0">
            <a:spAutoFit/>
          </a:bodyPr>
          <a:lstStyle/>
          <a:p>
            <a:pPr algn="ctr"/>
            <a:r>
              <a:rPr lang="en-US" dirty="0"/>
              <a:t>8 </a:t>
            </a:r>
            <a:r>
              <a:rPr lang="hi-IN" dirty="0"/>
              <a:t>दहाई</a:t>
            </a:r>
            <a:endParaRPr lang="en-IN" dirty="0"/>
          </a:p>
        </p:txBody>
      </p:sp>
      <p:sp>
        <p:nvSpPr>
          <p:cNvPr id="15" name="TextBox 14">
            <a:extLst>
              <a:ext uri="{FF2B5EF4-FFF2-40B4-BE49-F238E27FC236}">
                <a16:creationId xmlns:a16="http://schemas.microsoft.com/office/drawing/2014/main" id="{F19F6A5C-D79E-A915-CBD5-854F88104462}"/>
              </a:ext>
            </a:extLst>
          </p:cNvPr>
          <p:cNvSpPr txBox="1"/>
          <p:nvPr/>
        </p:nvSpPr>
        <p:spPr>
          <a:xfrm>
            <a:off x="4412050" y="5174939"/>
            <a:ext cx="897969" cy="369332"/>
          </a:xfrm>
          <a:prstGeom prst="rect">
            <a:avLst/>
          </a:prstGeom>
          <a:noFill/>
        </p:spPr>
        <p:txBody>
          <a:bodyPr wrap="square" rtlCol="0">
            <a:spAutoFit/>
          </a:bodyPr>
          <a:lstStyle/>
          <a:p>
            <a:pPr algn="ctr"/>
            <a:r>
              <a:rPr lang="en-US" dirty="0"/>
              <a:t>6 </a:t>
            </a:r>
            <a:r>
              <a:rPr lang="hi-IN" dirty="0"/>
              <a:t>इकाई</a:t>
            </a:r>
            <a:endParaRPr lang="en-IN" dirty="0"/>
          </a:p>
        </p:txBody>
      </p:sp>
      <p:sp>
        <p:nvSpPr>
          <p:cNvPr id="16" name="TextBox 15">
            <a:extLst>
              <a:ext uri="{FF2B5EF4-FFF2-40B4-BE49-F238E27FC236}">
                <a16:creationId xmlns:a16="http://schemas.microsoft.com/office/drawing/2014/main" id="{D6296E59-DE90-8407-7821-B0B30A60D80C}"/>
              </a:ext>
            </a:extLst>
          </p:cNvPr>
          <p:cNvSpPr txBox="1"/>
          <p:nvPr/>
        </p:nvSpPr>
        <p:spPr>
          <a:xfrm>
            <a:off x="2350008" y="1703792"/>
            <a:ext cx="1088136" cy="369332"/>
          </a:xfrm>
          <a:prstGeom prst="rect">
            <a:avLst/>
          </a:prstGeom>
          <a:noFill/>
        </p:spPr>
        <p:txBody>
          <a:bodyPr wrap="square" rtlCol="0">
            <a:spAutoFit/>
          </a:bodyPr>
          <a:lstStyle/>
          <a:p>
            <a:pPr algn="ctr"/>
            <a:r>
              <a:rPr lang="en-US" dirty="0"/>
              <a:t>4 </a:t>
            </a:r>
            <a:r>
              <a:rPr lang="hi-IN" dirty="0"/>
              <a:t>इकाई</a:t>
            </a:r>
            <a:endParaRPr lang="en-IN" dirty="0"/>
          </a:p>
        </p:txBody>
      </p:sp>
      <p:sp>
        <p:nvSpPr>
          <p:cNvPr id="17" name="TextBox 16">
            <a:extLst>
              <a:ext uri="{FF2B5EF4-FFF2-40B4-BE49-F238E27FC236}">
                <a16:creationId xmlns:a16="http://schemas.microsoft.com/office/drawing/2014/main" id="{9D602DB5-11CC-8A95-F9CB-4C91C02D03C1}"/>
              </a:ext>
            </a:extLst>
          </p:cNvPr>
          <p:cNvSpPr txBox="1"/>
          <p:nvPr/>
        </p:nvSpPr>
        <p:spPr>
          <a:xfrm>
            <a:off x="4837427" y="1708142"/>
            <a:ext cx="1088136" cy="369332"/>
          </a:xfrm>
          <a:prstGeom prst="rect">
            <a:avLst/>
          </a:prstGeom>
          <a:noFill/>
        </p:spPr>
        <p:txBody>
          <a:bodyPr wrap="square" rtlCol="0">
            <a:spAutoFit/>
          </a:bodyPr>
          <a:lstStyle/>
          <a:p>
            <a:pPr algn="ctr"/>
            <a:r>
              <a:rPr lang="en-US" dirty="0"/>
              <a:t>5 </a:t>
            </a:r>
            <a:r>
              <a:rPr lang="hi-IN" dirty="0"/>
              <a:t>दहाई</a:t>
            </a:r>
            <a:endParaRPr lang="en-IN" dirty="0"/>
          </a:p>
        </p:txBody>
      </p:sp>
      <p:sp>
        <p:nvSpPr>
          <p:cNvPr id="18" name="TextBox 17">
            <a:extLst>
              <a:ext uri="{FF2B5EF4-FFF2-40B4-BE49-F238E27FC236}">
                <a16:creationId xmlns:a16="http://schemas.microsoft.com/office/drawing/2014/main" id="{B4ED0E96-F93E-3E5E-EE94-ED501EB091B3}"/>
              </a:ext>
            </a:extLst>
          </p:cNvPr>
          <p:cNvSpPr txBox="1"/>
          <p:nvPr/>
        </p:nvSpPr>
        <p:spPr>
          <a:xfrm>
            <a:off x="5925563" y="1705967"/>
            <a:ext cx="1088136" cy="369332"/>
          </a:xfrm>
          <a:prstGeom prst="rect">
            <a:avLst/>
          </a:prstGeom>
          <a:noFill/>
        </p:spPr>
        <p:txBody>
          <a:bodyPr wrap="square" rtlCol="0">
            <a:spAutoFit/>
          </a:bodyPr>
          <a:lstStyle/>
          <a:p>
            <a:pPr algn="ctr"/>
            <a:r>
              <a:rPr lang="en-US" dirty="0"/>
              <a:t>2 </a:t>
            </a:r>
            <a:r>
              <a:rPr lang="hi-IN" dirty="0"/>
              <a:t>इकाई</a:t>
            </a:r>
            <a:endParaRPr lang="en-IN" dirty="0"/>
          </a:p>
        </p:txBody>
      </p:sp>
      <p:pic>
        <p:nvPicPr>
          <p:cNvPr id="19" name="Picture 18" descr="A yellow cube with black background&#10;&#10;AI-generated content may be incorrect.">
            <a:extLst>
              <a:ext uri="{FF2B5EF4-FFF2-40B4-BE49-F238E27FC236}">
                <a16:creationId xmlns:a16="http://schemas.microsoft.com/office/drawing/2014/main" id="{F87B56DE-2A21-A966-4B65-5A733943A864}"/>
              </a:ext>
            </a:extLst>
          </p:cNvPr>
          <p:cNvPicPr>
            <a:picLocks noChangeAspect="1"/>
          </p:cNvPicPr>
          <p:nvPr/>
        </p:nvPicPr>
        <p:blipFill>
          <a:blip r:embed="rId3"/>
          <a:stretch>
            <a:fillRect/>
          </a:stretch>
        </p:blipFill>
        <p:spPr>
          <a:xfrm>
            <a:off x="2531085" y="2410689"/>
            <a:ext cx="258386" cy="215322"/>
          </a:xfrm>
          <a:prstGeom prst="rect">
            <a:avLst/>
          </a:prstGeom>
        </p:spPr>
      </p:pic>
      <p:pic>
        <p:nvPicPr>
          <p:cNvPr id="20" name="Picture 19" descr="A yellow cube with black background&#10;&#10;AI-generated content may be incorrect.">
            <a:extLst>
              <a:ext uri="{FF2B5EF4-FFF2-40B4-BE49-F238E27FC236}">
                <a16:creationId xmlns:a16="http://schemas.microsoft.com/office/drawing/2014/main" id="{09B59379-FB52-9C0B-BC20-CA245AADF6A7}"/>
              </a:ext>
            </a:extLst>
          </p:cNvPr>
          <p:cNvPicPr>
            <a:picLocks noChangeAspect="1"/>
          </p:cNvPicPr>
          <p:nvPr/>
        </p:nvPicPr>
        <p:blipFill>
          <a:blip r:embed="rId3"/>
          <a:stretch>
            <a:fillRect/>
          </a:stretch>
        </p:blipFill>
        <p:spPr>
          <a:xfrm>
            <a:off x="2731778" y="2416016"/>
            <a:ext cx="258386" cy="215322"/>
          </a:xfrm>
          <a:prstGeom prst="rect">
            <a:avLst/>
          </a:prstGeom>
        </p:spPr>
      </p:pic>
      <p:pic>
        <p:nvPicPr>
          <p:cNvPr id="21" name="Picture 20" descr="A yellow cube with black background&#10;&#10;AI-generated content may be incorrect.">
            <a:extLst>
              <a:ext uri="{FF2B5EF4-FFF2-40B4-BE49-F238E27FC236}">
                <a16:creationId xmlns:a16="http://schemas.microsoft.com/office/drawing/2014/main" id="{EF9E0AE0-BB5F-3420-3678-7C94663D4CE1}"/>
              </a:ext>
            </a:extLst>
          </p:cNvPr>
          <p:cNvPicPr>
            <a:picLocks noChangeAspect="1"/>
          </p:cNvPicPr>
          <p:nvPr/>
        </p:nvPicPr>
        <p:blipFill>
          <a:blip r:embed="rId3"/>
          <a:stretch>
            <a:fillRect/>
          </a:stretch>
        </p:blipFill>
        <p:spPr>
          <a:xfrm>
            <a:off x="2932471" y="2416016"/>
            <a:ext cx="258386" cy="215322"/>
          </a:xfrm>
          <a:prstGeom prst="rect">
            <a:avLst/>
          </a:prstGeom>
        </p:spPr>
      </p:pic>
      <p:pic>
        <p:nvPicPr>
          <p:cNvPr id="22" name="Picture 21" descr="A yellow cube with black background&#10;&#10;AI-generated content may be incorrect.">
            <a:extLst>
              <a:ext uri="{FF2B5EF4-FFF2-40B4-BE49-F238E27FC236}">
                <a16:creationId xmlns:a16="http://schemas.microsoft.com/office/drawing/2014/main" id="{C2E27AC7-EEEB-CE56-41E3-64B94309A48C}"/>
              </a:ext>
            </a:extLst>
          </p:cNvPr>
          <p:cNvPicPr>
            <a:picLocks noChangeAspect="1"/>
          </p:cNvPicPr>
          <p:nvPr/>
        </p:nvPicPr>
        <p:blipFill>
          <a:blip r:embed="rId3"/>
          <a:stretch>
            <a:fillRect/>
          </a:stretch>
        </p:blipFill>
        <p:spPr>
          <a:xfrm>
            <a:off x="6291686" y="2421045"/>
            <a:ext cx="258386" cy="215322"/>
          </a:xfrm>
          <a:prstGeom prst="rect">
            <a:avLst/>
          </a:prstGeom>
        </p:spPr>
      </p:pic>
      <p:pic>
        <p:nvPicPr>
          <p:cNvPr id="23" name="Picture 22" descr="A yellow cube with black background&#10;&#10;AI-generated content may be incorrect.">
            <a:extLst>
              <a:ext uri="{FF2B5EF4-FFF2-40B4-BE49-F238E27FC236}">
                <a16:creationId xmlns:a16="http://schemas.microsoft.com/office/drawing/2014/main" id="{43E3741F-A5F7-15E2-8D52-1E88E8B64BC5}"/>
              </a:ext>
            </a:extLst>
          </p:cNvPr>
          <p:cNvPicPr>
            <a:picLocks noChangeAspect="1"/>
          </p:cNvPicPr>
          <p:nvPr/>
        </p:nvPicPr>
        <p:blipFill>
          <a:blip r:embed="rId3"/>
          <a:stretch>
            <a:fillRect/>
          </a:stretch>
        </p:blipFill>
        <p:spPr>
          <a:xfrm>
            <a:off x="6492379" y="2426372"/>
            <a:ext cx="258386" cy="215322"/>
          </a:xfrm>
          <a:prstGeom prst="rect">
            <a:avLst/>
          </a:prstGeom>
        </p:spPr>
      </p:pic>
      <p:pic>
        <p:nvPicPr>
          <p:cNvPr id="24" name="Picture 23" descr="A green rectangular object with black background&#10;&#10;AI-generated content may be incorrect.">
            <a:extLst>
              <a:ext uri="{FF2B5EF4-FFF2-40B4-BE49-F238E27FC236}">
                <a16:creationId xmlns:a16="http://schemas.microsoft.com/office/drawing/2014/main" id="{29D36216-F216-F866-06F8-B6E927077067}"/>
              </a:ext>
            </a:extLst>
          </p:cNvPr>
          <p:cNvPicPr>
            <a:picLocks noChangeAspect="1"/>
          </p:cNvPicPr>
          <p:nvPr/>
        </p:nvPicPr>
        <p:blipFill>
          <a:blip r:embed="rId4"/>
          <a:stretch>
            <a:fillRect/>
          </a:stretch>
        </p:blipFill>
        <p:spPr>
          <a:xfrm>
            <a:off x="1145940" y="2040637"/>
            <a:ext cx="788879" cy="1183319"/>
          </a:xfrm>
          <a:prstGeom prst="rect">
            <a:avLst/>
          </a:prstGeom>
        </p:spPr>
      </p:pic>
      <p:pic>
        <p:nvPicPr>
          <p:cNvPr id="25" name="Picture 24" descr="A green rectangular object with black background&#10;&#10;AI-generated content may be incorrect.">
            <a:extLst>
              <a:ext uri="{FF2B5EF4-FFF2-40B4-BE49-F238E27FC236}">
                <a16:creationId xmlns:a16="http://schemas.microsoft.com/office/drawing/2014/main" id="{2DD56F98-E191-140C-A823-85A6C0FB40F7}"/>
              </a:ext>
            </a:extLst>
          </p:cNvPr>
          <p:cNvPicPr>
            <a:picLocks noChangeAspect="1"/>
          </p:cNvPicPr>
          <p:nvPr/>
        </p:nvPicPr>
        <p:blipFill>
          <a:blip r:embed="rId4"/>
          <a:srcRect l="35291" r="34443"/>
          <a:stretch>
            <a:fillRect/>
          </a:stretch>
        </p:blipFill>
        <p:spPr>
          <a:xfrm>
            <a:off x="1652604" y="2049172"/>
            <a:ext cx="238753" cy="1183319"/>
          </a:xfrm>
          <a:prstGeom prst="rect">
            <a:avLst/>
          </a:prstGeom>
        </p:spPr>
      </p:pic>
      <p:pic>
        <p:nvPicPr>
          <p:cNvPr id="26" name="Picture 25" descr="A green rectangular object with black background&#10;&#10;AI-generated content may be incorrect.">
            <a:extLst>
              <a:ext uri="{FF2B5EF4-FFF2-40B4-BE49-F238E27FC236}">
                <a16:creationId xmlns:a16="http://schemas.microsoft.com/office/drawing/2014/main" id="{F05E86F1-C784-4CA0-2C2A-32BE3A75EA11}"/>
              </a:ext>
            </a:extLst>
          </p:cNvPr>
          <p:cNvPicPr>
            <a:picLocks noChangeAspect="1"/>
          </p:cNvPicPr>
          <p:nvPr/>
        </p:nvPicPr>
        <p:blipFill>
          <a:blip r:embed="rId4"/>
          <a:srcRect l="32916" r="35816"/>
          <a:stretch>
            <a:fillRect/>
          </a:stretch>
        </p:blipFill>
        <p:spPr>
          <a:xfrm>
            <a:off x="4883131" y="2050380"/>
            <a:ext cx="246660" cy="1183319"/>
          </a:xfrm>
          <a:prstGeom prst="rect">
            <a:avLst/>
          </a:prstGeom>
        </p:spPr>
      </p:pic>
      <p:pic>
        <p:nvPicPr>
          <p:cNvPr id="31" name="Picture 30" descr="A yellow cube with black background&#10;&#10;AI-generated content may be incorrect.">
            <a:extLst>
              <a:ext uri="{FF2B5EF4-FFF2-40B4-BE49-F238E27FC236}">
                <a16:creationId xmlns:a16="http://schemas.microsoft.com/office/drawing/2014/main" id="{42E69CC4-5448-56C9-166E-703515FB2A47}"/>
              </a:ext>
            </a:extLst>
          </p:cNvPr>
          <p:cNvPicPr>
            <a:picLocks noChangeAspect="1"/>
          </p:cNvPicPr>
          <p:nvPr/>
        </p:nvPicPr>
        <p:blipFill>
          <a:blip r:embed="rId3"/>
          <a:stretch>
            <a:fillRect/>
          </a:stretch>
        </p:blipFill>
        <p:spPr>
          <a:xfrm>
            <a:off x="4322682" y="4544733"/>
            <a:ext cx="258386" cy="215322"/>
          </a:xfrm>
          <a:prstGeom prst="rect">
            <a:avLst/>
          </a:prstGeom>
        </p:spPr>
      </p:pic>
      <p:pic>
        <p:nvPicPr>
          <p:cNvPr id="32" name="Picture 31" descr="A yellow cube with black background&#10;&#10;AI-generated content may be incorrect.">
            <a:extLst>
              <a:ext uri="{FF2B5EF4-FFF2-40B4-BE49-F238E27FC236}">
                <a16:creationId xmlns:a16="http://schemas.microsoft.com/office/drawing/2014/main" id="{63C7F9FE-A166-6272-9E5B-4C5D35BB74B5}"/>
              </a:ext>
            </a:extLst>
          </p:cNvPr>
          <p:cNvPicPr>
            <a:picLocks noChangeAspect="1"/>
          </p:cNvPicPr>
          <p:nvPr/>
        </p:nvPicPr>
        <p:blipFill>
          <a:blip r:embed="rId3"/>
          <a:stretch>
            <a:fillRect/>
          </a:stretch>
        </p:blipFill>
        <p:spPr>
          <a:xfrm>
            <a:off x="4515899" y="4549305"/>
            <a:ext cx="258386" cy="215322"/>
          </a:xfrm>
          <a:prstGeom prst="rect">
            <a:avLst/>
          </a:prstGeom>
        </p:spPr>
      </p:pic>
      <p:pic>
        <p:nvPicPr>
          <p:cNvPr id="33" name="Picture 32" descr="A yellow cube with black background&#10;&#10;AI-generated content may be incorrect.">
            <a:extLst>
              <a:ext uri="{FF2B5EF4-FFF2-40B4-BE49-F238E27FC236}">
                <a16:creationId xmlns:a16="http://schemas.microsoft.com/office/drawing/2014/main" id="{5B8B836E-D076-B26B-576B-67D375930F67}"/>
              </a:ext>
            </a:extLst>
          </p:cNvPr>
          <p:cNvPicPr>
            <a:picLocks noChangeAspect="1"/>
          </p:cNvPicPr>
          <p:nvPr/>
        </p:nvPicPr>
        <p:blipFill>
          <a:blip r:embed="rId3"/>
          <a:stretch>
            <a:fillRect/>
          </a:stretch>
        </p:blipFill>
        <p:spPr>
          <a:xfrm>
            <a:off x="4723736" y="4550446"/>
            <a:ext cx="258386" cy="215322"/>
          </a:xfrm>
          <a:prstGeom prst="rect">
            <a:avLst/>
          </a:prstGeom>
        </p:spPr>
      </p:pic>
      <p:pic>
        <p:nvPicPr>
          <p:cNvPr id="34" name="Picture 33" descr="A yellow cube with black background&#10;&#10;AI-generated content may be incorrect.">
            <a:extLst>
              <a:ext uri="{FF2B5EF4-FFF2-40B4-BE49-F238E27FC236}">
                <a16:creationId xmlns:a16="http://schemas.microsoft.com/office/drawing/2014/main" id="{0D8314DD-FE55-6E72-8BD4-90F51DE28256}"/>
              </a:ext>
            </a:extLst>
          </p:cNvPr>
          <p:cNvPicPr>
            <a:picLocks noChangeAspect="1"/>
          </p:cNvPicPr>
          <p:nvPr/>
        </p:nvPicPr>
        <p:blipFill>
          <a:blip r:embed="rId3"/>
          <a:stretch>
            <a:fillRect/>
          </a:stretch>
        </p:blipFill>
        <p:spPr>
          <a:xfrm>
            <a:off x="4916135" y="4551926"/>
            <a:ext cx="258386" cy="215322"/>
          </a:xfrm>
          <a:prstGeom prst="rect">
            <a:avLst/>
          </a:prstGeom>
        </p:spPr>
      </p:pic>
      <p:pic>
        <p:nvPicPr>
          <p:cNvPr id="35" name="Picture 34" descr="A green rectangular object with black background&#10;&#10;AI-generated content may be incorrect.">
            <a:extLst>
              <a:ext uri="{FF2B5EF4-FFF2-40B4-BE49-F238E27FC236}">
                <a16:creationId xmlns:a16="http://schemas.microsoft.com/office/drawing/2014/main" id="{BD515302-915A-CB52-CB14-DB42E2C891EF}"/>
              </a:ext>
            </a:extLst>
          </p:cNvPr>
          <p:cNvPicPr>
            <a:picLocks noChangeAspect="1"/>
          </p:cNvPicPr>
          <p:nvPr/>
        </p:nvPicPr>
        <p:blipFill>
          <a:blip r:embed="rId4"/>
          <a:srcRect l="35291" r="34443"/>
          <a:stretch>
            <a:fillRect/>
          </a:stretch>
        </p:blipFill>
        <p:spPr>
          <a:xfrm>
            <a:off x="1896759" y="2050034"/>
            <a:ext cx="238753" cy="1183319"/>
          </a:xfrm>
          <a:prstGeom prst="rect">
            <a:avLst/>
          </a:prstGeom>
        </p:spPr>
      </p:pic>
      <p:pic>
        <p:nvPicPr>
          <p:cNvPr id="38" name="Picture 37" descr="A yellow cube with black background&#10;&#10;AI-generated content may be incorrect.">
            <a:extLst>
              <a:ext uri="{FF2B5EF4-FFF2-40B4-BE49-F238E27FC236}">
                <a16:creationId xmlns:a16="http://schemas.microsoft.com/office/drawing/2014/main" id="{878AFF71-F05A-063B-B5A5-73A3938C287E}"/>
              </a:ext>
            </a:extLst>
          </p:cNvPr>
          <p:cNvPicPr>
            <a:picLocks noChangeAspect="1"/>
          </p:cNvPicPr>
          <p:nvPr/>
        </p:nvPicPr>
        <p:blipFill>
          <a:blip r:embed="rId3"/>
          <a:stretch>
            <a:fillRect/>
          </a:stretch>
        </p:blipFill>
        <p:spPr>
          <a:xfrm>
            <a:off x="3133164" y="2421361"/>
            <a:ext cx="258386" cy="215322"/>
          </a:xfrm>
          <a:prstGeom prst="rect">
            <a:avLst/>
          </a:prstGeom>
        </p:spPr>
      </p:pic>
      <p:pic>
        <p:nvPicPr>
          <p:cNvPr id="39" name="Picture 38" descr="A green rectangular object with black background&#10;&#10;AI-generated content may be incorrect.">
            <a:extLst>
              <a:ext uri="{FF2B5EF4-FFF2-40B4-BE49-F238E27FC236}">
                <a16:creationId xmlns:a16="http://schemas.microsoft.com/office/drawing/2014/main" id="{84CE0604-7AE0-C1B3-ABC4-90751DA5BCDE}"/>
              </a:ext>
            </a:extLst>
          </p:cNvPr>
          <p:cNvPicPr>
            <a:picLocks noChangeAspect="1"/>
          </p:cNvPicPr>
          <p:nvPr/>
        </p:nvPicPr>
        <p:blipFill>
          <a:blip r:embed="rId4"/>
          <a:srcRect l="32916" r="35816"/>
          <a:stretch>
            <a:fillRect/>
          </a:stretch>
        </p:blipFill>
        <p:spPr>
          <a:xfrm>
            <a:off x="5063359" y="2056732"/>
            <a:ext cx="246660" cy="1183319"/>
          </a:xfrm>
          <a:prstGeom prst="rect">
            <a:avLst/>
          </a:prstGeom>
        </p:spPr>
      </p:pic>
      <p:pic>
        <p:nvPicPr>
          <p:cNvPr id="40" name="Picture 39" descr="A green rectangular object with black background&#10;&#10;AI-generated content may be incorrect.">
            <a:extLst>
              <a:ext uri="{FF2B5EF4-FFF2-40B4-BE49-F238E27FC236}">
                <a16:creationId xmlns:a16="http://schemas.microsoft.com/office/drawing/2014/main" id="{970AA755-A225-B607-D1E9-8E82F1C0CA33}"/>
              </a:ext>
            </a:extLst>
          </p:cNvPr>
          <p:cNvPicPr>
            <a:picLocks noChangeAspect="1"/>
          </p:cNvPicPr>
          <p:nvPr/>
        </p:nvPicPr>
        <p:blipFill>
          <a:blip r:embed="rId4"/>
          <a:srcRect l="32916" r="35816"/>
          <a:stretch>
            <a:fillRect/>
          </a:stretch>
        </p:blipFill>
        <p:spPr>
          <a:xfrm>
            <a:off x="5252020" y="2056732"/>
            <a:ext cx="246660" cy="1183319"/>
          </a:xfrm>
          <a:prstGeom prst="rect">
            <a:avLst/>
          </a:prstGeom>
        </p:spPr>
      </p:pic>
      <p:pic>
        <p:nvPicPr>
          <p:cNvPr id="41" name="Picture 40" descr="A green rectangular object with black background&#10;&#10;AI-generated content may be incorrect.">
            <a:extLst>
              <a:ext uri="{FF2B5EF4-FFF2-40B4-BE49-F238E27FC236}">
                <a16:creationId xmlns:a16="http://schemas.microsoft.com/office/drawing/2014/main" id="{4027FA62-E98B-A2B3-D65F-977024661094}"/>
              </a:ext>
            </a:extLst>
          </p:cNvPr>
          <p:cNvPicPr>
            <a:picLocks noChangeAspect="1"/>
          </p:cNvPicPr>
          <p:nvPr/>
        </p:nvPicPr>
        <p:blipFill>
          <a:blip r:embed="rId4"/>
          <a:srcRect l="32916" r="35816"/>
          <a:stretch>
            <a:fillRect/>
          </a:stretch>
        </p:blipFill>
        <p:spPr>
          <a:xfrm>
            <a:off x="5433389" y="2067103"/>
            <a:ext cx="246660" cy="1183319"/>
          </a:xfrm>
          <a:prstGeom prst="rect">
            <a:avLst/>
          </a:prstGeom>
        </p:spPr>
      </p:pic>
      <p:pic>
        <p:nvPicPr>
          <p:cNvPr id="42" name="Picture 41" descr="A green rectangular object with black background&#10;&#10;AI-generated content may be incorrect.">
            <a:extLst>
              <a:ext uri="{FF2B5EF4-FFF2-40B4-BE49-F238E27FC236}">
                <a16:creationId xmlns:a16="http://schemas.microsoft.com/office/drawing/2014/main" id="{283AA9FB-0742-686C-F8EA-B70039C88F92}"/>
              </a:ext>
            </a:extLst>
          </p:cNvPr>
          <p:cNvPicPr>
            <a:picLocks noChangeAspect="1"/>
          </p:cNvPicPr>
          <p:nvPr/>
        </p:nvPicPr>
        <p:blipFill>
          <a:blip r:embed="rId4"/>
          <a:srcRect l="32916" r="35816"/>
          <a:stretch>
            <a:fillRect/>
          </a:stretch>
        </p:blipFill>
        <p:spPr>
          <a:xfrm>
            <a:off x="5614758" y="2067103"/>
            <a:ext cx="246660" cy="1183319"/>
          </a:xfrm>
          <a:prstGeom prst="rect">
            <a:avLst/>
          </a:prstGeom>
        </p:spPr>
      </p:pic>
      <p:pic>
        <p:nvPicPr>
          <p:cNvPr id="43" name="Picture 42" descr="A green rectangular object with black background&#10;&#10;AI-generated content may be incorrect.">
            <a:extLst>
              <a:ext uri="{FF2B5EF4-FFF2-40B4-BE49-F238E27FC236}">
                <a16:creationId xmlns:a16="http://schemas.microsoft.com/office/drawing/2014/main" id="{64E1A9EF-D1A0-3881-BA3C-C3F168098A89}"/>
              </a:ext>
            </a:extLst>
          </p:cNvPr>
          <p:cNvPicPr>
            <a:picLocks noChangeAspect="1"/>
          </p:cNvPicPr>
          <p:nvPr/>
        </p:nvPicPr>
        <p:blipFill>
          <a:blip r:embed="rId4"/>
          <a:srcRect l="32916" r="35816"/>
          <a:stretch>
            <a:fillRect/>
          </a:stretch>
        </p:blipFill>
        <p:spPr>
          <a:xfrm>
            <a:off x="2639394" y="4066745"/>
            <a:ext cx="246660" cy="1183319"/>
          </a:xfrm>
          <a:prstGeom prst="rect">
            <a:avLst/>
          </a:prstGeom>
        </p:spPr>
      </p:pic>
      <p:pic>
        <p:nvPicPr>
          <p:cNvPr id="44" name="Picture 43" descr="A green rectangular object with black background&#10;&#10;AI-generated content may be incorrect.">
            <a:extLst>
              <a:ext uri="{FF2B5EF4-FFF2-40B4-BE49-F238E27FC236}">
                <a16:creationId xmlns:a16="http://schemas.microsoft.com/office/drawing/2014/main" id="{761869D1-3AE7-5CD6-F900-104A43FE7703}"/>
              </a:ext>
            </a:extLst>
          </p:cNvPr>
          <p:cNvPicPr>
            <a:picLocks noChangeAspect="1"/>
          </p:cNvPicPr>
          <p:nvPr/>
        </p:nvPicPr>
        <p:blipFill>
          <a:blip r:embed="rId4"/>
          <a:srcRect l="32916" r="35816"/>
          <a:stretch>
            <a:fillRect/>
          </a:stretch>
        </p:blipFill>
        <p:spPr>
          <a:xfrm>
            <a:off x="2819622" y="4073097"/>
            <a:ext cx="246660" cy="1183319"/>
          </a:xfrm>
          <a:prstGeom prst="rect">
            <a:avLst/>
          </a:prstGeom>
        </p:spPr>
      </p:pic>
      <p:pic>
        <p:nvPicPr>
          <p:cNvPr id="45" name="Picture 44" descr="A green rectangular object with black background&#10;&#10;AI-generated content may be incorrect.">
            <a:extLst>
              <a:ext uri="{FF2B5EF4-FFF2-40B4-BE49-F238E27FC236}">
                <a16:creationId xmlns:a16="http://schemas.microsoft.com/office/drawing/2014/main" id="{9FB3D1C0-B91B-C5FD-A155-AE903B3E2235}"/>
              </a:ext>
            </a:extLst>
          </p:cNvPr>
          <p:cNvPicPr>
            <a:picLocks noChangeAspect="1"/>
          </p:cNvPicPr>
          <p:nvPr/>
        </p:nvPicPr>
        <p:blipFill>
          <a:blip r:embed="rId4"/>
          <a:srcRect l="32916" r="35816"/>
          <a:stretch>
            <a:fillRect/>
          </a:stretch>
        </p:blipFill>
        <p:spPr>
          <a:xfrm>
            <a:off x="3008283" y="4073097"/>
            <a:ext cx="246660" cy="1183319"/>
          </a:xfrm>
          <a:prstGeom prst="rect">
            <a:avLst/>
          </a:prstGeom>
        </p:spPr>
      </p:pic>
      <p:pic>
        <p:nvPicPr>
          <p:cNvPr id="46" name="Picture 45" descr="A green rectangular object with black background&#10;&#10;AI-generated content may be incorrect.">
            <a:extLst>
              <a:ext uri="{FF2B5EF4-FFF2-40B4-BE49-F238E27FC236}">
                <a16:creationId xmlns:a16="http://schemas.microsoft.com/office/drawing/2014/main" id="{F6E20C22-07BD-92EC-CDA0-1F0A93F31D9C}"/>
              </a:ext>
            </a:extLst>
          </p:cNvPr>
          <p:cNvPicPr>
            <a:picLocks noChangeAspect="1"/>
          </p:cNvPicPr>
          <p:nvPr/>
        </p:nvPicPr>
        <p:blipFill>
          <a:blip r:embed="rId4"/>
          <a:srcRect l="32916" r="35816"/>
          <a:stretch>
            <a:fillRect/>
          </a:stretch>
        </p:blipFill>
        <p:spPr>
          <a:xfrm>
            <a:off x="3189652" y="4083468"/>
            <a:ext cx="246660" cy="1183319"/>
          </a:xfrm>
          <a:prstGeom prst="rect">
            <a:avLst/>
          </a:prstGeom>
        </p:spPr>
      </p:pic>
      <p:pic>
        <p:nvPicPr>
          <p:cNvPr id="47" name="Picture 46" descr="A green rectangular object with black background&#10;&#10;AI-generated content may be incorrect.">
            <a:extLst>
              <a:ext uri="{FF2B5EF4-FFF2-40B4-BE49-F238E27FC236}">
                <a16:creationId xmlns:a16="http://schemas.microsoft.com/office/drawing/2014/main" id="{11235E37-D0FE-06FF-B0D4-D29BABAB73DD}"/>
              </a:ext>
            </a:extLst>
          </p:cNvPr>
          <p:cNvPicPr>
            <a:picLocks noChangeAspect="1"/>
          </p:cNvPicPr>
          <p:nvPr/>
        </p:nvPicPr>
        <p:blipFill>
          <a:blip r:embed="rId4"/>
          <a:srcRect l="32916" r="35816"/>
          <a:stretch>
            <a:fillRect/>
          </a:stretch>
        </p:blipFill>
        <p:spPr>
          <a:xfrm>
            <a:off x="3371021" y="4083468"/>
            <a:ext cx="246660" cy="1183319"/>
          </a:xfrm>
          <a:prstGeom prst="rect">
            <a:avLst/>
          </a:prstGeom>
        </p:spPr>
      </p:pic>
      <p:pic>
        <p:nvPicPr>
          <p:cNvPr id="48" name="Picture 47" descr="A green rectangular object with black background&#10;&#10;AI-generated content may be incorrect.">
            <a:extLst>
              <a:ext uri="{FF2B5EF4-FFF2-40B4-BE49-F238E27FC236}">
                <a16:creationId xmlns:a16="http://schemas.microsoft.com/office/drawing/2014/main" id="{7B8685A9-56EA-4594-3241-EC6261C2A383}"/>
              </a:ext>
            </a:extLst>
          </p:cNvPr>
          <p:cNvPicPr>
            <a:picLocks noChangeAspect="1"/>
          </p:cNvPicPr>
          <p:nvPr/>
        </p:nvPicPr>
        <p:blipFill>
          <a:blip r:embed="rId4"/>
          <a:srcRect l="32916" r="35816"/>
          <a:stretch>
            <a:fillRect/>
          </a:stretch>
        </p:blipFill>
        <p:spPr>
          <a:xfrm>
            <a:off x="3549579" y="4099502"/>
            <a:ext cx="246660" cy="1183319"/>
          </a:xfrm>
          <a:prstGeom prst="rect">
            <a:avLst/>
          </a:prstGeom>
        </p:spPr>
      </p:pic>
      <p:pic>
        <p:nvPicPr>
          <p:cNvPr id="49" name="Picture 48" descr="A green rectangular object with black background&#10;&#10;AI-generated content may be incorrect.">
            <a:extLst>
              <a:ext uri="{FF2B5EF4-FFF2-40B4-BE49-F238E27FC236}">
                <a16:creationId xmlns:a16="http://schemas.microsoft.com/office/drawing/2014/main" id="{D5939639-7B5D-A83F-FF05-715289839FCE}"/>
              </a:ext>
            </a:extLst>
          </p:cNvPr>
          <p:cNvPicPr>
            <a:picLocks noChangeAspect="1"/>
          </p:cNvPicPr>
          <p:nvPr/>
        </p:nvPicPr>
        <p:blipFill>
          <a:blip r:embed="rId4"/>
          <a:srcRect l="32916" r="35816"/>
          <a:stretch>
            <a:fillRect/>
          </a:stretch>
        </p:blipFill>
        <p:spPr>
          <a:xfrm>
            <a:off x="3723113" y="4106392"/>
            <a:ext cx="246660" cy="1183319"/>
          </a:xfrm>
          <a:prstGeom prst="rect">
            <a:avLst/>
          </a:prstGeom>
        </p:spPr>
      </p:pic>
      <p:pic>
        <p:nvPicPr>
          <p:cNvPr id="50" name="Picture 49" descr="A green rectangular object with black background&#10;&#10;AI-generated content may be incorrect.">
            <a:extLst>
              <a:ext uri="{FF2B5EF4-FFF2-40B4-BE49-F238E27FC236}">
                <a16:creationId xmlns:a16="http://schemas.microsoft.com/office/drawing/2014/main" id="{04953482-9926-C15C-62BE-532C6D819911}"/>
              </a:ext>
            </a:extLst>
          </p:cNvPr>
          <p:cNvPicPr>
            <a:picLocks noChangeAspect="1"/>
          </p:cNvPicPr>
          <p:nvPr/>
        </p:nvPicPr>
        <p:blipFill>
          <a:blip r:embed="rId4"/>
          <a:srcRect l="32916" r="35816"/>
          <a:stretch>
            <a:fillRect/>
          </a:stretch>
        </p:blipFill>
        <p:spPr>
          <a:xfrm>
            <a:off x="3892195" y="4106391"/>
            <a:ext cx="246660" cy="1183319"/>
          </a:xfrm>
          <a:prstGeom prst="rect">
            <a:avLst/>
          </a:prstGeom>
        </p:spPr>
      </p:pic>
      <p:pic>
        <p:nvPicPr>
          <p:cNvPr id="51" name="Picture 50" descr="A yellow cube with black background&#10;&#10;AI-generated content may be incorrect.">
            <a:extLst>
              <a:ext uri="{FF2B5EF4-FFF2-40B4-BE49-F238E27FC236}">
                <a16:creationId xmlns:a16="http://schemas.microsoft.com/office/drawing/2014/main" id="{518C0F32-8E01-B0E8-7329-61B9F534EBC9}"/>
              </a:ext>
            </a:extLst>
          </p:cNvPr>
          <p:cNvPicPr>
            <a:picLocks noChangeAspect="1"/>
          </p:cNvPicPr>
          <p:nvPr/>
        </p:nvPicPr>
        <p:blipFill>
          <a:blip r:embed="rId3"/>
          <a:stretch>
            <a:fillRect/>
          </a:stretch>
        </p:blipFill>
        <p:spPr>
          <a:xfrm>
            <a:off x="5122083" y="4539336"/>
            <a:ext cx="258386" cy="215322"/>
          </a:xfrm>
          <a:prstGeom prst="rect">
            <a:avLst/>
          </a:prstGeom>
        </p:spPr>
      </p:pic>
      <p:pic>
        <p:nvPicPr>
          <p:cNvPr id="52" name="Picture 51" descr="A yellow cube with black background&#10;&#10;AI-generated content may be incorrect.">
            <a:extLst>
              <a:ext uri="{FF2B5EF4-FFF2-40B4-BE49-F238E27FC236}">
                <a16:creationId xmlns:a16="http://schemas.microsoft.com/office/drawing/2014/main" id="{B5A829DB-3BAC-EDC3-E1D8-876734C1AE41}"/>
              </a:ext>
            </a:extLst>
          </p:cNvPr>
          <p:cNvPicPr>
            <a:picLocks noChangeAspect="1"/>
          </p:cNvPicPr>
          <p:nvPr/>
        </p:nvPicPr>
        <p:blipFill>
          <a:blip r:embed="rId3"/>
          <a:stretch>
            <a:fillRect/>
          </a:stretch>
        </p:blipFill>
        <p:spPr>
          <a:xfrm>
            <a:off x="4322682" y="4768515"/>
            <a:ext cx="258386" cy="215322"/>
          </a:xfrm>
          <a:prstGeom prst="rect">
            <a:avLst/>
          </a:prstGeom>
        </p:spPr>
      </p:pic>
      <p:sp>
        <p:nvSpPr>
          <p:cNvPr id="53" name="Rectangle: Rounded Corners 52">
            <a:extLst>
              <a:ext uri="{FF2B5EF4-FFF2-40B4-BE49-F238E27FC236}">
                <a16:creationId xmlns:a16="http://schemas.microsoft.com/office/drawing/2014/main" id="{0F9F90CB-A0E9-CFFD-847F-0DF29D88F9F7}"/>
              </a:ext>
            </a:extLst>
          </p:cNvPr>
          <p:cNvSpPr/>
          <p:nvPr/>
        </p:nvSpPr>
        <p:spPr>
          <a:xfrm>
            <a:off x="3753875" y="5646676"/>
            <a:ext cx="566928" cy="369319"/>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t>86</a:t>
            </a:r>
            <a:endParaRPr lang="en-IN" b="1" dirty="0"/>
          </a:p>
        </p:txBody>
      </p:sp>
      <p:sp>
        <p:nvSpPr>
          <p:cNvPr id="27" name="TextBox 11">
            <a:extLst>
              <a:ext uri="{FF2B5EF4-FFF2-40B4-BE49-F238E27FC236}">
                <a16:creationId xmlns:a16="http://schemas.microsoft.com/office/drawing/2014/main" id="{E4770ECC-75FB-AE3F-61D7-41AE384DAF25}"/>
              </a:ext>
            </a:extLst>
          </p:cNvPr>
          <p:cNvSpPr txBox="1"/>
          <p:nvPr/>
        </p:nvSpPr>
        <p:spPr>
          <a:xfrm>
            <a:off x="4022511" y="2215152"/>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extLst>
      <p:ext uri="{BB962C8B-B14F-4D97-AF65-F5344CB8AC3E}">
        <p14:creationId xmlns:p14="http://schemas.microsoft.com/office/powerpoint/2010/main" val="4210193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5 · 05_DEMO_COUNT.png</a:t>
            </a:r>
          </a:p>
        </p:txBody>
      </p:sp>
      <p:pic>
        <p:nvPicPr>
          <p:cNvPr id="3" name="Picture 2" descr="05_DEMO_COUNT.png"/>
          <p:cNvPicPr>
            <a:picLocks noChangeAspect="1"/>
          </p:cNvPicPr>
          <p:nvPr/>
        </p:nvPicPr>
        <p:blipFill>
          <a:blip r:embed="rId2"/>
          <a:stretch>
            <a:fillRect/>
          </a:stretch>
        </p:blipFill>
        <p:spPr>
          <a:xfrm>
            <a:off x="365760" y="731520"/>
            <a:ext cx="7680960" cy="4298571"/>
          </a:xfrm>
          <a:prstGeom prst="rect">
            <a:avLst/>
          </a:prstGeom>
        </p:spPr>
      </p:pic>
      <p:sp>
        <p:nvSpPr>
          <p:cNvPr id="5" name="TextBox 4">
            <a:extLst>
              <a:ext uri="{FF2B5EF4-FFF2-40B4-BE49-F238E27FC236}">
                <a16:creationId xmlns:a16="http://schemas.microsoft.com/office/drawing/2014/main" id="{9F89478C-115E-5F09-614B-73F3E950660E}"/>
              </a:ext>
            </a:extLst>
          </p:cNvPr>
          <p:cNvSpPr txBox="1"/>
          <p:nvPr/>
        </p:nvSpPr>
        <p:spPr>
          <a:xfrm>
            <a:off x="8072129" y="1106424"/>
            <a:ext cx="3522464" cy="2492990"/>
          </a:xfrm>
          <a:prstGeom prst="rect">
            <a:avLst/>
          </a:prstGeom>
          <a:noFill/>
        </p:spPr>
        <p:txBody>
          <a:bodyPr wrap="square">
            <a:spAutoFit/>
          </a:bodyPr>
          <a:lstStyle/>
          <a:p>
            <a:r>
              <a:rPr sz="1600" b="1" dirty="0">
                <a:solidFill>
                  <a:srgbClr val="0B3D8C"/>
                </a:solidFill>
              </a:rPr>
              <a:t>Recommendations</a:t>
            </a:r>
            <a:endParaRPr lang="hi-IN" sz="1600" b="1" dirty="0">
              <a:solidFill>
                <a:srgbClr val="0B3D8C"/>
              </a:solidFill>
            </a:endParaRPr>
          </a:p>
          <a:p>
            <a:r>
              <a:rPr lang="en-US" altLang="en-US" sz="1400" dirty="0"/>
              <a:t>Replace the entire slide content with the following:</a:t>
            </a:r>
          </a:p>
          <a:p>
            <a:r>
              <a:rPr lang="en-US" sz="1400" dirty="0"/>
              <a:t>Images as written. </a:t>
            </a:r>
          </a:p>
          <a:p>
            <a:r>
              <a:rPr lang="en-US" sz="1400" dirty="0"/>
              <a:t>Equation: </a:t>
            </a:r>
            <a:r>
              <a:rPr lang="en-US" sz="1400" b="1" dirty="0"/>
              <a:t>34 + 52 = 86 </a:t>
            </a:r>
            <a:r>
              <a:rPr lang="en-US" sz="1400" dirty="0"/>
              <a:t>below the images.</a:t>
            </a:r>
          </a:p>
          <a:p>
            <a:endParaRPr lang="en-US" sz="1400" dirty="0"/>
          </a:p>
          <a:p>
            <a:r>
              <a:rPr lang="en-US" sz="1400" dirty="0"/>
              <a:t>VO1:</a:t>
            </a:r>
            <a:r>
              <a:rPr lang="hi-IN" sz="1400" dirty="0"/>
              <a:t> </a:t>
            </a:r>
            <a:r>
              <a:rPr lang="en-US" sz="1400" dirty="0"/>
              <a:t>34</a:t>
            </a:r>
            <a:r>
              <a:rPr lang="hi-IN" sz="1400" dirty="0"/>
              <a:t> जोड़ </a:t>
            </a:r>
            <a:r>
              <a:rPr lang="en-US" sz="1400" dirty="0"/>
              <a:t>52</a:t>
            </a:r>
            <a:r>
              <a:rPr lang="hi-IN" sz="1400" dirty="0"/>
              <a:t> बराबर </a:t>
            </a:r>
            <a:r>
              <a:rPr lang="en-US" sz="1400" dirty="0"/>
              <a:t>86</a:t>
            </a:r>
            <a:r>
              <a:rPr lang="hi-IN" sz="1400" dirty="0"/>
              <a:t> </a:t>
            </a:r>
          </a:p>
          <a:p>
            <a:endParaRPr lang="hi-IN" sz="1400" dirty="0"/>
          </a:p>
          <a:p>
            <a:endParaRPr lang="hi-IN" sz="1400" dirty="0"/>
          </a:p>
          <a:p>
            <a:r>
              <a:rPr lang="en-US" sz="1400" dirty="0"/>
              <a:t>VO2: </a:t>
            </a:r>
            <a:r>
              <a:rPr lang="hi-IN" sz="1400" dirty="0"/>
              <a:t>तारा के पास अब कुल मिलाकर </a:t>
            </a:r>
            <a:r>
              <a:rPr lang="en-US" sz="1400" dirty="0"/>
              <a:t>86</a:t>
            </a:r>
            <a:r>
              <a:rPr lang="hi-IN" sz="1400" dirty="0"/>
              <a:t> ब्लॉक्स हैं। </a:t>
            </a:r>
          </a:p>
        </p:txBody>
      </p:sp>
      <p:sp>
        <p:nvSpPr>
          <p:cNvPr id="6" name="Rectangle: Rounded Corners 5">
            <a:extLst>
              <a:ext uri="{FF2B5EF4-FFF2-40B4-BE49-F238E27FC236}">
                <a16:creationId xmlns:a16="http://schemas.microsoft.com/office/drawing/2014/main" id="{78ED3CAA-DBB8-8783-C991-56AEC9E91940}"/>
              </a:ext>
            </a:extLst>
          </p:cNvPr>
          <p:cNvSpPr/>
          <p:nvPr/>
        </p:nvSpPr>
        <p:spPr>
          <a:xfrm>
            <a:off x="1871388" y="3680420"/>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34</a:t>
            </a:r>
            <a:endParaRPr lang="en-IN" sz="2800" b="1" dirty="0"/>
          </a:p>
        </p:txBody>
      </p:sp>
      <p:sp>
        <p:nvSpPr>
          <p:cNvPr id="7" name="Rectangle: Rounded Corners 6">
            <a:extLst>
              <a:ext uri="{FF2B5EF4-FFF2-40B4-BE49-F238E27FC236}">
                <a16:creationId xmlns:a16="http://schemas.microsoft.com/office/drawing/2014/main" id="{E1221F72-5F40-6B17-CF5D-5272CDDDD322}"/>
              </a:ext>
            </a:extLst>
          </p:cNvPr>
          <p:cNvSpPr/>
          <p:nvPr/>
        </p:nvSpPr>
        <p:spPr>
          <a:xfrm>
            <a:off x="3193019" y="3680420"/>
            <a:ext cx="756827"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52</a:t>
            </a:r>
            <a:endParaRPr lang="en-IN" sz="2800" b="1" dirty="0"/>
          </a:p>
        </p:txBody>
      </p:sp>
      <p:sp>
        <p:nvSpPr>
          <p:cNvPr id="8" name="Rectangle: Rounded Corners 7">
            <a:extLst>
              <a:ext uri="{FF2B5EF4-FFF2-40B4-BE49-F238E27FC236}">
                <a16:creationId xmlns:a16="http://schemas.microsoft.com/office/drawing/2014/main" id="{274637F6-414E-869E-96A4-76C2161D037D}"/>
              </a:ext>
            </a:extLst>
          </p:cNvPr>
          <p:cNvSpPr/>
          <p:nvPr/>
        </p:nvSpPr>
        <p:spPr>
          <a:xfrm>
            <a:off x="4811085" y="3680420"/>
            <a:ext cx="756826" cy="52322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800" b="1" dirty="0"/>
              <a:t>86</a:t>
            </a:r>
            <a:endParaRPr lang="en-IN" sz="2800" b="1" dirty="0"/>
          </a:p>
        </p:txBody>
      </p:sp>
      <p:sp>
        <p:nvSpPr>
          <p:cNvPr id="9" name="TextBox 8">
            <a:extLst>
              <a:ext uri="{FF2B5EF4-FFF2-40B4-BE49-F238E27FC236}">
                <a16:creationId xmlns:a16="http://schemas.microsoft.com/office/drawing/2014/main" id="{CA7CD062-DC7B-1BED-C890-8B1C21D01D94}"/>
              </a:ext>
            </a:extLst>
          </p:cNvPr>
          <p:cNvSpPr txBox="1"/>
          <p:nvPr/>
        </p:nvSpPr>
        <p:spPr>
          <a:xfrm>
            <a:off x="2814882" y="3668082"/>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0" name="TextBox 9">
            <a:extLst>
              <a:ext uri="{FF2B5EF4-FFF2-40B4-BE49-F238E27FC236}">
                <a16:creationId xmlns:a16="http://schemas.microsoft.com/office/drawing/2014/main" id="{05669C77-2F11-6B4C-6BDA-E3526C789190}"/>
              </a:ext>
            </a:extLst>
          </p:cNvPr>
          <p:cNvSpPr txBox="1"/>
          <p:nvPr/>
        </p:nvSpPr>
        <p:spPr>
          <a:xfrm>
            <a:off x="4247877" y="3668082"/>
            <a:ext cx="265176" cy="52322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
        <p:nvSpPr>
          <p:cNvPr id="11" name="TextBox 10">
            <a:extLst>
              <a:ext uri="{FF2B5EF4-FFF2-40B4-BE49-F238E27FC236}">
                <a16:creationId xmlns:a16="http://schemas.microsoft.com/office/drawing/2014/main" id="{6C17F479-791A-1482-9FB5-C9DA7DA25780}"/>
              </a:ext>
            </a:extLst>
          </p:cNvPr>
          <p:cNvSpPr txBox="1"/>
          <p:nvPr/>
        </p:nvSpPr>
        <p:spPr>
          <a:xfrm>
            <a:off x="1508760" y="2441662"/>
            <a:ext cx="1306122" cy="923330"/>
          </a:xfrm>
          <a:prstGeom prst="rect">
            <a:avLst/>
          </a:prstGeom>
          <a:noFill/>
        </p:spPr>
        <p:txBody>
          <a:bodyPr wrap="square" rtlCol="0">
            <a:spAutoFit/>
          </a:bodyPr>
          <a:lstStyle/>
          <a:p>
            <a:pPr algn="ctr"/>
            <a:r>
              <a:rPr lang="en-US" dirty="0"/>
              <a:t>34 blocks with Tara’s photo</a:t>
            </a:r>
            <a:endParaRPr lang="en-IN" dirty="0"/>
          </a:p>
        </p:txBody>
      </p:sp>
      <p:sp>
        <p:nvSpPr>
          <p:cNvPr id="12" name="TextBox 11">
            <a:extLst>
              <a:ext uri="{FF2B5EF4-FFF2-40B4-BE49-F238E27FC236}">
                <a16:creationId xmlns:a16="http://schemas.microsoft.com/office/drawing/2014/main" id="{F614B8D4-143A-994C-4113-127E99AE14F7}"/>
              </a:ext>
            </a:extLst>
          </p:cNvPr>
          <p:cNvSpPr txBox="1"/>
          <p:nvPr/>
        </p:nvSpPr>
        <p:spPr>
          <a:xfrm>
            <a:off x="2926246" y="2203092"/>
            <a:ext cx="1354451" cy="1200329"/>
          </a:xfrm>
          <a:prstGeom prst="rect">
            <a:avLst/>
          </a:prstGeom>
          <a:noFill/>
        </p:spPr>
        <p:txBody>
          <a:bodyPr wrap="square">
            <a:spAutoFit/>
          </a:bodyPr>
          <a:lstStyle/>
          <a:p>
            <a:pPr algn="ctr"/>
            <a:r>
              <a:rPr lang="en-US" dirty="0"/>
              <a:t>52 blocks with Tara’s mother photo</a:t>
            </a:r>
            <a:endParaRPr lang="en-IN" dirty="0"/>
          </a:p>
        </p:txBody>
      </p:sp>
      <p:sp>
        <p:nvSpPr>
          <p:cNvPr id="13" name="TextBox 12">
            <a:extLst>
              <a:ext uri="{FF2B5EF4-FFF2-40B4-BE49-F238E27FC236}">
                <a16:creationId xmlns:a16="http://schemas.microsoft.com/office/drawing/2014/main" id="{F1021709-499D-A023-9413-E7992D18C5ED}"/>
              </a:ext>
            </a:extLst>
          </p:cNvPr>
          <p:cNvSpPr txBox="1"/>
          <p:nvPr/>
        </p:nvSpPr>
        <p:spPr>
          <a:xfrm>
            <a:off x="4480233" y="2458398"/>
            <a:ext cx="1829910" cy="1200329"/>
          </a:xfrm>
          <a:prstGeom prst="rect">
            <a:avLst/>
          </a:prstGeom>
          <a:noFill/>
        </p:spPr>
        <p:txBody>
          <a:bodyPr wrap="square">
            <a:spAutoFit/>
          </a:bodyPr>
          <a:lstStyle/>
          <a:p>
            <a:pPr algn="ctr"/>
            <a:r>
              <a:rPr lang="en-US" dirty="0"/>
              <a:t>Animate all the blocks here in sync with the VO1.</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6 · 06_MAKE_SET.png</a:t>
            </a:r>
          </a:p>
        </p:txBody>
      </p:sp>
      <p:pic>
        <p:nvPicPr>
          <p:cNvPr id="3" name="Picture 2" descr="06_MAKE_SET.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13936" y="426007"/>
            <a:ext cx="3865288" cy="4955203"/>
          </a:xfrm>
          <a:prstGeom prst="rect">
            <a:avLst/>
          </a:prstGeom>
          <a:noFill/>
        </p:spPr>
        <p:txBody>
          <a:bodyPr wrap="square">
            <a:spAutoFit/>
          </a:bodyPr>
          <a:lstStyle/>
          <a:p>
            <a:r>
              <a:rPr sz="1600" b="1" dirty="0">
                <a:solidFill>
                  <a:srgbClr val="0B3D8C"/>
                </a:solidFill>
              </a:rPr>
              <a:t>Recommendations</a:t>
            </a:r>
          </a:p>
          <a:p>
            <a:pPr lvl="0" defTabSz="914400" eaLnBrk="0" fontAlgn="base" hangingPunct="0">
              <a:spcBef>
                <a:spcPct val="0"/>
              </a:spcBef>
              <a:spcAft>
                <a:spcPct val="0"/>
              </a:spcAft>
            </a:pPr>
            <a:r>
              <a:rPr lang="en-US" altLang="en-US" sz="1200" dirty="0"/>
              <a:t>Replace the entire slide content with the following:</a:t>
            </a:r>
          </a:p>
          <a:p>
            <a:pPr lvl="0" defTabSz="914400" eaLnBrk="0" fontAlgn="base" hangingPunct="0">
              <a:spcBef>
                <a:spcPct val="0"/>
              </a:spcBef>
              <a:spcAft>
                <a:spcPct val="0"/>
              </a:spcAft>
            </a:pPr>
            <a:r>
              <a:rPr lang="en-US" altLang="en-US" sz="1200" b="1" dirty="0"/>
              <a:t>Instruction:</a:t>
            </a:r>
            <a:r>
              <a:rPr lang="hi-IN" altLang="en-US" sz="1200" dirty="0"/>
              <a:t> संख्याएँ जोड़िए।</a:t>
            </a:r>
            <a:endParaRPr lang="en-US" altLang="en-US" sz="1200" dirty="0"/>
          </a:p>
          <a:p>
            <a:pPr lvl="0" defTabSz="914400" eaLnBrk="0" fontAlgn="base" hangingPunct="0">
              <a:spcBef>
                <a:spcPct val="0"/>
              </a:spcBef>
              <a:spcAft>
                <a:spcPct val="0"/>
              </a:spcAft>
            </a:pPr>
            <a:r>
              <a:rPr lang="en-US" altLang="en-US" sz="1200" b="1" dirty="0"/>
              <a:t>Equation:</a:t>
            </a:r>
            <a:r>
              <a:rPr lang="en-US" altLang="en-US" sz="1200" dirty="0"/>
              <a:t> </a:t>
            </a:r>
            <a:r>
              <a:rPr lang="en-US" altLang="en-US" sz="1200" b="1" dirty="0"/>
              <a:t>43 + 24 = ?</a:t>
            </a:r>
            <a:endParaRPr lang="en-US" altLang="en-US" sz="1200" dirty="0"/>
          </a:p>
          <a:p>
            <a:pPr lvl="0" defTabSz="914400" eaLnBrk="0" fontAlgn="base" hangingPunct="0">
              <a:spcBef>
                <a:spcPct val="0"/>
              </a:spcBef>
              <a:spcAft>
                <a:spcPct val="0"/>
              </a:spcAft>
            </a:pPr>
            <a:r>
              <a:rPr lang="en-US" sz="1200" dirty="0"/>
              <a:t>Show the PV tables with the numbers built using blocks one by one. </a:t>
            </a:r>
          </a:p>
          <a:p>
            <a:pPr lvl="0" defTabSz="914400" eaLnBrk="0" fontAlgn="base" hangingPunct="0">
              <a:spcBef>
                <a:spcPct val="0"/>
              </a:spcBef>
              <a:spcAft>
                <a:spcPct val="0"/>
              </a:spcAft>
            </a:pPr>
            <a:endParaRPr lang="en-US" altLang="en-US" sz="1200" dirty="0"/>
          </a:p>
          <a:p>
            <a:pPr lvl="0" defTabSz="914400" eaLnBrk="0" fontAlgn="base" hangingPunct="0">
              <a:spcBef>
                <a:spcPct val="0"/>
              </a:spcBef>
              <a:spcAft>
                <a:spcPct val="0"/>
              </a:spcAft>
            </a:pPr>
            <a:r>
              <a:rPr lang="en-US" altLang="en-US" sz="1200" b="1" dirty="0"/>
              <a:t>VO1:</a:t>
            </a:r>
            <a:r>
              <a:rPr lang="en-US" altLang="en-US" sz="1200" dirty="0"/>
              <a:t> 43</a:t>
            </a:r>
            <a:r>
              <a:rPr lang="hi-IN" altLang="en-US" sz="1200" dirty="0"/>
              <a:t> और </a:t>
            </a:r>
            <a:r>
              <a:rPr lang="en-US" altLang="en-US" sz="1200" dirty="0"/>
              <a:t>24</a:t>
            </a:r>
            <a:r>
              <a:rPr lang="hi-IN" altLang="en-US" sz="1200" dirty="0"/>
              <a:t> को जोड़िए।</a:t>
            </a:r>
            <a:r>
              <a:rPr lang="en-US" altLang="en-US" sz="1200" i="1" dirty="0"/>
              <a:t> [</a:t>
            </a:r>
            <a:r>
              <a:rPr lang="en-US" sz="1200" i="1" dirty="0"/>
              <a:t>Show a new PV table below. As the child taps each block, move it to the new PV table. If inactive for 7 seconds, pulsate all the blocks.]</a:t>
            </a:r>
          </a:p>
          <a:p>
            <a:pPr lvl="0" defTabSz="914400" eaLnBrk="0" fontAlgn="base" hangingPunct="0">
              <a:spcBef>
                <a:spcPct val="0"/>
              </a:spcBef>
              <a:spcAft>
                <a:spcPct val="0"/>
              </a:spcAft>
            </a:pPr>
            <a:endParaRPr lang="en-US" altLang="en-US" sz="1200" strike="sngStrike" dirty="0"/>
          </a:p>
          <a:p>
            <a:pPr lvl="0" defTabSz="914400" eaLnBrk="0" fontAlgn="base" hangingPunct="0">
              <a:spcBef>
                <a:spcPct val="0"/>
              </a:spcBef>
              <a:spcAft>
                <a:spcPct val="0"/>
              </a:spcAft>
            </a:pPr>
            <a:r>
              <a:rPr lang="en-US" altLang="en-US" sz="1200" b="1" dirty="0"/>
              <a:t>VO2:</a:t>
            </a:r>
            <a:r>
              <a:rPr lang="hi-IN" altLang="en-US" sz="1200" dirty="0"/>
              <a:t> बहुत बढ़िया</a:t>
            </a:r>
            <a:r>
              <a:rPr lang="en-US" altLang="en-US" sz="1200" dirty="0">
                <a:cs typeface="Mangal" panose="02040503050203030202" pitchFamily="18" charset="0"/>
              </a:rPr>
              <a:t>! </a:t>
            </a:r>
            <a:r>
              <a:rPr lang="hi-IN" altLang="en-US" sz="1200" dirty="0"/>
              <a:t>अब सही जोड़ चुनिए।</a:t>
            </a:r>
            <a:r>
              <a:rPr lang="en-US" altLang="en-US" sz="1200" dirty="0"/>
              <a:t> </a:t>
            </a:r>
            <a:r>
              <a:rPr lang="en-US" altLang="en-US" sz="1200" i="1" dirty="0"/>
              <a:t>[</a:t>
            </a:r>
            <a:r>
              <a:rPr lang="en-US" sz="1200" i="1" dirty="0"/>
              <a:t>Move the sum PV table to the center, replacing the first two PV tables and show the answer options.]</a:t>
            </a:r>
            <a:endParaRPr lang="hi-IN" altLang="en-US" sz="1200" i="1" dirty="0"/>
          </a:p>
          <a:p>
            <a:pPr lvl="0" defTabSz="914400" eaLnBrk="0" fontAlgn="base" hangingPunct="0">
              <a:spcBef>
                <a:spcPct val="0"/>
              </a:spcBef>
              <a:spcAft>
                <a:spcPct val="0"/>
              </a:spcAft>
            </a:pPr>
            <a:endParaRPr lang="en-US" altLang="en-US" sz="1200" dirty="0"/>
          </a:p>
          <a:p>
            <a:pPr lvl="0" defTabSz="914400" eaLnBrk="0" fontAlgn="base" hangingPunct="0">
              <a:spcBef>
                <a:spcPct val="0"/>
              </a:spcBef>
              <a:spcAft>
                <a:spcPct val="0"/>
              </a:spcAft>
            </a:pPr>
            <a:r>
              <a:rPr lang="en-US" altLang="en-US" sz="1200" b="1" dirty="0"/>
              <a:t>CR:</a:t>
            </a:r>
            <a:r>
              <a:rPr lang="hi-IN" altLang="en-US" sz="1200" dirty="0"/>
              <a:t> शाबाश</a:t>
            </a:r>
            <a:r>
              <a:rPr lang="en-US" altLang="en-US" sz="1200" dirty="0">
                <a:cs typeface="Mangal" panose="02040503050203030202" pitchFamily="18" charset="0"/>
              </a:rPr>
              <a:t>! </a:t>
            </a:r>
            <a:r>
              <a:rPr lang="en-US" altLang="en-US" sz="1200" dirty="0"/>
              <a:t>43</a:t>
            </a:r>
            <a:r>
              <a:rPr lang="hi-IN" altLang="en-US" sz="1200" dirty="0"/>
              <a:t> जोड़ </a:t>
            </a:r>
            <a:r>
              <a:rPr lang="en-US" altLang="en-US" sz="1200" dirty="0"/>
              <a:t>24</a:t>
            </a:r>
            <a:r>
              <a:rPr lang="hi-IN" altLang="en-US" sz="1200" dirty="0"/>
              <a:t> बराबर </a:t>
            </a:r>
            <a:r>
              <a:rPr lang="en-US" altLang="en-US" sz="1200" dirty="0"/>
              <a:t>67</a:t>
            </a:r>
          </a:p>
          <a:p>
            <a:pPr lvl="0" defTabSz="914400" eaLnBrk="0" fontAlgn="base" hangingPunct="0">
              <a:spcBef>
                <a:spcPct val="0"/>
              </a:spcBef>
              <a:spcAft>
                <a:spcPct val="0"/>
              </a:spcAft>
            </a:pPr>
            <a:r>
              <a:rPr lang="en-US" sz="1200" i="1" dirty="0"/>
              <a:t>[Move the correct answer option to the equation, replacing the </a:t>
            </a:r>
            <a:r>
              <a:rPr lang="en-US" sz="1200" b="1" i="1" dirty="0"/>
              <a:t>“?”</a:t>
            </a:r>
            <a:r>
              <a:rPr lang="en-US" sz="1200" i="1" dirty="0"/>
              <a:t> symbol.]</a:t>
            </a:r>
          </a:p>
          <a:p>
            <a:pPr lvl="0" defTabSz="914400" eaLnBrk="0" fontAlgn="base" hangingPunct="0">
              <a:spcBef>
                <a:spcPct val="0"/>
              </a:spcBef>
              <a:spcAft>
                <a:spcPct val="0"/>
              </a:spcAft>
            </a:pPr>
            <a:endParaRPr lang="hi-IN" altLang="en-US" sz="1200" dirty="0"/>
          </a:p>
          <a:p>
            <a:pPr lvl="0" defTabSz="914400" eaLnBrk="0" fontAlgn="base" hangingPunct="0">
              <a:spcBef>
                <a:spcPct val="0"/>
              </a:spcBef>
              <a:spcAft>
                <a:spcPct val="0"/>
              </a:spcAft>
            </a:pPr>
            <a:r>
              <a:rPr lang="en-US" altLang="en-US" sz="1200" b="1" dirty="0"/>
              <a:t>Feedback/hint</a:t>
            </a:r>
          </a:p>
          <a:p>
            <a:pPr lvl="0" defTabSz="914400" eaLnBrk="0" fontAlgn="base" hangingPunct="0">
              <a:spcBef>
                <a:spcPct val="0"/>
              </a:spcBef>
              <a:spcAft>
                <a:spcPct val="0"/>
              </a:spcAft>
            </a:pPr>
            <a:r>
              <a:rPr lang="en-US" altLang="en-US" sz="1200" b="1" dirty="0"/>
              <a:t>WA1:</a:t>
            </a:r>
            <a:r>
              <a:rPr lang="en-US" altLang="en-US" sz="1200" dirty="0"/>
              <a:t> Wiggle + VO: </a:t>
            </a:r>
            <a:r>
              <a:rPr lang="hi-IN" altLang="en-US" sz="1200" b="1" dirty="0"/>
              <a:t>ब्लॉक्स को गिनिए और सही जोड़ चुनिए।</a:t>
            </a:r>
            <a:endParaRPr lang="en-US" altLang="en-US" sz="1200" dirty="0"/>
          </a:p>
          <a:p>
            <a:pPr lvl="0" defTabSz="914400" eaLnBrk="0" fontAlgn="base" hangingPunct="0">
              <a:spcBef>
                <a:spcPct val="0"/>
              </a:spcBef>
              <a:spcAft>
                <a:spcPct val="0"/>
              </a:spcAft>
            </a:pPr>
            <a:r>
              <a:rPr lang="en-US" altLang="en-US" sz="1200" b="1" dirty="0"/>
              <a:t>WA2:</a:t>
            </a:r>
            <a:r>
              <a:rPr lang="en-US" altLang="en-US" sz="1200" dirty="0"/>
              <a:t> Wiggle + VO: </a:t>
            </a:r>
            <a:r>
              <a:rPr lang="hi-IN" altLang="en-US" sz="1200" b="1" dirty="0"/>
              <a:t>ध्यान से देखिए</a:t>
            </a:r>
            <a:r>
              <a:rPr lang="en-US" altLang="en-US" sz="1200" b="1" dirty="0">
                <a:cs typeface="Mangal" panose="02040503050203030202" pitchFamily="18" charset="0"/>
              </a:rPr>
              <a:t>, </a:t>
            </a:r>
            <a:r>
              <a:rPr lang="hi-IN" altLang="en-US" sz="1200" b="1" dirty="0"/>
              <a:t>कुल </a:t>
            </a:r>
            <a:r>
              <a:rPr lang="en-US" altLang="en-US" sz="1200" b="1" dirty="0">
                <a:cs typeface="Mangal" panose="02040503050203030202" pitchFamily="18" charset="0"/>
              </a:rPr>
              <a:t>6</a:t>
            </a:r>
            <a:r>
              <a:rPr lang="hi-IN" altLang="en-US" sz="1200" b="1" dirty="0"/>
              <a:t> दहाइयाँ और </a:t>
            </a:r>
            <a:r>
              <a:rPr lang="en-US" altLang="en-US" sz="1200" b="1" dirty="0">
                <a:cs typeface="Mangal" panose="02040503050203030202" pitchFamily="18" charset="0"/>
              </a:rPr>
              <a:t>7</a:t>
            </a:r>
            <a:r>
              <a:rPr lang="hi-IN" altLang="en-US" sz="1200" b="1" dirty="0"/>
              <a:t> इकाइयाँ हैं।</a:t>
            </a:r>
            <a:r>
              <a:rPr lang="en-US" altLang="en-US" sz="1200" b="1" dirty="0"/>
              <a:t> </a:t>
            </a:r>
            <a:r>
              <a:rPr lang="en-US" altLang="en-US" sz="1200" i="1" dirty="0"/>
              <a:t>[Highlight the blocks in sync with the VO]</a:t>
            </a:r>
          </a:p>
          <a:p>
            <a:pPr lvl="0" defTabSz="914400" eaLnBrk="0" fontAlgn="base" hangingPunct="0">
              <a:spcBef>
                <a:spcPct val="0"/>
              </a:spcBef>
              <a:spcAft>
                <a:spcPct val="0"/>
              </a:spcAft>
            </a:pPr>
            <a:r>
              <a:rPr lang="en-US" altLang="en-US" sz="1200" b="1" dirty="0"/>
              <a:t>WA3:</a:t>
            </a:r>
            <a:r>
              <a:rPr lang="en-US" altLang="en-US" sz="1200" dirty="0"/>
              <a:t> Wiggle + highlight the correct option + fade out the other options. </a:t>
            </a:r>
          </a:p>
        </p:txBody>
      </p:sp>
      <p:sp>
        <p:nvSpPr>
          <p:cNvPr id="6" name="TextBox 5">
            <a:extLst>
              <a:ext uri="{FF2B5EF4-FFF2-40B4-BE49-F238E27FC236}">
                <a16:creationId xmlns:a16="http://schemas.microsoft.com/office/drawing/2014/main" id="{4632AA71-0FEB-5E7E-A757-FD8F0CF65493}"/>
              </a:ext>
            </a:extLst>
          </p:cNvPr>
          <p:cNvSpPr txBox="1"/>
          <p:nvPr/>
        </p:nvSpPr>
        <p:spPr>
          <a:xfrm>
            <a:off x="1422921" y="1049774"/>
            <a:ext cx="1991106" cy="369332"/>
          </a:xfrm>
          <a:prstGeom prst="rect">
            <a:avLst/>
          </a:prstGeom>
          <a:solidFill>
            <a:schemeClr val="accent1">
              <a:lumMod val="20000"/>
              <a:lumOff val="80000"/>
            </a:schemeClr>
          </a:solidFill>
        </p:spPr>
        <p:txBody>
          <a:bodyPr wrap="square">
            <a:spAutoFit/>
          </a:bodyPr>
          <a:lstStyle/>
          <a:p>
            <a:r>
              <a:rPr lang="hi-IN" sz="1800" dirty="0">
                <a:solidFill>
                  <a:srgbClr val="1B2A44"/>
                </a:solidFill>
              </a:rPr>
              <a:t>संख्याएं जोड़िए</a:t>
            </a:r>
          </a:p>
        </p:txBody>
      </p:sp>
      <p:graphicFrame>
        <p:nvGraphicFramePr>
          <p:cNvPr id="7" name="Table 6">
            <a:extLst>
              <a:ext uri="{FF2B5EF4-FFF2-40B4-BE49-F238E27FC236}">
                <a16:creationId xmlns:a16="http://schemas.microsoft.com/office/drawing/2014/main" id="{85A944A2-A9A6-7742-7C9F-9A7DDAB7BCCA}"/>
              </a:ext>
            </a:extLst>
          </p:cNvPr>
          <p:cNvGraphicFramePr>
            <a:graphicFrameLocks noGrp="1"/>
          </p:cNvGraphicFramePr>
          <p:nvPr>
            <p:extLst>
              <p:ext uri="{D42A27DB-BD31-4B8C-83A1-F6EECF244321}">
                <p14:modId xmlns:p14="http://schemas.microsoft.com/office/powerpoint/2010/main" val="2943699042"/>
              </p:ext>
            </p:extLst>
          </p:nvPr>
        </p:nvGraphicFramePr>
        <p:xfrm>
          <a:off x="843284"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graphicFrame>
        <p:nvGraphicFramePr>
          <p:cNvPr id="9" name="Table 8">
            <a:extLst>
              <a:ext uri="{FF2B5EF4-FFF2-40B4-BE49-F238E27FC236}">
                <a16:creationId xmlns:a16="http://schemas.microsoft.com/office/drawing/2014/main" id="{DBBB4882-AC64-1273-1091-166820894A35}"/>
              </a:ext>
            </a:extLst>
          </p:cNvPr>
          <p:cNvGraphicFramePr>
            <a:graphicFrameLocks noGrp="1"/>
          </p:cNvGraphicFramePr>
          <p:nvPr>
            <p:extLst>
              <p:ext uri="{D42A27DB-BD31-4B8C-83A1-F6EECF244321}">
                <p14:modId xmlns:p14="http://schemas.microsoft.com/office/powerpoint/2010/main" val="1114932163"/>
              </p:ext>
            </p:extLst>
          </p:nvPr>
        </p:nvGraphicFramePr>
        <p:xfrm>
          <a:off x="4445002"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sz="1200" dirty="0"/>
                    </a:p>
                  </a:txBody>
                  <a:tcPr>
                    <a:solidFill>
                      <a:schemeClr val="accent5">
                        <a:lumMod val="20000"/>
                        <a:lumOff val="80000"/>
                      </a:schemeClr>
                    </a:solidFill>
                  </a:tcPr>
                </a:tc>
                <a:tc>
                  <a:txBody>
                    <a:bodyPr/>
                    <a:lstStyle/>
                    <a:p>
                      <a:endParaRPr lang="en-IN" sz="1200"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10" name="Picture 9" descr="A green rectangular object with black background&#10;&#10;AI-generated content may be incorrect.">
            <a:extLst>
              <a:ext uri="{FF2B5EF4-FFF2-40B4-BE49-F238E27FC236}">
                <a16:creationId xmlns:a16="http://schemas.microsoft.com/office/drawing/2014/main" id="{31531D66-23BF-9CD6-802F-53FE5A84EF0E}"/>
              </a:ext>
            </a:extLst>
          </p:cNvPr>
          <p:cNvPicPr>
            <a:picLocks noChangeAspect="1"/>
          </p:cNvPicPr>
          <p:nvPr/>
        </p:nvPicPr>
        <p:blipFill>
          <a:blip r:embed="rId3"/>
          <a:srcRect l="32916" r="35816"/>
          <a:stretch>
            <a:fillRect/>
          </a:stretch>
        </p:blipFill>
        <p:spPr>
          <a:xfrm>
            <a:off x="1176261" y="2848936"/>
            <a:ext cx="246660" cy="1183319"/>
          </a:xfrm>
          <a:prstGeom prst="rect">
            <a:avLst/>
          </a:prstGeom>
        </p:spPr>
      </p:pic>
      <p:sp>
        <p:nvSpPr>
          <p:cNvPr id="11" name="Rectangle: Rounded Corners 10">
            <a:extLst>
              <a:ext uri="{FF2B5EF4-FFF2-40B4-BE49-F238E27FC236}">
                <a16:creationId xmlns:a16="http://schemas.microsoft.com/office/drawing/2014/main" id="{E27357D1-08E6-13D0-6866-5F16B35F4A36}"/>
              </a:ext>
            </a:extLst>
          </p:cNvPr>
          <p:cNvSpPr/>
          <p:nvPr/>
        </p:nvSpPr>
        <p:spPr>
          <a:xfrm>
            <a:off x="2928979" y="1504769"/>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43  +  24  =  ?</a:t>
            </a:r>
            <a:endParaRPr lang="en-IN" sz="3200" b="1" dirty="0"/>
          </a:p>
        </p:txBody>
      </p:sp>
      <p:pic>
        <p:nvPicPr>
          <p:cNvPr id="12" name="Picture 11" descr="A green rectangular object with black background&#10;&#10;AI-generated content may be incorrect.">
            <a:extLst>
              <a:ext uri="{FF2B5EF4-FFF2-40B4-BE49-F238E27FC236}">
                <a16:creationId xmlns:a16="http://schemas.microsoft.com/office/drawing/2014/main" id="{0DCB00D4-F995-0FA3-C6D0-5EA85E0466F2}"/>
              </a:ext>
            </a:extLst>
          </p:cNvPr>
          <p:cNvPicPr>
            <a:picLocks noChangeAspect="1"/>
          </p:cNvPicPr>
          <p:nvPr/>
        </p:nvPicPr>
        <p:blipFill>
          <a:blip r:embed="rId3"/>
          <a:srcRect l="32916" r="35816"/>
          <a:stretch>
            <a:fillRect/>
          </a:stretch>
        </p:blipFill>
        <p:spPr>
          <a:xfrm>
            <a:off x="1373366" y="2860532"/>
            <a:ext cx="246660" cy="1183319"/>
          </a:xfrm>
          <a:prstGeom prst="rect">
            <a:avLst/>
          </a:prstGeom>
        </p:spPr>
      </p:pic>
      <p:pic>
        <p:nvPicPr>
          <p:cNvPr id="13" name="Picture 12" descr="A green rectangular object with black background&#10;&#10;AI-generated content may be incorrect.">
            <a:extLst>
              <a:ext uri="{FF2B5EF4-FFF2-40B4-BE49-F238E27FC236}">
                <a16:creationId xmlns:a16="http://schemas.microsoft.com/office/drawing/2014/main" id="{2DB87B95-BA99-DB64-53F6-696B0F5316E6}"/>
              </a:ext>
            </a:extLst>
          </p:cNvPr>
          <p:cNvPicPr>
            <a:picLocks noChangeAspect="1"/>
          </p:cNvPicPr>
          <p:nvPr/>
        </p:nvPicPr>
        <p:blipFill>
          <a:blip r:embed="rId3"/>
          <a:srcRect l="32916" r="35816"/>
          <a:stretch>
            <a:fillRect/>
          </a:stretch>
        </p:blipFill>
        <p:spPr>
          <a:xfrm>
            <a:off x="1583178" y="2848937"/>
            <a:ext cx="246660" cy="1183319"/>
          </a:xfrm>
          <a:prstGeom prst="rect">
            <a:avLst/>
          </a:prstGeom>
        </p:spPr>
      </p:pic>
      <p:pic>
        <p:nvPicPr>
          <p:cNvPr id="14" name="Picture 13" descr="A green rectangular object with black background&#10;&#10;AI-generated content may be incorrect.">
            <a:extLst>
              <a:ext uri="{FF2B5EF4-FFF2-40B4-BE49-F238E27FC236}">
                <a16:creationId xmlns:a16="http://schemas.microsoft.com/office/drawing/2014/main" id="{9BBB0F1A-84A5-44C2-0ED2-C3E8D86A1C90}"/>
              </a:ext>
            </a:extLst>
          </p:cNvPr>
          <p:cNvPicPr>
            <a:picLocks noChangeAspect="1"/>
          </p:cNvPicPr>
          <p:nvPr/>
        </p:nvPicPr>
        <p:blipFill>
          <a:blip r:embed="rId3"/>
          <a:srcRect l="32916" r="35816"/>
          <a:stretch>
            <a:fillRect/>
          </a:stretch>
        </p:blipFill>
        <p:spPr>
          <a:xfrm>
            <a:off x="1780803" y="2848935"/>
            <a:ext cx="246660" cy="1183319"/>
          </a:xfrm>
          <a:prstGeom prst="rect">
            <a:avLst/>
          </a:prstGeom>
        </p:spPr>
      </p:pic>
      <p:pic>
        <p:nvPicPr>
          <p:cNvPr id="15" name="Picture 14" descr="A green rectangular object with black background&#10;&#10;AI-generated content may be incorrect.">
            <a:extLst>
              <a:ext uri="{FF2B5EF4-FFF2-40B4-BE49-F238E27FC236}">
                <a16:creationId xmlns:a16="http://schemas.microsoft.com/office/drawing/2014/main" id="{A3B605CB-2C64-3A77-A4C9-28AFC2C8E7DE}"/>
              </a:ext>
            </a:extLst>
          </p:cNvPr>
          <p:cNvPicPr>
            <a:picLocks noChangeAspect="1"/>
          </p:cNvPicPr>
          <p:nvPr/>
        </p:nvPicPr>
        <p:blipFill>
          <a:blip r:embed="rId3"/>
          <a:srcRect l="32916" r="35816"/>
          <a:stretch>
            <a:fillRect/>
          </a:stretch>
        </p:blipFill>
        <p:spPr>
          <a:xfrm>
            <a:off x="5037803" y="2848937"/>
            <a:ext cx="246660" cy="1183319"/>
          </a:xfrm>
          <a:prstGeom prst="rect">
            <a:avLst/>
          </a:prstGeom>
        </p:spPr>
      </p:pic>
      <p:pic>
        <p:nvPicPr>
          <p:cNvPr id="16" name="Picture 15" descr="A green rectangular object with black background&#10;&#10;AI-generated content may be incorrect.">
            <a:extLst>
              <a:ext uri="{FF2B5EF4-FFF2-40B4-BE49-F238E27FC236}">
                <a16:creationId xmlns:a16="http://schemas.microsoft.com/office/drawing/2014/main" id="{0D0DB59E-12F7-5318-0CBA-46BA13283A84}"/>
              </a:ext>
            </a:extLst>
          </p:cNvPr>
          <p:cNvPicPr>
            <a:picLocks noChangeAspect="1"/>
          </p:cNvPicPr>
          <p:nvPr/>
        </p:nvPicPr>
        <p:blipFill>
          <a:blip r:embed="rId3"/>
          <a:srcRect l="32916" r="35816"/>
          <a:stretch>
            <a:fillRect/>
          </a:stretch>
        </p:blipFill>
        <p:spPr>
          <a:xfrm>
            <a:off x="5257904" y="2848937"/>
            <a:ext cx="246660" cy="1183319"/>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DAD38A0B-BD17-8D0E-B713-1F537D30150B}"/>
              </a:ext>
            </a:extLst>
          </p:cNvPr>
          <p:cNvPicPr>
            <a:picLocks noChangeAspect="1"/>
          </p:cNvPicPr>
          <p:nvPr/>
        </p:nvPicPr>
        <p:blipFill>
          <a:blip r:embed="rId4"/>
          <a:stretch>
            <a:fillRect/>
          </a:stretch>
        </p:blipFill>
        <p:spPr>
          <a:xfrm>
            <a:off x="6458488" y="3321339"/>
            <a:ext cx="258386" cy="215322"/>
          </a:xfrm>
          <a:prstGeom prst="rect">
            <a:avLst/>
          </a:prstGeom>
        </p:spPr>
      </p:pic>
      <p:pic>
        <p:nvPicPr>
          <p:cNvPr id="18" name="Picture 17" descr="A yellow cube with black background&#10;&#10;AI-generated content may be incorrect.">
            <a:extLst>
              <a:ext uri="{FF2B5EF4-FFF2-40B4-BE49-F238E27FC236}">
                <a16:creationId xmlns:a16="http://schemas.microsoft.com/office/drawing/2014/main" id="{18807A5D-AE68-0F38-14BB-CB519D85F488}"/>
              </a:ext>
            </a:extLst>
          </p:cNvPr>
          <p:cNvPicPr>
            <a:picLocks noChangeAspect="1"/>
          </p:cNvPicPr>
          <p:nvPr/>
        </p:nvPicPr>
        <p:blipFill>
          <a:blip r:embed="rId4"/>
          <a:stretch>
            <a:fillRect/>
          </a:stretch>
        </p:blipFill>
        <p:spPr>
          <a:xfrm>
            <a:off x="6671289" y="3321339"/>
            <a:ext cx="258386" cy="215322"/>
          </a:xfrm>
          <a:prstGeom prst="rect">
            <a:avLst/>
          </a:prstGeom>
        </p:spPr>
      </p:pic>
      <p:pic>
        <p:nvPicPr>
          <p:cNvPr id="19" name="Picture 18" descr="A yellow cube with black background&#10;&#10;AI-generated content may be incorrect.">
            <a:extLst>
              <a:ext uri="{FF2B5EF4-FFF2-40B4-BE49-F238E27FC236}">
                <a16:creationId xmlns:a16="http://schemas.microsoft.com/office/drawing/2014/main" id="{2ED6D0B9-AF7D-B128-D6C8-5810AF437EEB}"/>
              </a:ext>
            </a:extLst>
          </p:cNvPr>
          <p:cNvPicPr>
            <a:picLocks noChangeAspect="1"/>
          </p:cNvPicPr>
          <p:nvPr/>
        </p:nvPicPr>
        <p:blipFill>
          <a:blip r:embed="rId4"/>
          <a:stretch>
            <a:fillRect/>
          </a:stretch>
        </p:blipFill>
        <p:spPr>
          <a:xfrm>
            <a:off x="6884090" y="3321339"/>
            <a:ext cx="258386" cy="215322"/>
          </a:xfrm>
          <a:prstGeom prst="rect">
            <a:avLst/>
          </a:prstGeom>
        </p:spPr>
      </p:pic>
      <p:pic>
        <p:nvPicPr>
          <p:cNvPr id="20" name="Picture 19" descr="A yellow cube with black background&#10;&#10;AI-generated content may be incorrect.">
            <a:extLst>
              <a:ext uri="{FF2B5EF4-FFF2-40B4-BE49-F238E27FC236}">
                <a16:creationId xmlns:a16="http://schemas.microsoft.com/office/drawing/2014/main" id="{C0F3455C-EBFD-6288-0AE4-7144AA1F0753}"/>
              </a:ext>
            </a:extLst>
          </p:cNvPr>
          <p:cNvPicPr>
            <a:picLocks noChangeAspect="1"/>
          </p:cNvPicPr>
          <p:nvPr/>
        </p:nvPicPr>
        <p:blipFill>
          <a:blip r:embed="rId4"/>
          <a:stretch>
            <a:fillRect/>
          </a:stretch>
        </p:blipFill>
        <p:spPr>
          <a:xfrm>
            <a:off x="7092796" y="3321339"/>
            <a:ext cx="258386" cy="215322"/>
          </a:xfrm>
          <a:prstGeom prst="rect">
            <a:avLst/>
          </a:prstGeom>
        </p:spPr>
      </p:pic>
      <p:pic>
        <p:nvPicPr>
          <p:cNvPr id="21" name="Picture 20" descr="A yellow cube with black background&#10;&#10;AI-generated content may be incorrect.">
            <a:extLst>
              <a:ext uri="{FF2B5EF4-FFF2-40B4-BE49-F238E27FC236}">
                <a16:creationId xmlns:a16="http://schemas.microsoft.com/office/drawing/2014/main" id="{C45DDB10-2E4F-A524-9860-EDEE8F591988}"/>
              </a:ext>
            </a:extLst>
          </p:cNvPr>
          <p:cNvPicPr>
            <a:picLocks noChangeAspect="1"/>
          </p:cNvPicPr>
          <p:nvPr/>
        </p:nvPicPr>
        <p:blipFill>
          <a:blip r:embed="rId4"/>
          <a:stretch>
            <a:fillRect/>
          </a:stretch>
        </p:blipFill>
        <p:spPr>
          <a:xfrm>
            <a:off x="2879342" y="3321339"/>
            <a:ext cx="258386" cy="215322"/>
          </a:xfrm>
          <a:prstGeom prst="rect">
            <a:avLst/>
          </a:prstGeom>
        </p:spPr>
      </p:pic>
      <p:pic>
        <p:nvPicPr>
          <p:cNvPr id="22" name="Picture 21" descr="A yellow cube with black background&#10;&#10;AI-generated content may be incorrect.">
            <a:extLst>
              <a:ext uri="{FF2B5EF4-FFF2-40B4-BE49-F238E27FC236}">
                <a16:creationId xmlns:a16="http://schemas.microsoft.com/office/drawing/2014/main" id="{C86CADE2-D441-A505-7E2A-62C47C04D36A}"/>
              </a:ext>
            </a:extLst>
          </p:cNvPr>
          <p:cNvPicPr>
            <a:picLocks noChangeAspect="1"/>
          </p:cNvPicPr>
          <p:nvPr/>
        </p:nvPicPr>
        <p:blipFill>
          <a:blip r:embed="rId4"/>
          <a:stretch>
            <a:fillRect/>
          </a:stretch>
        </p:blipFill>
        <p:spPr>
          <a:xfrm>
            <a:off x="3092143" y="3321339"/>
            <a:ext cx="258386" cy="215322"/>
          </a:xfrm>
          <a:prstGeom prst="rect">
            <a:avLst/>
          </a:prstGeom>
        </p:spPr>
      </p:pic>
      <p:pic>
        <p:nvPicPr>
          <p:cNvPr id="23" name="Picture 22" descr="A yellow cube with black background&#10;&#10;AI-generated content may be incorrect.">
            <a:extLst>
              <a:ext uri="{FF2B5EF4-FFF2-40B4-BE49-F238E27FC236}">
                <a16:creationId xmlns:a16="http://schemas.microsoft.com/office/drawing/2014/main" id="{0E92C2D4-00B6-72A1-E4E6-4AF27DF41203}"/>
              </a:ext>
            </a:extLst>
          </p:cNvPr>
          <p:cNvPicPr>
            <a:picLocks noChangeAspect="1"/>
          </p:cNvPicPr>
          <p:nvPr/>
        </p:nvPicPr>
        <p:blipFill>
          <a:blip r:embed="rId4"/>
          <a:stretch>
            <a:fillRect/>
          </a:stretch>
        </p:blipFill>
        <p:spPr>
          <a:xfrm>
            <a:off x="3304944" y="3321339"/>
            <a:ext cx="258386" cy="215322"/>
          </a:xfrm>
          <a:prstGeom prst="rect">
            <a:avLst/>
          </a:prstGeom>
        </p:spPr>
      </p:pic>
      <p:sp>
        <p:nvSpPr>
          <p:cNvPr id="25" name="Rectangle: Rounded Corners 24">
            <a:extLst>
              <a:ext uri="{FF2B5EF4-FFF2-40B4-BE49-F238E27FC236}">
                <a16:creationId xmlns:a16="http://schemas.microsoft.com/office/drawing/2014/main" id="{3B550DD0-7960-9392-6690-FEC0F01442CB}"/>
              </a:ext>
            </a:extLst>
          </p:cNvPr>
          <p:cNvSpPr/>
          <p:nvPr/>
        </p:nvSpPr>
        <p:spPr>
          <a:xfrm>
            <a:off x="1620814" y="583076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76</a:t>
            </a:r>
            <a:endParaRPr lang="en-IN" sz="4000" b="1" dirty="0"/>
          </a:p>
        </p:txBody>
      </p:sp>
      <p:sp>
        <p:nvSpPr>
          <p:cNvPr id="26" name="Rectangle: Rounded Corners 25">
            <a:extLst>
              <a:ext uri="{FF2B5EF4-FFF2-40B4-BE49-F238E27FC236}">
                <a16:creationId xmlns:a16="http://schemas.microsoft.com/office/drawing/2014/main" id="{90F40D08-371F-6407-3A60-2C0B973F3F5E}"/>
              </a:ext>
            </a:extLst>
          </p:cNvPr>
          <p:cNvSpPr/>
          <p:nvPr/>
        </p:nvSpPr>
        <p:spPr>
          <a:xfrm>
            <a:off x="3710310" y="5830759"/>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47</a:t>
            </a:r>
            <a:endParaRPr lang="en-IN" sz="4000" b="1" dirty="0"/>
          </a:p>
        </p:txBody>
      </p:sp>
      <p:sp>
        <p:nvSpPr>
          <p:cNvPr id="27" name="Rectangle: Rounded Corners 26">
            <a:extLst>
              <a:ext uri="{FF2B5EF4-FFF2-40B4-BE49-F238E27FC236}">
                <a16:creationId xmlns:a16="http://schemas.microsoft.com/office/drawing/2014/main" id="{81BE4C96-4267-2229-B1AE-FA0C361E0F94}"/>
              </a:ext>
            </a:extLst>
          </p:cNvPr>
          <p:cNvSpPr/>
          <p:nvPr/>
        </p:nvSpPr>
        <p:spPr>
          <a:xfrm>
            <a:off x="5727009" y="583076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67</a:t>
            </a:r>
            <a:endParaRPr lang="en-IN" sz="4000" b="1" dirty="0"/>
          </a:p>
        </p:txBody>
      </p:sp>
      <p:sp>
        <p:nvSpPr>
          <p:cNvPr id="5" name="TextBox 11">
            <a:extLst>
              <a:ext uri="{FF2B5EF4-FFF2-40B4-BE49-F238E27FC236}">
                <a16:creationId xmlns:a16="http://schemas.microsoft.com/office/drawing/2014/main" id="{66CD6C6B-904B-F1BF-B421-871D476A660A}"/>
              </a:ext>
            </a:extLst>
          </p:cNvPr>
          <p:cNvSpPr txBox="1"/>
          <p:nvPr/>
        </p:nvSpPr>
        <p:spPr>
          <a:xfrm>
            <a:off x="4114800" y="3092739"/>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graphicFrame>
        <p:nvGraphicFramePr>
          <p:cNvPr id="8" name="Table 7">
            <a:extLst>
              <a:ext uri="{FF2B5EF4-FFF2-40B4-BE49-F238E27FC236}">
                <a16:creationId xmlns:a16="http://schemas.microsoft.com/office/drawing/2014/main" id="{6376E7CE-081F-3705-DBB7-8DE70559CCA8}"/>
              </a:ext>
            </a:extLst>
          </p:cNvPr>
          <p:cNvGraphicFramePr>
            <a:graphicFrameLocks noGrp="1"/>
          </p:cNvGraphicFramePr>
          <p:nvPr>
            <p:extLst>
              <p:ext uri="{D42A27DB-BD31-4B8C-83A1-F6EECF244321}">
                <p14:modId xmlns:p14="http://schemas.microsoft.com/office/powerpoint/2010/main" val="1439212905"/>
              </p:ext>
            </p:extLst>
          </p:nvPr>
        </p:nvGraphicFramePr>
        <p:xfrm>
          <a:off x="2560401" y="4326540"/>
          <a:ext cx="3383118" cy="1214431"/>
        </p:xfrm>
        <a:graphic>
          <a:graphicData uri="http://schemas.openxmlformats.org/drawingml/2006/table">
            <a:tbl>
              <a:tblPr firstRow="1" bandRow="1">
                <a:tableStyleId>{5C22544A-7EE6-4342-B048-85BDC9FD1C3A}</a:tableStyleId>
              </a:tblPr>
              <a:tblGrid>
                <a:gridCol w="1691559">
                  <a:extLst>
                    <a:ext uri="{9D8B030D-6E8A-4147-A177-3AD203B41FA5}">
                      <a16:colId xmlns:a16="http://schemas.microsoft.com/office/drawing/2014/main" val="1758657152"/>
                    </a:ext>
                  </a:extLst>
                </a:gridCol>
                <a:gridCol w="1691559">
                  <a:extLst>
                    <a:ext uri="{9D8B030D-6E8A-4147-A177-3AD203B41FA5}">
                      <a16:colId xmlns:a16="http://schemas.microsoft.com/office/drawing/2014/main" val="4045408627"/>
                    </a:ext>
                  </a:extLst>
                </a:gridCol>
              </a:tblGrid>
              <a:tr h="243208">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940111">
                <a:tc>
                  <a:txBody>
                    <a:bodyPr/>
                    <a:lstStyle/>
                    <a:p>
                      <a:endParaRPr lang="en-IN" sz="1200" dirty="0"/>
                    </a:p>
                  </a:txBody>
                  <a:tcPr>
                    <a:solidFill>
                      <a:schemeClr val="accent5">
                        <a:lumMod val="20000"/>
                        <a:lumOff val="80000"/>
                      </a:schemeClr>
                    </a:solidFill>
                  </a:tcPr>
                </a:tc>
                <a:tc>
                  <a:txBody>
                    <a:bodyPr/>
                    <a:lstStyle/>
                    <a:p>
                      <a:endParaRPr lang="en-IN" sz="1200"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7 · 07_CONSERVE_COUNT.png</a:t>
            </a:r>
          </a:p>
        </p:txBody>
      </p:sp>
      <p:pic>
        <p:nvPicPr>
          <p:cNvPr id="3" name="Picture 2" descr="07_CONSERVE_COUNT.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121178" y="518340"/>
            <a:ext cx="3903359" cy="4955203"/>
          </a:xfrm>
          <a:prstGeom prst="rect">
            <a:avLst/>
          </a:prstGeom>
          <a:noFill/>
        </p:spPr>
        <p:txBody>
          <a:bodyPr wrap="square">
            <a:spAutoFit/>
          </a:bodyPr>
          <a:lstStyle/>
          <a:p>
            <a:r>
              <a:rPr sz="1600" b="1" dirty="0">
                <a:solidFill>
                  <a:srgbClr val="0B3D8C"/>
                </a:solidFill>
              </a:rPr>
              <a:t>Recommendations</a:t>
            </a:r>
          </a:p>
          <a:p>
            <a:pPr lvl="0" defTabSz="914400" eaLnBrk="0" fontAlgn="base" hangingPunct="0">
              <a:spcBef>
                <a:spcPct val="0"/>
              </a:spcBef>
              <a:spcAft>
                <a:spcPct val="0"/>
              </a:spcAft>
            </a:pPr>
            <a:r>
              <a:rPr lang="en-US" altLang="en-US" sz="1200" dirty="0"/>
              <a:t>Replace the entire slide content with the following:</a:t>
            </a:r>
          </a:p>
          <a:p>
            <a:pPr lvl="0" defTabSz="914400" eaLnBrk="0" fontAlgn="base" hangingPunct="0">
              <a:spcBef>
                <a:spcPct val="0"/>
              </a:spcBef>
              <a:spcAft>
                <a:spcPct val="0"/>
              </a:spcAft>
            </a:pPr>
            <a:r>
              <a:rPr lang="en-US" altLang="en-US" sz="1200" b="1" dirty="0"/>
              <a:t>Instruction:</a:t>
            </a:r>
            <a:r>
              <a:rPr lang="hi-IN" altLang="en-US" sz="1200" dirty="0"/>
              <a:t> संख्याएँ जोड़िए।</a:t>
            </a:r>
            <a:endParaRPr lang="en-US" altLang="en-US" sz="1200" dirty="0"/>
          </a:p>
          <a:p>
            <a:pPr lvl="0" defTabSz="914400" eaLnBrk="0" fontAlgn="base" hangingPunct="0">
              <a:spcBef>
                <a:spcPct val="0"/>
              </a:spcBef>
              <a:spcAft>
                <a:spcPct val="0"/>
              </a:spcAft>
            </a:pPr>
            <a:r>
              <a:rPr lang="en-US" altLang="en-US" sz="1200" b="1" dirty="0"/>
              <a:t>Equation:</a:t>
            </a:r>
            <a:r>
              <a:rPr lang="en-US" altLang="en-US" sz="1200" dirty="0"/>
              <a:t> </a:t>
            </a:r>
            <a:r>
              <a:rPr lang="en-US" altLang="en-US" sz="1200" b="1" dirty="0"/>
              <a:t>30 + 25 = ?</a:t>
            </a:r>
            <a:endParaRPr lang="en-US" altLang="en-US" sz="1200" dirty="0"/>
          </a:p>
          <a:p>
            <a:pPr lvl="0" defTabSz="914400" eaLnBrk="0" fontAlgn="base" hangingPunct="0">
              <a:spcBef>
                <a:spcPct val="0"/>
              </a:spcBef>
              <a:spcAft>
                <a:spcPct val="0"/>
              </a:spcAft>
            </a:pPr>
            <a:r>
              <a:rPr lang="en-US" sz="1200" dirty="0"/>
              <a:t>Show the PV tables with the numbers built using blocks one by one. </a:t>
            </a:r>
          </a:p>
          <a:p>
            <a:pPr lvl="0" defTabSz="914400" eaLnBrk="0" fontAlgn="base" hangingPunct="0">
              <a:spcBef>
                <a:spcPct val="0"/>
              </a:spcBef>
              <a:spcAft>
                <a:spcPct val="0"/>
              </a:spcAft>
            </a:pPr>
            <a:endParaRPr lang="en-US" altLang="en-US" sz="1200" dirty="0"/>
          </a:p>
          <a:p>
            <a:pPr defTabSz="914400" eaLnBrk="0" fontAlgn="base" hangingPunct="0">
              <a:spcBef>
                <a:spcPct val="0"/>
              </a:spcBef>
              <a:spcAft>
                <a:spcPct val="0"/>
              </a:spcAft>
            </a:pPr>
            <a:r>
              <a:rPr lang="en-US" altLang="en-US" sz="1200" b="1" dirty="0"/>
              <a:t>VO1:</a:t>
            </a:r>
            <a:r>
              <a:rPr lang="en-US" altLang="en-US" sz="1200" dirty="0"/>
              <a:t> 30</a:t>
            </a:r>
            <a:r>
              <a:rPr lang="hi-IN" altLang="en-US" sz="1200" dirty="0"/>
              <a:t> और </a:t>
            </a:r>
            <a:r>
              <a:rPr lang="en-US" altLang="en-US" sz="1200" dirty="0"/>
              <a:t>25</a:t>
            </a:r>
            <a:r>
              <a:rPr lang="hi-IN" altLang="en-US" sz="1200" dirty="0"/>
              <a:t> को जोड़िए।</a:t>
            </a:r>
            <a:r>
              <a:rPr lang="en-US" altLang="en-US" sz="1200" i="1" dirty="0"/>
              <a:t>[</a:t>
            </a:r>
            <a:r>
              <a:rPr lang="en-US" sz="1200" i="1" dirty="0"/>
              <a:t>Show a new PV table below. As the child taps each block, move it to the new PV table. If inactive for 7 seconds, pulsate all the blocks.]</a:t>
            </a:r>
            <a:endParaRPr lang="en-US" altLang="en-US" sz="1200" dirty="0"/>
          </a:p>
          <a:p>
            <a:pPr lvl="0" defTabSz="914400" eaLnBrk="0" fontAlgn="base" hangingPunct="0">
              <a:spcBef>
                <a:spcPct val="0"/>
              </a:spcBef>
              <a:spcAft>
                <a:spcPct val="0"/>
              </a:spcAft>
            </a:pPr>
            <a:endParaRPr lang="en-US" altLang="en-US" sz="1200" strike="sngStrike" dirty="0"/>
          </a:p>
          <a:p>
            <a:pPr defTabSz="914400" eaLnBrk="0" fontAlgn="base" hangingPunct="0">
              <a:spcBef>
                <a:spcPct val="0"/>
              </a:spcBef>
              <a:spcAft>
                <a:spcPct val="0"/>
              </a:spcAft>
            </a:pPr>
            <a:r>
              <a:rPr lang="en-US" altLang="en-US" sz="1200" b="1" dirty="0"/>
              <a:t>VO2:</a:t>
            </a:r>
            <a:r>
              <a:rPr lang="hi-IN" altLang="en-US" sz="1200" dirty="0"/>
              <a:t> बहुत बढ़िया</a:t>
            </a:r>
            <a:r>
              <a:rPr lang="en-US" altLang="en-US" sz="1200" dirty="0">
                <a:cs typeface="Mangal" panose="02040503050203030202" pitchFamily="18" charset="0"/>
              </a:rPr>
              <a:t>! </a:t>
            </a:r>
            <a:r>
              <a:rPr lang="hi-IN" altLang="en-US" sz="1200" dirty="0"/>
              <a:t>अब सही जोड़ चुनिए।</a:t>
            </a:r>
            <a:r>
              <a:rPr lang="en-US" altLang="en-US" sz="1200" dirty="0"/>
              <a:t> </a:t>
            </a:r>
            <a:r>
              <a:rPr lang="en-US" altLang="en-US" sz="1200" i="1" dirty="0"/>
              <a:t>[</a:t>
            </a:r>
            <a:r>
              <a:rPr lang="en-US" sz="1200" i="1" dirty="0"/>
              <a:t>Move the sum PV table to the center, replacing the first two PV tables and show the answer options.]</a:t>
            </a:r>
            <a:endParaRPr lang="hi-IN" altLang="en-US" sz="1200" dirty="0"/>
          </a:p>
          <a:p>
            <a:pPr lvl="0" defTabSz="914400" eaLnBrk="0" fontAlgn="base" hangingPunct="0">
              <a:spcBef>
                <a:spcPct val="0"/>
              </a:spcBef>
              <a:spcAft>
                <a:spcPct val="0"/>
              </a:spcAft>
            </a:pPr>
            <a:endParaRPr lang="en-US" altLang="en-US" sz="1200" dirty="0"/>
          </a:p>
          <a:p>
            <a:pPr lvl="0" defTabSz="914400" eaLnBrk="0" fontAlgn="base" hangingPunct="0">
              <a:spcBef>
                <a:spcPct val="0"/>
              </a:spcBef>
              <a:spcAft>
                <a:spcPct val="0"/>
              </a:spcAft>
            </a:pPr>
            <a:r>
              <a:rPr lang="en-US" altLang="en-US" sz="1200" b="1" dirty="0"/>
              <a:t>CR:</a:t>
            </a:r>
            <a:r>
              <a:rPr lang="hi-IN" altLang="en-US" sz="1200" dirty="0"/>
              <a:t> शाबाश</a:t>
            </a:r>
            <a:r>
              <a:rPr lang="en-US" altLang="en-US" sz="1200" dirty="0">
                <a:cs typeface="Mangal" panose="02040503050203030202" pitchFamily="18" charset="0"/>
              </a:rPr>
              <a:t>! </a:t>
            </a:r>
            <a:r>
              <a:rPr lang="en-US" altLang="en-US" sz="1200" dirty="0"/>
              <a:t>30</a:t>
            </a:r>
            <a:r>
              <a:rPr lang="hi-IN" altLang="en-US" sz="1200" dirty="0"/>
              <a:t> जोड़ </a:t>
            </a:r>
            <a:r>
              <a:rPr lang="en-US" altLang="en-US" sz="1200" dirty="0"/>
              <a:t>25</a:t>
            </a:r>
            <a:r>
              <a:rPr lang="hi-IN" altLang="en-US" sz="1200" dirty="0"/>
              <a:t> बराबर </a:t>
            </a:r>
            <a:r>
              <a:rPr lang="en-US" altLang="en-US" sz="1200" dirty="0"/>
              <a:t>55</a:t>
            </a:r>
          </a:p>
          <a:p>
            <a:pPr defTabSz="914400" eaLnBrk="0" fontAlgn="base" hangingPunct="0">
              <a:spcBef>
                <a:spcPct val="0"/>
              </a:spcBef>
              <a:spcAft>
                <a:spcPct val="0"/>
              </a:spcAft>
            </a:pPr>
            <a:r>
              <a:rPr lang="en-US" sz="1200" i="1" dirty="0"/>
              <a:t>[Move the correct answer option to the equation, replacing the </a:t>
            </a:r>
            <a:r>
              <a:rPr lang="en-US" sz="1200" b="1" i="1" dirty="0"/>
              <a:t>“?”</a:t>
            </a:r>
            <a:r>
              <a:rPr lang="en-US" sz="1200" i="1" dirty="0"/>
              <a:t> symbol.]</a:t>
            </a:r>
            <a:endParaRPr lang="hi-IN" altLang="en-US" sz="1200" b="1" dirty="0"/>
          </a:p>
          <a:p>
            <a:pPr lvl="0" defTabSz="914400" eaLnBrk="0" fontAlgn="base" hangingPunct="0">
              <a:spcBef>
                <a:spcPct val="0"/>
              </a:spcBef>
              <a:spcAft>
                <a:spcPct val="0"/>
              </a:spcAft>
            </a:pPr>
            <a:endParaRPr lang="hi-IN" altLang="en-US" sz="1200" dirty="0"/>
          </a:p>
          <a:p>
            <a:pPr lvl="0" defTabSz="914400" eaLnBrk="0" fontAlgn="base" hangingPunct="0">
              <a:spcBef>
                <a:spcPct val="0"/>
              </a:spcBef>
              <a:spcAft>
                <a:spcPct val="0"/>
              </a:spcAft>
            </a:pPr>
            <a:r>
              <a:rPr lang="en-US" altLang="en-US" sz="1200" b="1" dirty="0"/>
              <a:t>Feedback/hint</a:t>
            </a:r>
          </a:p>
          <a:p>
            <a:pPr lvl="0" defTabSz="914400" eaLnBrk="0" fontAlgn="base" hangingPunct="0">
              <a:spcBef>
                <a:spcPct val="0"/>
              </a:spcBef>
              <a:spcAft>
                <a:spcPct val="0"/>
              </a:spcAft>
            </a:pPr>
            <a:r>
              <a:rPr lang="en-US" altLang="en-US" sz="1200" b="1" dirty="0"/>
              <a:t>WA1:</a:t>
            </a:r>
            <a:r>
              <a:rPr lang="en-US" altLang="en-US" sz="1200" dirty="0"/>
              <a:t> Wiggle + VO: </a:t>
            </a:r>
            <a:r>
              <a:rPr lang="hi-IN" altLang="en-US" sz="1200" b="1" dirty="0"/>
              <a:t>ब्लॉक्स को गिनिए और सही जोड़ चुनिए।</a:t>
            </a:r>
            <a:endParaRPr lang="en-US" altLang="en-US" sz="1200" dirty="0"/>
          </a:p>
          <a:p>
            <a:pPr defTabSz="914400" eaLnBrk="0" fontAlgn="base" hangingPunct="0">
              <a:spcBef>
                <a:spcPct val="0"/>
              </a:spcBef>
              <a:spcAft>
                <a:spcPct val="0"/>
              </a:spcAft>
            </a:pPr>
            <a:r>
              <a:rPr lang="en-US" altLang="en-US" sz="1200" b="1" dirty="0"/>
              <a:t>WA2:</a:t>
            </a:r>
            <a:r>
              <a:rPr lang="en-US" altLang="en-US" sz="1200" dirty="0"/>
              <a:t> Wiggle + VO: </a:t>
            </a:r>
            <a:r>
              <a:rPr lang="hi-IN" altLang="en-US" sz="1200" b="1" dirty="0"/>
              <a:t>ध्यान से देखिए</a:t>
            </a:r>
            <a:r>
              <a:rPr lang="en-US" altLang="en-US" sz="1200" b="1" dirty="0">
                <a:cs typeface="Mangal" panose="02040503050203030202" pitchFamily="18" charset="0"/>
              </a:rPr>
              <a:t>, </a:t>
            </a:r>
            <a:r>
              <a:rPr lang="hi-IN" altLang="en-US" sz="1200" b="1" dirty="0"/>
              <a:t>कुल </a:t>
            </a:r>
            <a:r>
              <a:rPr lang="en-US" altLang="en-US" sz="1200" b="1" dirty="0"/>
              <a:t>5</a:t>
            </a:r>
            <a:r>
              <a:rPr lang="hi-IN" altLang="en-US" sz="1200" b="1" dirty="0"/>
              <a:t> दहाइयाँ और </a:t>
            </a:r>
            <a:r>
              <a:rPr lang="en-US" altLang="en-US" sz="1200" b="1" dirty="0">
                <a:cs typeface="Mangal" panose="02040503050203030202" pitchFamily="18" charset="0"/>
              </a:rPr>
              <a:t>5</a:t>
            </a:r>
            <a:r>
              <a:rPr lang="hi-IN" altLang="en-US" sz="1200" b="1" dirty="0"/>
              <a:t> इकाइयाँ हैं।</a:t>
            </a:r>
            <a:r>
              <a:rPr lang="en-US" altLang="en-US" sz="1200" b="1" dirty="0"/>
              <a:t> </a:t>
            </a:r>
            <a:r>
              <a:rPr lang="en-US" altLang="en-US" sz="1200" i="1" dirty="0"/>
              <a:t>[Highlight the blocks in sync with the VO]</a:t>
            </a:r>
            <a:endParaRPr lang="en-US" altLang="en-US" sz="1200" dirty="0"/>
          </a:p>
          <a:p>
            <a:pPr lvl="0" defTabSz="914400" eaLnBrk="0" fontAlgn="base" hangingPunct="0">
              <a:spcBef>
                <a:spcPct val="0"/>
              </a:spcBef>
              <a:spcAft>
                <a:spcPct val="0"/>
              </a:spcAft>
            </a:pPr>
            <a:r>
              <a:rPr lang="en-US" altLang="en-US" sz="1200" b="1" dirty="0"/>
              <a:t>WA3:</a:t>
            </a:r>
            <a:r>
              <a:rPr lang="en-US" altLang="en-US" sz="1200" dirty="0"/>
              <a:t> Wiggle + highlight the correct option + fade out the other options. </a:t>
            </a:r>
          </a:p>
        </p:txBody>
      </p:sp>
      <p:graphicFrame>
        <p:nvGraphicFramePr>
          <p:cNvPr id="5" name="Table 4">
            <a:extLst>
              <a:ext uri="{FF2B5EF4-FFF2-40B4-BE49-F238E27FC236}">
                <a16:creationId xmlns:a16="http://schemas.microsoft.com/office/drawing/2014/main" id="{B3BC44B9-EB4D-D3A1-5C8C-E76B229884C0}"/>
              </a:ext>
            </a:extLst>
          </p:cNvPr>
          <p:cNvGraphicFramePr>
            <a:graphicFrameLocks noGrp="1"/>
          </p:cNvGraphicFramePr>
          <p:nvPr>
            <p:extLst>
              <p:ext uri="{D42A27DB-BD31-4B8C-83A1-F6EECF244321}">
                <p14:modId xmlns:p14="http://schemas.microsoft.com/office/powerpoint/2010/main" val="1000715058"/>
              </p:ext>
            </p:extLst>
          </p:nvPr>
        </p:nvGraphicFramePr>
        <p:xfrm>
          <a:off x="843284"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graphicFrame>
        <p:nvGraphicFramePr>
          <p:cNvPr id="6" name="Table 5">
            <a:extLst>
              <a:ext uri="{FF2B5EF4-FFF2-40B4-BE49-F238E27FC236}">
                <a16:creationId xmlns:a16="http://schemas.microsoft.com/office/drawing/2014/main" id="{AE1467E2-C3F9-929C-CCE1-B48AE724E737}"/>
              </a:ext>
            </a:extLst>
          </p:cNvPr>
          <p:cNvGraphicFramePr>
            <a:graphicFrameLocks noGrp="1"/>
          </p:cNvGraphicFramePr>
          <p:nvPr>
            <p:extLst>
              <p:ext uri="{D42A27DB-BD31-4B8C-83A1-F6EECF244321}">
                <p14:modId xmlns:p14="http://schemas.microsoft.com/office/powerpoint/2010/main" val="2449868087"/>
              </p:ext>
            </p:extLst>
          </p:nvPr>
        </p:nvGraphicFramePr>
        <p:xfrm>
          <a:off x="4445002"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sz="1200" dirty="0"/>
                    </a:p>
                  </a:txBody>
                  <a:tcPr>
                    <a:solidFill>
                      <a:schemeClr val="accent5">
                        <a:lumMod val="20000"/>
                        <a:lumOff val="80000"/>
                      </a:schemeClr>
                    </a:solidFill>
                  </a:tcPr>
                </a:tc>
                <a:tc>
                  <a:txBody>
                    <a:bodyPr/>
                    <a:lstStyle/>
                    <a:p>
                      <a:endParaRPr lang="en-IN" sz="1200"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7" name="Picture 6" descr="A green rectangular object with black background&#10;&#10;AI-generated content may be incorrect.">
            <a:extLst>
              <a:ext uri="{FF2B5EF4-FFF2-40B4-BE49-F238E27FC236}">
                <a16:creationId xmlns:a16="http://schemas.microsoft.com/office/drawing/2014/main" id="{93CE4DA0-76C3-31D9-2213-E4915A32FFD9}"/>
              </a:ext>
            </a:extLst>
          </p:cNvPr>
          <p:cNvPicPr>
            <a:picLocks noChangeAspect="1"/>
          </p:cNvPicPr>
          <p:nvPr/>
        </p:nvPicPr>
        <p:blipFill>
          <a:blip r:embed="rId3"/>
          <a:srcRect l="32916" r="35816"/>
          <a:stretch>
            <a:fillRect/>
          </a:stretch>
        </p:blipFill>
        <p:spPr>
          <a:xfrm>
            <a:off x="1271841" y="2837341"/>
            <a:ext cx="246660" cy="1183319"/>
          </a:xfrm>
          <a:prstGeom prst="rect">
            <a:avLst/>
          </a:prstGeom>
        </p:spPr>
      </p:pic>
      <p:sp>
        <p:nvSpPr>
          <p:cNvPr id="8" name="Rectangle: Rounded Corners 7">
            <a:extLst>
              <a:ext uri="{FF2B5EF4-FFF2-40B4-BE49-F238E27FC236}">
                <a16:creationId xmlns:a16="http://schemas.microsoft.com/office/drawing/2014/main" id="{13DAC7E6-4668-7C53-D29F-0E6684E5114B}"/>
              </a:ext>
            </a:extLst>
          </p:cNvPr>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30  +  25  =  ?</a:t>
            </a:r>
            <a:endParaRPr lang="en-IN" sz="3200" b="1" dirty="0"/>
          </a:p>
        </p:txBody>
      </p:sp>
      <p:pic>
        <p:nvPicPr>
          <p:cNvPr id="9" name="Picture 8" descr="A green rectangular object with black background&#10;&#10;AI-generated content may be incorrect.">
            <a:extLst>
              <a:ext uri="{FF2B5EF4-FFF2-40B4-BE49-F238E27FC236}">
                <a16:creationId xmlns:a16="http://schemas.microsoft.com/office/drawing/2014/main" id="{53341EBE-EF3E-2296-56C0-2D45CBC5A1F4}"/>
              </a:ext>
            </a:extLst>
          </p:cNvPr>
          <p:cNvPicPr>
            <a:picLocks noChangeAspect="1"/>
          </p:cNvPicPr>
          <p:nvPr/>
        </p:nvPicPr>
        <p:blipFill>
          <a:blip r:embed="rId3"/>
          <a:srcRect l="32916" r="35816"/>
          <a:stretch>
            <a:fillRect/>
          </a:stretch>
        </p:blipFill>
        <p:spPr>
          <a:xfrm>
            <a:off x="1468946" y="2848937"/>
            <a:ext cx="246660" cy="1183319"/>
          </a:xfrm>
          <a:prstGeom prst="rect">
            <a:avLst/>
          </a:prstGeom>
        </p:spPr>
      </p:pic>
      <p:pic>
        <p:nvPicPr>
          <p:cNvPr id="10" name="Picture 9" descr="A green rectangular object with black background&#10;&#10;AI-generated content may be incorrect.">
            <a:extLst>
              <a:ext uri="{FF2B5EF4-FFF2-40B4-BE49-F238E27FC236}">
                <a16:creationId xmlns:a16="http://schemas.microsoft.com/office/drawing/2014/main" id="{BD06889C-165F-07DC-D5AE-458D07DCBF1D}"/>
              </a:ext>
            </a:extLst>
          </p:cNvPr>
          <p:cNvPicPr>
            <a:picLocks noChangeAspect="1"/>
          </p:cNvPicPr>
          <p:nvPr/>
        </p:nvPicPr>
        <p:blipFill>
          <a:blip r:embed="rId3"/>
          <a:srcRect l="32916" r="35816"/>
          <a:stretch>
            <a:fillRect/>
          </a:stretch>
        </p:blipFill>
        <p:spPr>
          <a:xfrm>
            <a:off x="1678758" y="2837342"/>
            <a:ext cx="246660" cy="1183319"/>
          </a:xfrm>
          <a:prstGeom prst="rect">
            <a:avLst/>
          </a:prstGeom>
        </p:spPr>
      </p:pic>
      <p:pic>
        <p:nvPicPr>
          <p:cNvPr id="12" name="Picture 11" descr="A green rectangular object with black background&#10;&#10;AI-generated content may be incorrect.">
            <a:extLst>
              <a:ext uri="{FF2B5EF4-FFF2-40B4-BE49-F238E27FC236}">
                <a16:creationId xmlns:a16="http://schemas.microsoft.com/office/drawing/2014/main" id="{653E4F31-C731-FD38-B3EE-884DAB054BA5}"/>
              </a:ext>
            </a:extLst>
          </p:cNvPr>
          <p:cNvPicPr>
            <a:picLocks noChangeAspect="1"/>
          </p:cNvPicPr>
          <p:nvPr/>
        </p:nvPicPr>
        <p:blipFill>
          <a:blip r:embed="rId3"/>
          <a:srcRect l="32916" r="35816"/>
          <a:stretch>
            <a:fillRect/>
          </a:stretch>
        </p:blipFill>
        <p:spPr>
          <a:xfrm>
            <a:off x="5037803" y="2848937"/>
            <a:ext cx="246660" cy="1183319"/>
          </a:xfrm>
          <a:prstGeom prst="rect">
            <a:avLst/>
          </a:prstGeom>
        </p:spPr>
      </p:pic>
      <p:pic>
        <p:nvPicPr>
          <p:cNvPr id="13" name="Picture 12" descr="A green rectangular object with black background&#10;&#10;AI-generated content may be incorrect.">
            <a:extLst>
              <a:ext uri="{FF2B5EF4-FFF2-40B4-BE49-F238E27FC236}">
                <a16:creationId xmlns:a16="http://schemas.microsoft.com/office/drawing/2014/main" id="{3B921216-17ED-1FBE-5AA0-7211E397AF15}"/>
              </a:ext>
            </a:extLst>
          </p:cNvPr>
          <p:cNvPicPr>
            <a:picLocks noChangeAspect="1"/>
          </p:cNvPicPr>
          <p:nvPr/>
        </p:nvPicPr>
        <p:blipFill>
          <a:blip r:embed="rId3"/>
          <a:srcRect l="32916" r="35816"/>
          <a:stretch>
            <a:fillRect/>
          </a:stretch>
        </p:blipFill>
        <p:spPr>
          <a:xfrm>
            <a:off x="5257904" y="2848937"/>
            <a:ext cx="246660" cy="1183319"/>
          </a:xfrm>
          <a:prstGeom prst="rect">
            <a:avLst/>
          </a:prstGeom>
        </p:spPr>
      </p:pic>
      <p:pic>
        <p:nvPicPr>
          <p:cNvPr id="14" name="Picture 13" descr="A yellow cube with black background&#10;&#10;AI-generated content may be incorrect.">
            <a:extLst>
              <a:ext uri="{FF2B5EF4-FFF2-40B4-BE49-F238E27FC236}">
                <a16:creationId xmlns:a16="http://schemas.microsoft.com/office/drawing/2014/main" id="{73AB8415-AF23-6C87-63AA-9D009EBD6528}"/>
              </a:ext>
            </a:extLst>
          </p:cNvPr>
          <p:cNvPicPr>
            <a:picLocks noChangeAspect="1"/>
          </p:cNvPicPr>
          <p:nvPr/>
        </p:nvPicPr>
        <p:blipFill>
          <a:blip r:embed="rId4"/>
          <a:stretch>
            <a:fillRect/>
          </a:stretch>
        </p:blipFill>
        <p:spPr>
          <a:xfrm>
            <a:off x="6362382" y="3321339"/>
            <a:ext cx="258386" cy="215322"/>
          </a:xfrm>
          <a:prstGeom prst="rect">
            <a:avLst/>
          </a:prstGeom>
        </p:spPr>
      </p:pic>
      <p:pic>
        <p:nvPicPr>
          <p:cNvPr id="15" name="Picture 14" descr="A yellow cube with black background&#10;&#10;AI-generated content may be incorrect.">
            <a:extLst>
              <a:ext uri="{FF2B5EF4-FFF2-40B4-BE49-F238E27FC236}">
                <a16:creationId xmlns:a16="http://schemas.microsoft.com/office/drawing/2014/main" id="{A7393741-4FC3-A637-0CAA-610A992DC7F3}"/>
              </a:ext>
            </a:extLst>
          </p:cNvPr>
          <p:cNvPicPr>
            <a:picLocks noChangeAspect="1"/>
          </p:cNvPicPr>
          <p:nvPr/>
        </p:nvPicPr>
        <p:blipFill>
          <a:blip r:embed="rId4"/>
          <a:stretch>
            <a:fillRect/>
          </a:stretch>
        </p:blipFill>
        <p:spPr>
          <a:xfrm>
            <a:off x="6575183" y="3321339"/>
            <a:ext cx="258386" cy="215322"/>
          </a:xfrm>
          <a:prstGeom prst="rect">
            <a:avLst/>
          </a:prstGeom>
        </p:spPr>
      </p:pic>
      <p:pic>
        <p:nvPicPr>
          <p:cNvPr id="16" name="Picture 15" descr="A yellow cube with black background&#10;&#10;AI-generated content may be incorrect.">
            <a:extLst>
              <a:ext uri="{FF2B5EF4-FFF2-40B4-BE49-F238E27FC236}">
                <a16:creationId xmlns:a16="http://schemas.microsoft.com/office/drawing/2014/main" id="{9BF4E489-B043-B45E-764A-8E777BAFA400}"/>
              </a:ext>
            </a:extLst>
          </p:cNvPr>
          <p:cNvPicPr>
            <a:picLocks noChangeAspect="1"/>
          </p:cNvPicPr>
          <p:nvPr/>
        </p:nvPicPr>
        <p:blipFill>
          <a:blip r:embed="rId4"/>
          <a:stretch>
            <a:fillRect/>
          </a:stretch>
        </p:blipFill>
        <p:spPr>
          <a:xfrm>
            <a:off x="6787984" y="3321339"/>
            <a:ext cx="258386" cy="215322"/>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AF530A3C-4614-22F7-EA35-FAF238CCB8BE}"/>
              </a:ext>
            </a:extLst>
          </p:cNvPr>
          <p:cNvPicPr>
            <a:picLocks noChangeAspect="1"/>
          </p:cNvPicPr>
          <p:nvPr/>
        </p:nvPicPr>
        <p:blipFill>
          <a:blip r:embed="rId4"/>
          <a:stretch>
            <a:fillRect/>
          </a:stretch>
        </p:blipFill>
        <p:spPr>
          <a:xfrm>
            <a:off x="6996690" y="3321339"/>
            <a:ext cx="258386" cy="215322"/>
          </a:xfrm>
          <a:prstGeom prst="rect">
            <a:avLst/>
          </a:prstGeom>
        </p:spPr>
      </p:pic>
      <p:pic>
        <p:nvPicPr>
          <p:cNvPr id="21" name="Picture 20" descr="A yellow cube with black background&#10;&#10;AI-generated content may be incorrect.">
            <a:extLst>
              <a:ext uri="{FF2B5EF4-FFF2-40B4-BE49-F238E27FC236}">
                <a16:creationId xmlns:a16="http://schemas.microsoft.com/office/drawing/2014/main" id="{56621F45-5A6F-A587-391C-6AB2C39594BE}"/>
              </a:ext>
            </a:extLst>
          </p:cNvPr>
          <p:cNvPicPr>
            <a:picLocks noChangeAspect="1"/>
          </p:cNvPicPr>
          <p:nvPr/>
        </p:nvPicPr>
        <p:blipFill>
          <a:blip r:embed="rId4"/>
          <a:stretch>
            <a:fillRect/>
          </a:stretch>
        </p:blipFill>
        <p:spPr>
          <a:xfrm>
            <a:off x="7209491" y="3321339"/>
            <a:ext cx="258386" cy="215322"/>
          </a:xfrm>
          <a:prstGeom prst="rect">
            <a:avLst/>
          </a:prstGeom>
        </p:spPr>
      </p:pic>
      <p:sp>
        <p:nvSpPr>
          <p:cNvPr id="22" name="Rectangle: Rounded Corners 21">
            <a:extLst>
              <a:ext uri="{FF2B5EF4-FFF2-40B4-BE49-F238E27FC236}">
                <a16:creationId xmlns:a16="http://schemas.microsoft.com/office/drawing/2014/main" id="{B0841940-BEBE-4417-485E-A0590C9EA8D8}"/>
              </a:ext>
            </a:extLst>
          </p:cNvPr>
          <p:cNvSpPr/>
          <p:nvPr/>
        </p:nvSpPr>
        <p:spPr>
          <a:xfrm>
            <a:off x="1837964" y="5075811"/>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55</a:t>
            </a:r>
            <a:endParaRPr lang="en-IN" sz="4000" b="1" dirty="0"/>
          </a:p>
        </p:txBody>
      </p:sp>
      <p:sp>
        <p:nvSpPr>
          <p:cNvPr id="23" name="Rectangle: Rounded Corners 22">
            <a:extLst>
              <a:ext uri="{FF2B5EF4-FFF2-40B4-BE49-F238E27FC236}">
                <a16:creationId xmlns:a16="http://schemas.microsoft.com/office/drawing/2014/main" id="{946CCC02-F766-26C3-DB69-64F757496096}"/>
              </a:ext>
            </a:extLst>
          </p:cNvPr>
          <p:cNvSpPr/>
          <p:nvPr/>
        </p:nvSpPr>
        <p:spPr>
          <a:xfrm>
            <a:off x="3710310" y="5075811"/>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50</a:t>
            </a:r>
            <a:endParaRPr lang="en-IN" sz="4000" b="1" dirty="0"/>
          </a:p>
        </p:txBody>
      </p:sp>
      <p:sp>
        <p:nvSpPr>
          <p:cNvPr id="24" name="Rectangle: Rounded Corners 23">
            <a:extLst>
              <a:ext uri="{FF2B5EF4-FFF2-40B4-BE49-F238E27FC236}">
                <a16:creationId xmlns:a16="http://schemas.microsoft.com/office/drawing/2014/main" id="{EFECC126-A50C-529C-EDE3-48BECE5A67B8}"/>
              </a:ext>
            </a:extLst>
          </p:cNvPr>
          <p:cNvSpPr/>
          <p:nvPr/>
        </p:nvSpPr>
        <p:spPr>
          <a:xfrm>
            <a:off x="5582656" y="5063559"/>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65</a:t>
            </a:r>
            <a:endParaRPr lang="en-IN" sz="4000" b="1" dirty="0"/>
          </a:p>
        </p:txBody>
      </p:sp>
      <p:sp>
        <p:nvSpPr>
          <p:cNvPr id="11" name="TextBox 11">
            <a:extLst>
              <a:ext uri="{FF2B5EF4-FFF2-40B4-BE49-F238E27FC236}">
                <a16:creationId xmlns:a16="http://schemas.microsoft.com/office/drawing/2014/main" id="{119B1B6A-E99D-BBB1-498F-8881CC4E6C3B}"/>
              </a:ext>
            </a:extLst>
          </p:cNvPr>
          <p:cNvSpPr txBox="1"/>
          <p:nvPr/>
        </p:nvSpPr>
        <p:spPr>
          <a:xfrm>
            <a:off x="4096224" y="3092739"/>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8 · 08_CONSERVE_COUNT.png</a:t>
            </a:r>
          </a:p>
        </p:txBody>
      </p:sp>
      <p:pic>
        <p:nvPicPr>
          <p:cNvPr id="3" name="Picture 2" descr="08_CONSERVE_COUNT.png"/>
          <p:cNvPicPr>
            <a:picLocks noChangeAspect="1"/>
          </p:cNvPicPr>
          <p:nvPr/>
        </p:nvPicPr>
        <p:blipFill>
          <a:blip r:embed="rId2"/>
          <a:stretch>
            <a:fillRect/>
          </a:stretch>
        </p:blipFill>
        <p:spPr>
          <a:xfrm>
            <a:off x="365760" y="749809"/>
            <a:ext cx="7114032" cy="3981296"/>
          </a:xfrm>
          <a:prstGeom prst="rect">
            <a:avLst/>
          </a:prstGeom>
        </p:spPr>
      </p:pic>
      <p:sp>
        <p:nvSpPr>
          <p:cNvPr id="4" name="TextBox 3"/>
          <p:cNvSpPr txBox="1"/>
          <p:nvPr/>
        </p:nvSpPr>
        <p:spPr>
          <a:xfrm>
            <a:off x="7882612" y="382073"/>
            <a:ext cx="4068596" cy="4770537"/>
          </a:xfrm>
          <a:prstGeom prst="rect">
            <a:avLst/>
          </a:prstGeom>
          <a:noFill/>
        </p:spPr>
        <p:txBody>
          <a:bodyPr wrap="square">
            <a:spAutoFit/>
          </a:bodyPr>
          <a:lstStyle/>
          <a:p>
            <a:r>
              <a:rPr sz="1600" b="1" dirty="0">
                <a:solidFill>
                  <a:srgbClr val="0B3D8C"/>
                </a:solidFill>
              </a:rPr>
              <a:t>Recommendations</a:t>
            </a:r>
            <a:endParaRPr lang="hi-IN" sz="1600" b="1" dirty="0">
              <a:solidFill>
                <a:srgbClr val="0B3D8C"/>
              </a:solidFill>
            </a:endParaRPr>
          </a:p>
          <a:p>
            <a:pPr lvl="0" defTabSz="914400" eaLnBrk="0" fontAlgn="base" hangingPunct="0">
              <a:spcBef>
                <a:spcPct val="0"/>
              </a:spcBef>
              <a:spcAft>
                <a:spcPct val="0"/>
              </a:spcAft>
            </a:pPr>
            <a:r>
              <a:rPr lang="en-US" altLang="en-US" sz="1200" dirty="0"/>
              <a:t>Replace the entire slide content with the following:</a:t>
            </a:r>
          </a:p>
          <a:p>
            <a:pPr lvl="0" defTabSz="914400" eaLnBrk="0" fontAlgn="base" hangingPunct="0">
              <a:spcBef>
                <a:spcPct val="0"/>
              </a:spcBef>
              <a:spcAft>
                <a:spcPct val="0"/>
              </a:spcAft>
            </a:pPr>
            <a:r>
              <a:rPr lang="en-US" altLang="en-US" sz="1200" b="1" dirty="0"/>
              <a:t>Instruction:</a:t>
            </a:r>
            <a:r>
              <a:rPr lang="hi-IN" altLang="en-US" sz="1200" dirty="0"/>
              <a:t> संख्याएँ जोड़िए।</a:t>
            </a:r>
            <a:endParaRPr lang="en-US" altLang="en-US" sz="1200" dirty="0"/>
          </a:p>
          <a:p>
            <a:pPr lvl="0" defTabSz="914400" eaLnBrk="0" fontAlgn="base" hangingPunct="0">
              <a:spcBef>
                <a:spcPct val="0"/>
              </a:spcBef>
              <a:spcAft>
                <a:spcPct val="0"/>
              </a:spcAft>
            </a:pPr>
            <a:r>
              <a:rPr lang="en-US" altLang="en-US" sz="1200" b="1" dirty="0"/>
              <a:t>Equation:</a:t>
            </a:r>
            <a:r>
              <a:rPr lang="en-US" altLang="en-US" sz="1200" dirty="0"/>
              <a:t> </a:t>
            </a:r>
            <a:r>
              <a:rPr lang="en-US" altLang="en-US" sz="1200" b="1" dirty="0"/>
              <a:t>62 + 20 = ?</a:t>
            </a:r>
            <a:endParaRPr lang="en-US" altLang="en-US" sz="1200" dirty="0"/>
          </a:p>
          <a:p>
            <a:pPr lvl="0" defTabSz="914400" eaLnBrk="0" fontAlgn="base" hangingPunct="0">
              <a:spcBef>
                <a:spcPct val="0"/>
              </a:spcBef>
              <a:spcAft>
                <a:spcPct val="0"/>
              </a:spcAft>
            </a:pPr>
            <a:r>
              <a:rPr lang="en-US" sz="1200" dirty="0"/>
              <a:t>Show the PV tables with the numbers built using blocks one by one. </a:t>
            </a:r>
          </a:p>
          <a:p>
            <a:pPr lvl="0" defTabSz="914400" eaLnBrk="0" fontAlgn="base" hangingPunct="0">
              <a:spcBef>
                <a:spcPct val="0"/>
              </a:spcBef>
              <a:spcAft>
                <a:spcPct val="0"/>
              </a:spcAft>
            </a:pPr>
            <a:endParaRPr lang="en-US" altLang="en-US" sz="1200" b="1" dirty="0"/>
          </a:p>
          <a:p>
            <a:pPr lvl="0" defTabSz="914400" eaLnBrk="0" fontAlgn="base" hangingPunct="0">
              <a:spcBef>
                <a:spcPct val="0"/>
              </a:spcBef>
              <a:spcAft>
                <a:spcPct val="0"/>
              </a:spcAft>
            </a:pPr>
            <a:r>
              <a:rPr lang="en-US" altLang="en-US" sz="1200" b="1" dirty="0"/>
              <a:t>VO1:</a:t>
            </a:r>
            <a:r>
              <a:rPr lang="en-US" altLang="en-US" sz="1200" dirty="0"/>
              <a:t> 62</a:t>
            </a:r>
            <a:r>
              <a:rPr lang="hi-IN" altLang="en-US" sz="1200" dirty="0"/>
              <a:t> और </a:t>
            </a:r>
            <a:r>
              <a:rPr lang="en-US" altLang="en-US" sz="1200" dirty="0"/>
              <a:t>20</a:t>
            </a:r>
            <a:r>
              <a:rPr lang="hi-IN" altLang="en-US" sz="1200" dirty="0"/>
              <a:t> को जोड़िए।</a:t>
            </a:r>
            <a:r>
              <a:rPr lang="en-US" altLang="en-US" sz="1200" dirty="0"/>
              <a:t> </a:t>
            </a:r>
            <a:r>
              <a:rPr lang="en-US" altLang="en-US" sz="1200" i="1" dirty="0"/>
              <a:t>[</a:t>
            </a:r>
            <a:r>
              <a:rPr lang="en-US" sz="1200" i="1" dirty="0"/>
              <a:t>Show a new PV table below. As the child taps each block, move it to the new PV table. If inactive for 7 seconds, pulsate all the blocks.]</a:t>
            </a:r>
            <a:endParaRPr lang="en-US" altLang="en-US" sz="1200" dirty="0"/>
          </a:p>
          <a:p>
            <a:pPr lvl="0" defTabSz="914400" eaLnBrk="0" fontAlgn="base" hangingPunct="0">
              <a:spcBef>
                <a:spcPct val="0"/>
              </a:spcBef>
              <a:spcAft>
                <a:spcPct val="0"/>
              </a:spcAft>
            </a:pPr>
            <a:endParaRPr lang="en-US" altLang="en-US" sz="1200" dirty="0"/>
          </a:p>
          <a:p>
            <a:pPr defTabSz="914400" eaLnBrk="0" fontAlgn="base" hangingPunct="0">
              <a:spcBef>
                <a:spcPct val="0"/>
              </a:spcBef>
              <a:spcAft>
                <a:spcPct val="0"/>
              </a:spcAft>
            </a:pPr>
            <a:r>
              <a:rPr lang="en-US" altLang="en-US" sz="1200" b="1" dirty="0"/>
              <a:t>VO2:</a:t>
            </a:r>
            <a:r>
              <a:rPr lang="hi-IN" altLang="en-US" sz="1200" dirty="0"/>
              <a:t> बहुत बढ़िया</a:t>
            </a:r>
            <a:r>
              <a:rPr lang="en-US" altLang="en-US" sz="1200" dirty="0">
                <a:cs typeface="Mangal" panose="02040503050203030202" pitchFamily="18" charset="0"/>
              </a:rPr>
              <a:t>! </a:t>
            </a:r>
            <a:r>
              <a:rPr lang="hi-IN" altLang="en-US" sz="1200" dirty="0"/>
              <a:t>अब सही जोड़ चुनिए।</a:t>
            </a:r>
            <a:r>
              <a:rPr lang="en-US" altLang="en-US" sz="1200" dirty="0"/>
              <a:t> </a:t>
            </a:r>
            <a:r>
              <a:rPr lang="en-US" altLang="en-US" sz="1200" i="1" dirty="0"/>
              <a:t>[</a:t>
            </a:r>
            <a:r>
              <a:rPr lang="en-US" sz="1200" i="1" dirty="0"/>
              <a:t>Move the sum PV table to the center, replacing the first two PV tables and show the answer options.]</a:t>
            </a:r>
            <a:endParaRPr lang="hi-IN" altLang="en-US" sz="1200" dirty="0"/>
          </a:p>
          <a:p>
            <a:pPr lvl="0" defTabSz="914400" eaLnBrk="0" fontAlgn="base" hangingPunct="0">
              <a:spcBef>
                <a:spcPct val="0"/>
              </a:spcBef>
              <a:spcAft>
                <a:spcPct val="0"/>
              </a:spcAft>
            </a:pPr>
            <a:endParaRPr lang="en-US" altLang="en-US" sz="1200" dirty="0"/>
          </a:p>
          <a:p>
            <a:pPr lvl="0" defTabSz="914400" eaLnBrk="0" fontAlgn="base" hangingPunct="0">
              <a:spcBef>
                <a:spcPct val="0"/>
              </a:spcBef>
              <a:spcAft>
                <a:spcPct val="0"/>
              </a:spcAft>
            </a:pPr>
            <a:r>
              <a:rPr lang="en-US" altLang="en-US" sz="1200" b="1" dirty="0"/>
              <a:t>CR:</a:t>
            </a:r>
            <a:r>
              <a:rPr lang="hi-IN" altLang="en-US" sz="1200" dirty="0"/>
              <a:t> शाबाश</a:t>
            </a:r>
            <a:r>
              <a:rPr lang="en-US" altLang="en-US" sz="1200" dirty="0">
                <a:cs typeface="Mangal" panose="02040503050203030202" pitchFamily="18" charset="0"/>
              </a:rPr>
              <a:t>! </a:t>
            </a:r>
            <a:r>
              <a:rPr lang="en-US" altLang="en-US" sz="1200" dirty="0"/>
              <a:t>62</a:t>
            </a:r>
            <a:r>
              <a:rPr lang="hi-IN" altLang="en-US" sz="1200" dirty="0"/>
              <a:t> जोड़ </a:t>
            </a:r>
            <a:r>
              <a:rPr lang="en-US" altLang="en-US" sz="1200" dirty="0"/>
              <a:t>20</a:t>
            </a:r>
            <a:r>
              <a:rPr lang="hi-IN" altLang="en-US" sz="1200" dirty="0"/>
              <a:t> बराबर </a:t>
            </a:r>
            <a:r>
              <a:rPr lang="en-US" altLang="en-US" sz="1200" dirty="0"/>
              <a:t>82</a:t>
            </a:r>
          </a:p>
          <a:p>
            <a:pPr defTabSz="914400" eaLnBrk="0" fontAlgn="base" hangingPunct="0">
              <a:spcBef>
                <a:spcPct val="0"/>
              </a:spcBef>
              <a:spcAft>
                <a:spcPct val="0"/>
              </a:spcAft>
            </a:pPr>
            <a:r>
              <a:rPr lang="en-US" sz="1200" i="1" dirty="0"/>
              <a:t>[Move the correct answer option to the equation, replacing the </a:t>
            </a:r>
            <a:r>
              <a:rPr lang="en-US" sz="1200" b="1" i="1" dirty="0"/>
              <a:t>“?”</a:t>
            </a:r>
            <a:r>
              <a:rPr lang="en-US" sz="1200" i="1" dirty="0"/>
              <a:t> symbol.]</a:t>
            </a:r>
            <a:endParaRPr lang="hi-IN" altLang="en-US" sz="1200" dirty="0"/>
          </a:p>
          <a:p>
            <a:pPr lvl="0" defTabSz="914400" eaLnBrk="0" fontAlgn="base" hangingPunct="0">
              <a:spcBef>
                <a:spcPct val="0"/>
              </a:spcBef>
              <a:spcAft>
                <a:spcPct val="0"/>
              </a:spcAft>
            </a:pPr>
            <a:endParaRPr lang="hi-IN" altLang="en-US" sz="1200" dirty="0"/>
          </a:p>
          <a:p>
            <a:pPr lvl="0" defTabSz="914400" eaLnBrk="0" fontAlgn="base" hangingPunct="0">
              <a:spcBef>
                <a:spcPct val="0"/>
              </a:spcBef>
              <a:spcAft>
                <a:spcPct val="0"/>
              </a:spcAft>
            </a:pPr>
            <a:r>
              <a:rPr lang="en-US" altLang="en-US" sz="1200" b="1" dirty="0"/>
              <a:t>Feedback/hint</a:t>
            </a:r>
          </a:p>
          <a:p>
            <a:pPr lvl="0" defTabSz="914400" eaLnBrk="0" fontAlgn="base" hangingPunct="0">
              <a:spcBef>
                <a:spcPct val="0"/>
              </a:spcBef>
              <a:spcAft>
                <a:spcPct val="0"/>
              </a:spcAft>
            </a:pPr>
            <a:r>
              <a:rPr lang="en-US" altLang="en-US" sz="1200" b="1" dirty="0"/>
              <a:t>WA1:</a:t>
            </a:r>
            <a:r>
              <a:rPr lang="en-US" altLang="en-US" sz="1200" dirty="0"/>
              <a:t> Wiggle + VO: </a:t>
            </a:r>
            <a:r>
              <a:rPr lang="hi-IN" altLang="en-US" sz="1200" b="1" dirty="0"/>
              <a:t>ब्लॉक्स को गिनिए और सही जोड़ चुनिए।</a:t>
            </a:r>
            <a:endParaRPr lang="en-US" altLang="en-US" sz="1200" dirty="0"/>
          </a:p>
          <a:p>
            <a:pPr defTabSz="914400" eaLnBrk="0" fontAlgn="base" hangingPunct="0">
              <a:spcBef>
                <a:spcPct val="0"/>
              </a:spcBef>
              <a:spcAft>
                <a:spcPct val="0"/>
              </a:spcAft>
            </a:pPr>
            <a:r>
              <a:rPr lang="en-US" altLang="en-US" sz="1200" b="1" dirty="0"/>
              <a:t>WA2:</a:t>
            </a:r>
            <a:r>
              <a:rPr lang="en-US" altLang="en-US" sz="1200" dirty="0"/>
              <a:t> Wiggle + VO: </a:t>
            </a:r>
            <a:r>
              <a:rPr lang="hi-IN" altLang="en-US" sz="1200" b="1" dirty="0"/>
              <a:t>ध्यान से देखिए</a:t>
            </a:r>
            <a:r>
              <a:rPr lang="en-US" altLang="en-US" sz="1200" b="1" dirty="0">
                <a:cs typeface="Mangal" panose="02040503050203030202" pitchFamily="18" charset="0"/>
              </a:rPr>
              <a:t>, </a:t>
            </a:r>
            <a:r>
              <a:rPr lang="hi-IN" altLang="en-US" sz="1200" b="1" dirty="0"/>
              <a:t>कुल </a:t>
            </a:r>
            <a:r>
              <a:rPr lang="en-US" altLang="en-US" sz="1200" b="1" dirty="0"/>
              <a:t>8</a:t>
            </a:r>
            <a:r>
              <a:rPr lang="hi-IN" altLang="en-US" sz="1200" b="1" dirty="0"/>
              <a:t> दहाइयाँ और </a:t>
            </a:r>
            <a:r>
              <a:rPr lang="en-US" altLang="en-US" sz="1200" b="1" dirty="0">
                <a:cs typeface="Mangal" panose="02040503050203030202" pitchFamily="18" charset="0"/>
              </a:rPr>
              <a:t>2</a:t>
            </a:r>
            <a:r>
              <a:rPr lang="hi-IN" altLang="en-US" sz="1200" b="1" dirty="0"/>
              <a:t> इकाइयाँ हैं।</a:t>
            </a:r>
            <a:r>
              <a:rPr lang="en-US" altLang="en-US" sz="1200" b="1" dirty="0"/>
              <a:t> </a:t>
            </a:r>
            <a:r>
              <a:rPr lang="en-US" altLang="en-US" sz="1200" i="1" dirty="0"/>
              <a:t>[Highlight the blocks in sync with the VO]</a:t>
            </a:r>
            <a:endParaRPr lang="en-US" altLang="en-US" sz="1200" dirty="0"/>
          </a:p>
          <a:p>
            <a:pPr lvl="0" defTabSz="914400" eaLnBrk="0" fontAlgn="base" hangingPunct="0">
              <a:spcBef>
                <a:spcPct val="0"/>
              </a:spcBef>
              <a:spcAft>
                <a:spcPct val="0"/>
              </a:spcAft>
            </a:pPr>
            <a:r>
              <a:rPr lang="en-US" altLang="en-US" sz="1200" b="1" dirty="0"/>
              <a:t>WA3:</a:t>
            </a:r>
            <a:r>
              <a:rPr lang="en-US" altLang="en-US" sz="1200" dirty="0"/>
              <a:t> Wiggle + highlight the correct option + fade out the other options. </a:t>
            </a:r>
          </a:p>
        </p:txBody>
      </p:sp>
      <p:graphicFrame>
        <p:nvGraphicFramePr>
          <p:cNvPr id="5" name="Table 4">
            <a:extLst>
              <a:ext uri="{FF2B5EF4-FFF2-40B4-BE49-F238E27FC236}">
                <a16:creationId xmlns:a16="http://schemas.microsoft.com/office/drawing/2014/main" id="{FC26CCAA-0DA4-AED2-F0F0-8A035B8C3CE0}"/>
              </a:ext>
            </a:extLst>
          </p:cNvPr>
          <p:cNvGraphicFramePr>
            <a:graphicFrameLocks noGrp="1"/>
          </p:cNvGraphicFramePr>
          <p:nvPr>
            <p:extLst>
              <p:ext uri="{D42A27DB-BD31-4B8C-83A1-F6EECF244321}">
                <p14:modId xmlns:p14="http://schemas.microsoft.com/office/powerpoint/2010/main" val="851273143"/>
              </p:ext>
            </p:extLst>
          </p:nvPr>
        </p:nvGraphicFramePr>
        <p:xfrm>
          <a:off x="843284"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graphicFrame>
        <p:nvGraphicFramePr>
          <p:cNvPr id="6" name="Table 5">
            <a:extLst>
              <a:ext uri="{FF2B5EF4-FFF2-40B4-BE49-F238E27FC236}">
                <a16:creationId xmlns:a16="http://schemas.microsoft.com/office/drawing/2014/main" id="{8A88B9CB-1770-F063-B6DA-7D125F623E74}"/>
              </a:ext>
            </a:extLst>
          </p:cNvPr>
          <p:cNvGraphicFramePr>
            <a:graphicFrameLocks noGrp="1"/>
          </p:cNvGraphicFramePr>
          <p:nvPr>
            <p:extLst>
              <p:ext uri="{D42A27DB-BD31-4B8C-83A1-F6EECF244321}">
                <p14:modId xmlns:p14="http://schemas.microsoft.com/office/powerpoint/2010/main" val="2449868087"/>
              </p:ext>
            </p:extLst>
          </p:nvPr>
        </p:nvGraphicFramePr>
        <p:xfrm>
          <a:off x="4445002"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sz="1200" dirty="0"/>
                    </a:p>
                  </a:txBody>
                  <a:tcPr>
                    <a:solidFill>
                      <a:schemeClr val="accent5">
                        <a:lumMod val="20000"/>
                        <a:lumOff val="80000"/>
                      </a:schemeClr>
                    </a:solidFill>
                  </a:tcPr>
                </a:tc>
                <a:tc>
                  <a:txBody>
                    <a:bodyPr/>
                    <a:lstStyle/>
                    <a:p>
                      <a:endParaRPr lang="en-IN" sz="1200"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7" name="Picture 6" descr="A green rectangular object with black background&#10;&#10;AI-generated content may be incorrect.">
            <a:extLst>
              <a:ext uri="{FF2B5EF4-FFF2-40B4-BE49-F238E27FC236}">
                <a16:creationId xmlns:a16="http://schemas.microsoft.com/office/drawing/2014/main" id="{B711C654-62F3-20B7-A390-226C623411BB}"/>
              </a:ext>
            </a:extLst>
          </p:cNvPr>
          <p:cNvPicPr>
            <a:picLocks noChangeAspect="1"/>
          </p:cNvPicPr>
          <p:nvPr/>
        </p:nvPicPr>
        <p:blipFill>
          <a:blip r:embed="rId3"/>
          <a:srcRect l="32916" r="35816"/>
          <a:stretch>
            <a:fillRect/>
          </a:stretch>
        </p:blipFill>
        <p:spPr>
          <a:xfrm>
            <a:off x="1012024" y="2848936"/>
            <a:ext cx="246660" cy="1183319"/>
          </a:xfrm>
          <a:prstGeom prst="rect">
            <a:avLst/>
          </a:prstGeom>
        </p:spPr>
      </p:pic>
      <p:sp>
        <p:nvSpPr>
          <p:cNvPr id="8" name="Rectangle: Rounded Corners 7">
            <a:extLst>
              <a:ext uri="{FF2B5EF4-FFF2-40B4-BE49-F238E27FC236}">
                <a16:creationId xmlns:a16="http://schemas.microsoft.com/office/drawing/2014/main" id="{6CF55CC2-8EB0-92A0-C29D-32D2BA82D097}"/>
              </a:ext>
            </a:extLst>
          </p:cNvPr>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62  +  20  =  ?</a:t>
            </a:r>
            <a:endParaRPr lang="en-IN" sz="3200" b="1" dirty="0"/>
          </a:p>
        </p:txBody>
      </p:sp>
      <p:pic>
        <p:nvPicPr>
          <p:cNvPr id="9" name="Picture 8" descr="A green rectangular object with black background&#10;&#10;AI-generated content may be incorrect.">
            <a:extLst>
              <a:ext uri="{FF2B5EF4-FFF2-40B4-BE49-F238E27FC236}">
                <a16:creationId xmlns:a16="http://schemas.microsoft.com/office/drawing/2014/main" id="{CE41387A-D102-40C6-5D62-4EB373AB29A0}"/>
              </a:ext>
            </a:extLst>
          </p:cNvPr>
          <p:cNvPicPr>
            <a:picLocks noChangeAspect="1"/>
          </p:cNvPicPr>
          <p:nvPr/>
        </p:nvPicPr>
        <p:blipFill>
          <a:blip r:embed="rId3"/>
          <a:srcRect l="32916" r="35816"/>
          <a:stretch>
            <a:fillRect/>
          </a:stretch>
        </p:blipFill>
        <p:spPr>
          <a:xfrm>
            <a:off x="1209129" y="2860532"/>
            <a:ext cx="246660" cy="1183319"/>
          </a:xfrm>
          <a:prstGeom prst="rect">
            <a:avLst/>
          </a:prstGeom>
        </p:spPr>
      </p:pic>
      <p:pic>
        <p:nvPicPr>
          <p:cNvPr id="10" name="Picture 9" descr="A green rectangular object with black background&#10;&#10;AI-generated content may be incorrect.">
            <a:extLst>
              <a:ext uri="{FF2B5EF4-FFF2-40B4-BE49-F238E27FC236}">
                <a16:creationId xmlns:a16="http://schemas.microsoft.com/office/drawing/2014/main" id="{BD98CB9A-5A21-6F4F-E3AD-ED34175E9474}"/>
              </a:ext>
            </a:extLst>
          </p:cNvPr>
          <p:cNvPicPr>
            <a:picLocks noChangeAspect="1"/>
          </p:cNvPicPr>
          <p:nvPr/>
        </p:nvPicPr>
        <p:blipFill>
          <a:blip r:embed="rId3"/>
          <a:srcRect l="32916" r="35816"/>
          <a:stretch>
            <a:fillRect/>
          </a:stretch>
        </p:blipFill>
        <p:spPr>
          <a:xfrm>
            <a:off x="1418941" y="2848937"/>
            <a:ext cx="246660" cy="1183319"/>
          </a:xfrm>
          <a:prstGeom prst="rect">
            <a:avLst/>
          </a:prstGeom>
        </p:spPr>
      </p:pic>
      <p:pic>
        <p:nvPicPr>
          <p:cNvPr id="11" name="Picture 10" descr="A green rectangular object with black background&#10;&#10;AI-generated content may be incorrect.">
            <a:extLst>
              <a:ext uri="{FF2B5EF4-FFF2-40B4-BE49-F238E27FC236}">
                <a16:creationId xmlns:a16="http://schemas.microsoft.com/office/drawing/2014/main" id="{329EFA21-A77C-0004-D5D4-68DBC476F61F}"/>
              </a:ext>
            </a:extLst>
          </p:cNvPr>
          <p:cNvPicPr>
            <a:picLocks noChangeAspect="1"/>
          </p:cNvPicPr>
          <p:nvPr/>
        </p:nvPicPr>
        <p:blipFill>
          <a:blip r:embed="rId3"/>
          <a:srcRect l="32916" r="35816"/>
          <a:stretch>
            <a:fillRect/>
          </a:stretch>
        </p:blipFill>
        <p:spPr>
          <a:xfrm>
            <a:off x="1616566" y="2848935"/>
            <a:ext cx="246660" cy="1183319"/>
          </a:xfrm>
          <a:prstGeom prst="rect">
            <a:avLst/>
          </a:prstGeom>
        </p:spPr>
      </p:pic>
      <p:pic>
        <p:nvPicPr>
          <p:cNvPr id="12" name="Picture 11" descr="A green rectangular object with black background&#10;&#10;AI-generated content may be incorrect.">
            <a:extLst>
              <a:ext uri="{FF2B5EF4-FFF2-40B4-BE49-F238E27FC236}">
                <a16:creationId xmlns:a16="http://schemas.microsoft.com/office/drawing/2014/main" id="{38807188-0414-F921-86C5-ACFBA8FDF197}"/>
              </a:ext>
            </a:extLst>
          </p:cNvPr>
          <p:cNvPicPr>
            <a:picLocks noChangeAspect="1"/>
          </p:cNvPicPr>
          <p:nvPr/>
        </p:nvPicPr>
        <p:blipFill>
          <a:blip r:embed="rId3"/>
          <a:srcRect l="32916" r="35816"/>
          <a:stretch>
            <a:fillRect/>
          </a:stretch>
        </p:blipFill>
        <p:spPr>
          <a:xfrm>
            <a:off x="5037803" y="2848937"/>
            <a:ext cx="246660" cy="1183319"/>
          </a:xfrm>
          <a:prstGeom prst="rect">
            <a:avLst/>
          </a:prstGeom>
        </p:spPr>
      </p:pic>
      <p:pic>
        <p:nvPicPr>
          <p:cNvPr id="13" name="Picture 12" descr="A green rectangular object with black background&#10;&#10;AI-generated content may be incorrect.">
            <a:extLst>
              <a:ext uri="{FF2B5EF4-FFF2-40B4-BE49-F238E27FC236}">
                <a16:creationId xmlns:a16="http://schemas.microsoft.com/office/drawing/2014/main" id="{3CD26575-DF90-E4C7-DF87-7B3546AA247E}"/>
              </a:ext>
            </a:extLst>
          </p:cNvPr>
          <p:cNvPicPr>
            <a:picLocks noChangeAspect="1"/>
          </p:cNvPicPr>
          <p:nvPr/>
        </p:nvPicPr>
        <p:blipFill>
          <a:blip r:embed="rId3"/>
          <a:srcRect l="32916" r="35816"/>
          <a:stretch>
            <a:fillRect/>
          </a:stretch>
        </p:blipFill>
        <p:spPr>
          <a:xfrm>
            <a:off x="5257904" y="2848937"/>
            <a:ext cx="246660" cy="1183319"/>
          </a:xfrm>
          <a:prstGeom prst="rect">
            <a:avLst/>
          </a:prstGeom>
        </p:spPr>
      </p:pic>
      <p:pic>
        <p:nvPicPr>
          <p:cNvPr id="18" name="Picture 17" descr="A yellow cube with black background&#10;&#10;AI-generated content may be incorrect.">
            <a:extLst>
              <a:ext uri="{FF2B5EF4-FFF2-40B4-BE49-F238E27FC236}">
                <a16:creationId xmlns:a16="http://schemas.microsoft.com/office/drawing/2014/main" id="{B9F27FC2-60D2-9B64-966F-DCCEA76895D9}"/>
              </a:ext>
            </a:extLst>
          </p:cNvPr>
          <p:cNvPicPr>
            <a:picLocks noChangeAspect="1"/>
          </p:cNvPicPr>
          <p:nvPr/>
        </p:nvPicPr>
        <p:blipFill>
          <a:blip r:embed="rId4"/>
          <a:stretch>
            <a:fillRect/>
          </a:stretch>
        </p:blipFill>
        <p:spPr>
          <a:xfrm>
            <a:off x="3007358" y="3321339"/>
            <a:ext cx="258386" cy="215322"/>
          </a:xfrm>
          <a:prstGeom prst="rect">
            <a:avLst/>
          </a:prstGeom>
        </p:spPr>
      </p:pic>
      <p:pic>
        <p:nvPicPr>
          <p:cNvPr id="19" name="Picture 18" descr="A yellow cube with black background&#10;&#10;AI-generated content may be incorrect.">
            <a:extLst>
              <a:ext uri="{FF2B5EF4-FFF2-40B4-BE49-F238E27FC236}">
                <a16:creationId xmlns:a16="http://schemas.microsoft.com/office/drawing/2014/main" id="{E5E9ACBD-0ACD-5ED0-CB31-8DFBA380984E}"/>
              </a:ext>
            </a:extLst>
          </p:cNvPr>
          <p:cNvPicPr>
            <a:picLocks noChangeAspect="1"/>
          </p:cNvPicPr>
          <p:nvPr/>
        </p:nvPicPr>
        <p:blipFill>
          <a:blip r:embed="rId4"/>
          <a:stretch>
            <a:fillRect/>
          </a:stretch>
        </p:blipFill>
        <p:spPr>
          <a:xfrm>
            <a:off x="3220159" y="3321339"/>
            <a:ext cx="258386" cy="215322"/>
          </a:xfrm>
          <a:prstGeom prst="rect">
            <a:avLst/>
          </a:prstGeom>
        </p:spPr>
      </p:pic>
      <p:pic>
        <p:nvPicPr>
          <p:cNvPr id="21" name="Picture 20" descr="A green rectangular object with black background&#10;&#10;AI-generated content may be incorrect.">
            <a:extLst>
              <a:ext uri="{FF2B5EF4-FFF2-40B4-BE49-F238E27FC236}">
                <a16:creationId xmlns:a16="http://schemas.microsoft.com/office/drawing/2014/main" id="{2495B6E7-A3D9-D1CB-D1FC-36C899F87694}"/>
              </a:ext>
            </a:extLst>
          </p:cNvPr>
          <p:cNvPicPr>
            <a:picLocks noChangeAspect="1"/>
          </p:cNvPicPr>
          <p:nvPr/>
        </p:nvPicPr>
        <p:blipFill>
          <a:blip r:embed="rId3"/>
          <a:srcRect l="32916" r="35816"/>
          <a:stretch>
            <a:fillRect/>
          </a:stretch>
        </p:blipFill>
        <p:spPr>
          <a:xfrm>
            <a:off x="1813671" y="2860531"/>
            <a:ext cx="246660" cy="1183319"/>
          </a:xfrm>
          <a:prstGeom prst="rect">
            <a:avLst/>
          </a:prstGeom>
        </p:spPr>
      </p:pic>
      <p:pic>
        <p:nvPicPr>
          <p:cNvPr id="22" name="Picture 21" descr="A green rectangular object with black background&#10;&#10;AI-generated content may be incorrect.">
            <a:extLst>
              <a:ext uri="{FF2B5EF4-FFF2-40B4-BE49-F238E27FC236}">
                <a16:creationId xmlns:a16="http://schemas.microsoft.com/office/drawing/2014/main" id="{409D424D-DBE9-7C91-5875-BBD31420ABFA}"/>
              </a:ext>
            </a:extLst>
          </p:cNvPr>
          <p:cNvPicPr>
            <a:picLocks noChangeAspect="1"/>
          </p:cNvPicPr>
          <p:nvPr/>
        </p:nvPicPr>
        <p:blipFill>
          <a:blip r:embed="rId3"/>
          <a:srcRect l="32916" r="35816"/>
          <a:stretch>
            <a:fillRect/>
          </a:stretch>
        </p:blipFill>
        <p:spPr>
          <a:xfrm>
            <a:off x="1989928" y="2860532"/>
            <a:ext cx="246660" cy="1183319"/>
          </a:xfrm>
          <a:prstGeom prst="rect">
            <a:avLst/>
          </a:prstGeom>
        </p:spPr>
      </p:pic>
      <p:sp>
        <p:nvSpPr>
          <p:cNvPr id="23" name="Rectangle: Rounded Corners 22">
            <a:extLst>
              <a:ext uri="{FF2B5EF4-FFF2-40B4-BE49-F238E27FC236}">
                <a16:creationId xmlns:a16="http://schemas.microsoft.com/office/drawing/2014/main" id="{6DAB9C07-C0EC-A7A3-59F5-4C92ADD2BEE4}"/>
              </a:ext>
            </a:extLst>
          </p:cNvPr>
          <p:cNvSpPr/>
          <p:nvPr/>
        </p:nvSpPr>
        <p:spPr>
          <a:xfrm>
            <a:off x="1837964" y="5075810"/>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72</a:t>
            </a:r>
            <a:endParaRPr lang="en-IN" sz="4000" b="1" dirty="0"/>
          </a:p>
        </p:txBody>
      </p:sp>
      <p:sp>
        <p:nvSpPr>
          <p:cNvPr id="24" name="Rectangle: Rounded Corners 23">
            <a:extLst>
              <a:ext uri="{FF2B5EF4-FFF2-40B4-BE49-F238E27FC236}">
                <a16:creationId xmlns:a16="http://schemas.microsoft.com/office/drawing/2014/main" id="{65512E4A-091F-527B-9675-EE5F761FB6C2}"/>
              </a:ext>
            </a:extLst>
          </p:cNvPr>
          <p:cNvSpPr/>
          <p:nvPr/>
        </p:nvSpPr>
        <p:spPr>
          <a:xfrm>
            <a:off x="3710310" y="5075811"/>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82</a:t>
            </a:r>
            <a:endParaRPr lang="en-IN" sz="4000" b="1" dirty="0"/>
          </a:p>
        </p:txBody>
      </p:sp>
      <p:sp>
        <p:nvSpPr>
          <p:cNvPr id="25" name="Rectangle: Rounded Corners 24">
            <a:extLst>
              <a:ext uri="{FF2B5EF4-FFF2-40B4-BE49-F238E27FC236}">
                <a16:creationId xmlns:a16="http://schemas.microsoft.com/office/drawing/2014/main" id="{230D0AB8-8D56-AB7C-DB76-1B1FCD3A27E9}"/>
              </a:ext>
            </a:extLst>
          </p:cNvPr>
          <p:cNvSpPr/>
          <p:nvPr/>
        </p:nvSpPr>
        <p:spPr>
          <a:xfrm>
            <a:off x="5582656" y="5063559"/>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80</a:t>
            </a:r>
            <a:endParaRPr lang="en-IN" sz="4000" b="1" dirty="0"/>
          </a:p>
        </p:txBody>
      </p:sp>
      <p:sp>
        <p:nvSpPr>
          <p:cNvPr id="14" name="TextBox 11">
            <a:extLst>
              <a:ext uri="{FF2B5EF4-FFF2-40B4-BE49-F238E27FC236}">
                <a16:creationId xmlns:a16="http://schemas.microsoft.com/office/drawing/2014/main" id="{C3CEC3D6-1492-1664-641E-8E5453D1A9AE}"/>
              </a:ext>
            </a:extLst>
          </p:cNvPr>
          <p:cNvSpPr txBox="1"/>
          <p:nvPr/>
        </p:nvSpPr>
        <p:spPr>
          <a:xfrm>
            <a:off x="4096224" y="3092739"/>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9 · 09_MAKE_SET.png</a:t>
            </a:r>
          </a:p>
        </p:txBody>
      </p:sp>
      <p:pic>
        <p:nvPicPr>
          <p:cNvPr id="3" name="Picture 2" descr="09_MAKE_SET.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06977" y="212735"/>
            <a:ext cx="3878370" cy="4955203"/>
          </a:xfrm>
          <a:prstGeom prst="rect">
            <a:avLst/>
          </a:prstGeom>
          <a:noFill/>
        </p:spPr>
        <p:txBody>
          <a:bodyPr wrap="square">
            <a:spAutoFit/>
          </a:bodyPr>
          <a:lstStyle/>
          <a:p>
            <a:r>
              <a:rPr sz="1600" b="1" dirty="0">
                <a:solidFill>
                  <a:srgbClr val="0B3D8C"/>
                </a:solidFill>
              </a:rPr>
              <a:t>Recommendations</a:t>
            </a:r>
          </a:p>
          <a:p>
            <a:pPr lvl="0" defTabSz="914400" eaLnBrk="0" fontAlgn="base" hangingPunct="0">
              <a:spcBef>
                <a:spcPct val="0"/>
              </a:spcBef>
              <a:spcAft>
                <a:spcPct val="0"/>
              </a:spcAft>
            </a:pPr>
            <a:r>
              <a:rPr lang="en-US" altLang="en-US" sz="1200" dirty="0"/>
              <a:t>Replace the entire slide content with the following:</a:t>
            </a:r>
          </a:p>
          <a:p>
            <a:r>
              <a:rPr lang="en-IN" sz="1200" b="1" dirty="0"/>
              <a:t>Instruction:</a:t>
            </a:r>
            <a:r>
              <a:rPr lang="en-IN" sz="1200" dirty="0"/>
              <a:t> </a:t>
            </a:r>
            <a:r>
              <a:rPr lang="hi-IN" sz="1200" dirty="0"/>
              <a:t>संख्याएँ जोड़िए।</a:t>
            </a:r>
            <a:br>
              <a:rPr lang="hi-IN" sz="1200" dirty="0"/>
            </a:br>
            <a:r>
              <a:rPr lang="en-IN" sz="1200" b="1" dirty="0"/>
              <a:t>Equation:</a:t>
            </a:r>
            <a:r>
              <a:rPr lang="en-IN" sz="1200" dirty="0"/>
              <a:t> </a:t>
            </a:r>
            <a:r>
              <a:rPr lang="en-IN" sz="1200" b="1" dirty="0"/>
              <a:t>32 + 15 = ?</a:t>
            </a:r>
            <a:endParaRPr lang="en-IN" sz="1200" dirty="0"/>
          </a:p>
          <a:p>
            <a:pPr lvl="0" defTabSz="914400" eaLnBrk="0" fontAlgn="base" hangingPunct="0">
              <a:spcBef>
                <a:spcPct val="0"/>
              </a:spcBef>
              <a:spcAft>
                <a:spcPct val="0"/>
              </a:spcAft>
            </a:pPr>
            <a:r>
              <a:rPr lang="en-US" sz="1200" dirty="0"/>
              <a:t>Show the PV tables with the numbers built using blocks one by one. </a:t>
            </a:r>
          </a:p>
          <a:p>
            <a:endParaRPr lang="en-IN" sz="1200" dirty="0"/>
          </a:p>
          <a:p>
            <a:r>
              <a:rPr lang="en-IN" sz="1200" b="1" dirty="0"/>
              <a:t>VO:</a:t>
            </a:r>
            <a:r>
              <a:rPr lang="en-IN" sz="1200" dirty="0"/>
              <a:t> </a:t>
            </a:r>
            <a:r>
              <a:rPr lang="hi-IN" sz="1200" dirty="0"/>
              <a:t>32 और 15 को जोड़िए और सही जोड़ टाइप करिए।</a:t>
            </a:r>
            <a:br>
              <a:rPr lang="hi-IN" sz="1200" dirty="0"/>
            </a:br>
            <a:r>
              <a:rPr lang="hi-IN" sz="1200" i="1" dirty="0"/>
              <a:t>[</a:t>
            </a:r>
            <a:r>
              <a:rPr lang="en-US" sz="1200" i="1" dirty="0"/>
              <a:t>Show </a:t>
            </a:r>
            <a:r>
              <a:rPr lang="en-IN" sz="1200" i="1" dirty="0"/>
              <a:t>an answer counter below with a hand nudge. On tap, open the number pad for the child to enter the answer.]</a:t>
            </a:r>
          </a:p>
          <a:p>
            <a:endParaRPr lang="en-IN" sz="1200" dirty="0"/>
          </a:p>
          <a:p>
            <a:r>
              <a:rPr lang="en-IN" sz="1200" b="1" dirty="0"/>
              <a:t>CR:</a:t>
            </a:r>
            <a:r>
              <a:rPr lang="en-IN" sz="1200" dirty="0"/>
              <a:t> </a:t>
            </a:r>
            <a:r>
              <a:rPr lang="hi-IN" sz="1200" dirty="0"/>
              <a:t>शाबाश! </a:t>
            </a:r>
            <a:r>
              <a:rPr lang="en-IN" sz="1200" dirty="0"/>
              <a:t>32 </a:t>
            </a:r>
            <a:r>
              <a:rPr lang="hi-IN" sz="1200" dirty="0"/>
              <a:t>जोड़ </a:t>
            </a:r>
            <a:r>
              <a:rPr lang="en-US" sz="1200" dirty="0"/>
              <a:t>15 </a:t>
            </a:r>
            <a:r>
              <a:rPr lang="hi-IN" sz="1200" dirty="0"/>
              <a:t>बराबर </a:t>
            </a:r>
            <a:r>
              <a:rPr lang="en-US" sz="1200" dirty="0"/>
              <a:t>47</a:t>
            </a:r>
            <a:br>
              <a:rPr lang="hi-IN" sz="1200" dirty="0"/>
            </a:br>
            <a:r>
              <a:rPr lang="hi-IN" sz="1200" i="1" dirty="0"/>
              <a:t>[</a:t>
            </a:r>
            <a:r>
              <a:rPr lang="en-IN" sz="1200" i="1" dirty="0"/>
              <a:t>Move the typed answer to the equation, replacing the </a:t>
            </a:r>
            <a:r>
              <a:rPr lang="en-IN" sz="1200" b="1" i="1" dirty="0"/>
              <a:t>“?”</a:t>
            </a:r>
            <a:r>
              <a:rPr lang="en-IN" sz="1200" i="1" dirty="0"/>
              <a:t> symbol.]</a:t>
            </a:r>
          </a:p>
          <a:p>
            <a:endParaRPr lang="en-IN" sz="1200" dirty="0"/>
          </a:p>
          <a:p>
            <a:r>
              <a:rPr lang="en-IN" sz="1200" b="1" dirty="0"/>
              <a:t>Feedback/Hint</a:t>
            </a:r>
            <a:endParaRPr lang="en-IN" sz="1200" dirty="0"/>
          </a:p>
          <a:p>
            <a:r>
              <a:rPr lang="en-IN" sz="1200" b="1" dirty="0"/>
              <a:t>WA1:</a:t>
            </a:r>
            <a:r>
              <a:rPr lang="en-IN" sz="1200" dirty="0"/>
              <a:t> Wiggle + VO: </a:t>
            </a:r>
            <a:r>
              <a:rPr lang="hi-IN" sz="1200" b="1" dirty="0"/>
              <a:t>ब्लॉक्स को गिनिए और सही जोड़ टाइप करिए।</a:t>
            </a:r>
            <a:endParaRPr lang="hi-IN" sz="1200" dirty="0"/>
          </a:p>
          <a:p>
            <a:r>
              <a:rPr lang="en-IN" sz="1200" b="1" dirty="0"/>
              <a:t>WA2:</a:t>
            </a:r>
            <a:r>
              <a:rPr lang="en-IN" sz="1200" dirty="0"/>
              <a:t> Wiggle + </a:t>
            </a:r>
            <a:r>
              <a:rPr lang="en-US" sz="1200" dirty="0"/>
              <a:t>Animate the blocks moving to a third PV table, then remove the first two tables and center the sum PV table </a:t>
            </a:r>
            <a:r>
              <a:rPr lang="en-IN" sz="1200" dirty="0"/>
              <a:t>+ VO: </a:t>
            </a:r>
            <a:r>
              <a:rPr lang="hi-IN" sz="1200" b="1" dirty="0"/>
              <a:t>ध्यान से देखिए, कुल 4 दहाइयाँ और 7 इकाइयाँ हैं। </a:t>
            </a:r>
            <a:endParaRPr lang="en-US" sz="1200" b="1" dirty="0"/>
          </a:p>
          <a:p>
            <a:r>
              <a:rPr lang="en-IN" sz="1200" b="1" dirty="0"/>
              <a:t>WA3:</a:t>
            </a:r>
            <a:r>
              <a:rPr lang="en-IN" sz="1200" dirty="0"/>
              <a:t> Wiggle + highlight the correct digit buttons in sequence. As the child taps them, enter the digits in the answer counter. </a:t>
            </a:r>
            <a:endParaRPr lang="hi-IN" sz="1200" dirty="0"/>
          </a:p>
        </p:txBody>
      </p:sp>
      <p:graphicFrame>
        <p:nvGraphicFramePr>
          <p:cNvPr id="8" name="Table 7">
            <a:extLst>
              <a:ext uri="{FF2B5EF4-FFF2-40B4-BE49-F238E27FC236}">
                <a16:creationId xmlns:a16="http://schemas.microsoft.com/office/drawing/2014/main" id="{03584AC9-F743-9148-F012-04587FAFE226}"/>
              </a:ext>
            </a:extLst>
          </p:cNvPr>
          <p:cNvGraphicFramePr>
            <a:graphicFrameLocks noGrp="1"/>
          </p:cNvGraphicFramePr>
          <p:nvPr>
            <p:extLst>
              <p:ext uri="{D42A27DB-BD31-4B8C-83A1-F6EECF244321}">
                <p14:modId xmlns:p14="http://schemas.microsoft.com/office/powerpoint/2010/main" val="973066689"/>
              </p:ext>
            </p:extLst>
          </p:nvPr>
        </p:nvGraphicFramePr>
        <p:xfrm>
          <a:off x="843284"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graphicFrame>
        <p:nvGraphicFramePr>
          <p:cNvPr id="9" name="Table 8">
            <a:extLst>
              <a:ext uri="{FF2B5EF4-FFF2-40B4-BE49-F238E27FC236}">
                <a16:creationId xmlns:a16="http://schemas.microsoft.com/office/drawing/2014/main" id="{F805F198-550D-9105-8086-F6B6148F1F7F}"/>
              </a:ext>
            </a:extLst>
          </p:cNvPr>
          <p:cNvGraphicFramePr>
            <a:graphicFrameLocks noGrp="1"/>
          </p:cNvGraphicFramePr>
          <p:nvPr>
            <p:extLst>
              <p:ext uri="{D42A27DB-BD31-4B8C-83A1-F6EECF244321}">
                <p14:modId xmlns:p14="http://schemas.microsoft.com/office/powerpoint/2010/main" val="203042117"/>
              </p:ext>
            </p:extLst>
          </p:nvPr>
        </p:nvGraphicFramePr>
        <p:xfrm>
          <a:off x="4445002"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sz="1200" dirty="0"/>
                    </a:p>
                  </a:txBody>
                  <a:tcPr>
                    <a:solidFill>
                      <a:schemeClr val="accent5">
                        <a:lumMod val="20000"/>
                        <a:lumOff val="80000"/>
                      </a:schemeClr>
                    </a:solidFill>
                  </a:tcPr>
                </a:tc>
                <a:tc>
                  <a:txBody>
                    <a:bodyPr/>
                    <a:lstStyle/>
                    <a:p>
                      <a:endParaRPr lang="en-IN" sz="1200"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10" name="Picture 9" descr="A green rectangular object with black background&#10;&#10;AI-generated content may be incorrect.">
            <a:extLst>
              <a:ext uri="{FF2B5EF4-FFF2-40B4-BE49-F238E27FC236}">
                <a16:creationId xmlns:a16="http://schemas.microsoft.com/office/drawing/2014/main" id="{4AE27517-598E-297D-2E57-C2AD41348A25}"/>
              </a:ext>
            </a:extLst>
          </p:cNvPr>
          <p:cNvPicPr>
            <a:picLocks noChangeAspect="1"/>
          </p:cNvPicPr>
          <p:nvPr/>
        </p:nvPicPr>
        <p:blipFill>
          <a:blip r:embed="rId3"/>
          <a:srcRect l="32916" r="35816"/>
          <a:stretch>
            <a:fillRect/>
          </a:stretch>
        </p:blipFill>
        <p:spPr>
          <a:xfrm>
            <a:off x="1258684" y="2860532"/>
            <a:ext cx="246660" cy="1183319"/>
          </a:xfrm>
          <a:prstGeom prst="rect">
            <a:avLst/>
          </a:prstGeom>
        </p:spPr>
      </p:pic>
      <p:sp>
        <p:nvSpPr>
          <p:cNvPr id="11" name="Rectangle: Rounded Corners 10">
            <a:extLst>
              <a:ext uri="{FF2B5EF4-FFF2-40B4-BE49-F238E27FC236}">
                <a16:creationId xmlns:a16="http://schemas.microsoft.com/office/drawing/2014/main" id="{340DA28D-2F2D-4E52-5E89-B22C44731B84}"/>
              </a:ext>
            </a:extLst>
          </p:cNvPr>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32  +  15  =  ?</a:t>
            </a:r>
            <a:endParaRPr lang="en-IN" sz="3200" b="1" dirty="0"/>
          </a:p>
        </p:txBody>
      </p:sp>
      <p:pic>
        <p:nvPicPr>
          <p:cNvPr id="12" name="Picture 11" descr="A green rectangular object with black background&#10;&#10;AI-generated content may be incorrect.">
            <a:extLst>
              <a:ext uri="{FF2B5EF4-FFF2-40B4-BE49-F238E27FC236}">
                <a16:creationId xmlns:a16="http://schemas.microsoft.com/office/drawing/2014/main" id="{BCC055F5-A7B2-373F-54BF-57547D14D10C}"/>
              </a:ext>
            </a:extLst>
          </p:cNvPr>
          <p:cNvPicPr>
            <a:picLocks noChangeAspect="1"/>
          </p:cNvPicPr>
          <p:nvPr/>
        </p:nvPicPr>
        <p:blipFill>
          <a:blip r:embed="rId3"/>
          <a:srcRect l="32916" r="35816"/>
          <a:stretch>
            <a:fillRect/>
          </a:stretch>
        </p:blipFill>
        <p:spPr>
          <a:xfrm>
            <a:off x="1455789" y="2872128"/>
            <a:ext cx="246660" cy="1183319"/>
          </a:xfrm>
          <a:prstGeom prst="rect">
            <a:avLst/>
          </a:prstGeom>
        </p:spPr>
      </p:pic>
      <p:pic>
        <p:nvPicPr>
          <p:cNvPr id="13" name="Picture 12" descr="A green rectangular object with black background&#10;&#10;AI-generated content may be incorrect.">
            <a:extLst>
              <a:ext uri="{FF2B5EF4-FFF2-40B4-BE49-F238E27FC236}">
                <a16:creationId xmlns:a16="http://schemas.microsoft.com/office/drawing/2014/main" id="{0A21A350-29BE-A675-CD2C-BD29F0616900}"/>
              </a:ext>
            </a:extLst>
          </p:cNvPr>
          <p:cNvPicPr>
            <a:picLocks noChangeAspect="1"/>
          </p:cNvPicPr>
          <p:nvPr/>
        </p:nvPicPr>
        <p:blipFill>
          <a:blip r:embed="rId3"/>
          <a:srcRect l="32916" r="35816"/>
          <a:stretch>
            <a:fillRect/>
          </a:stretch>
        </p:blipFill>
        <p:spPr>
          <a:xfrm>
            <a:off x="1665601" y="2860533"/>
            <a:ext cx="246660" cy="1183319"/>
          </a:xfrm>
          <a:prstGeom prst="rect">
            <a:avLst/>
          </a:prstGeom>
        </p:spPr>
      </p:pic>
      <p:pic>
        <p:nvPicPr>
          <p:cNvPr id="15" name="Picture 14" descr="A green rectangular object with black background&#10;&#10;AI-generated content may be incorrect.">
            <a:extLst>
              <a:ext uri="{FF2B5EF4-FFF2-40B4-BE49-F238E27FC236}">
                <a16:creationId xmlns:a16="http://schemas.microsoft.com/office/drawing/2014/main" id="{05909038-8F91-9EA2-C73D-3443D666A15A}"/>
              </a:ext>
            </a:extLst>
          </p:cNvPr>
          <p:cNvPicPr>
            <a:picLocks noChangeAspect="1"/>
          </p:cNvPicPr>
          <p:nvPr/>
        </p:nvPicPr>
        <p:blipFill>
          <a:blip r:embed="rId3"/>
          <a:srcRect l="32916" r="35816"/>
          <a:stretch>
            <a:fillRect/>
          </a:stretch>
        </p:blipFill>
        <p:spPr>
          <a:xfrm>
            <a:off x="5104288" y="2837340"/>
            <a:ext cx="246660" cy="1183319"/>
          </a:xfrm>
          <a:prstGeom prst="rect">
            <a:avLst/>
          </a:prstGeom>
        </p:spPr>
      </p:pic>
      <p:pic>
        <p:nvPicPr>
          <p:cNvPr id="17" name="Picture 16" descr="A yellow cube with black background&#10;&#10;AI-generated content may be incorrect.">
            <a:extLst>
              <a:ext uri="{FF2B5EF4-FFF2-40B4-BE49-F238E27FC236}">
                <a16:creationId xmlns:a16="http://schemas.microsoft.com/office/drawing/2014/main" id="{8F944665-99F9-5A1A-3581-13899F2C2FA2}"/>
              </a:ext>
            </a:extLst>
          </p:cNvPr>
          <p:cNvPicPr>
            <a:picLocks noChangeAspect="1"/>
          </p:cNvPicPr>
          <p:nvPr/>
        </p:nvPicPr>
        <p:blipFill>
          <a:blip r:embed="rId4"/>
          <a:stretch>
            <a:fillRect/>
          </a:stretch>
        </p:blipFill>
        <p:spPr>
          <a:xfrm>
            <a:off x="3007358" y="3321339"/>
            <a:ext cx="258386" cy="215322"/>
          </a:xfrm>
          <a:prstGeom prst="rect">
            <a:avLst/>
          </a:prstGeom>
        </p:spPr>
      </p:pic>
      <p:pic>
        <p:nvPicPr>
          <p:cNvPr id="18" name="Picture 17" descr="A yellow cube with black background&#10;&#10;AI-generated content may be incorrect.">
            <a:extLst>
              <a:ext uri="{FF2B5EF4-FFF2-40B4-BE49-F238E27FC236}">
                <a16:creationId xmlns:a16="http://schemas.microsoft.com/office/drawing/2014/main" id="{F985DD2E-2E81-D6C2-7A59-E9FC6BDFF26A}"/>
              </a:ext>
            </a:extLst>
          </p:cNvPr>
          <p:cNvPicPr>
            <a:picLocks noChangeAspect="1"/>
          </p:cNvPicPr>
          <p:nvPr/>
        </p:nvPicPr>
        <p:blipFill>
          <a:blip r:embed="rId4"/>
          <a:stretch>
            <a:fillRect/>
          </a:stretch>
        </p:blipFill>
        <p:spPr>
          <a:xfrm>
            <a:off x="3220159" y="3321339"/>
            <a:ext cx="258386" cy="215322"/>
          </a:xfrm>
          <a:prstGeom prst="rect">
            <a:avLst/>
          </a:prstGeom>
        </p:spPr>
      </p:pic>
      <p:sp>
        <p:nvSpPr>
          <p:cNvPr id="21" name="Rectangle: Rounded Corners 20">
            <a:extLst>
              <a:ext uri="{FF2B5EF4-FFF2-40B4-BE49-F238E27FC236}">
                <a16:creationId xmlns:a16="http://schemas.microsoft.com/office/drawing/2014/main" id="{26B28058-8B77-F9B6-5331-568719BEDCDC}"/>
              </a:ext>
            </a:extLst>
          </p:cNvPr>
          <p:cNvSpPr/>
          <p:nvPr/>
        </p:nvSpPr>
        <p:spPr>
          <a:xfrm>
            <a:off x="3749040" y="4379976"/>
            <a:ext cx="914400" cy="576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1026" name="Picture 2" descr="black and white icons Stock Vector | Adobe Stock">
            <a:extLst>
              <a:ext uri="{FF2B5EF4-FFF2-40B4-BE49-F238E27FC236}">
                <a16:creationId xmlns:a16="http://schemas.microsoft.com/office/drawing/2014/main" id="{58CE7C11-4E1E-C474-1BD7-EF869157634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6950" t="13066" r="16336" b="14533"/>
          <a:stretch>
            <a:fillRect/>
          </a:stretch>
        </p:blipFill>
        <p:spPr bwMode="auto">
          <a:xfrm>
            <a:off x="3645573" y="5075811"/>
            <a:ext cx="1282082" cy="139137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11">
            <a:extLst>
              <a:ext uri="{FF2B5EF4-FFF2-40B4-BE49-F238E27FC236}">
                <a16:creationId xmlns:a16="http://schemas.microsoft.com/office/drawing/2014/main" id="{062E04B7-1639-BEB1-CA3C-44EBDB9F2FB3}"/>
              </a:ext>
            </a:extLst>
          </p:cNvPr>
          <p:cNvSpPr txBox="1"/>
          <p:nvPr/>
        </p:nvSpPr>
        <p:spPr>
          <a:xfrm>
            <a:off x="4133088" y="3092739"/>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6" name="Picture 5" descr="A yellow cube with black background&#10;&#10;AI-generated content may be incorrect.">
            <a:extLst>
              <a:ext uri="{FF2B5EF4-FFF2-40B4-BE49-F238E27FC236}">
                <a16:creationId xmlns:a16="http://schemas.microsoft.com/office/drawing/2014/main" id="{38CA9612-B9F8-CC31-85C9-5677277D647D}"/>
              </a:ext>
            </a:extLst>
          </p:cNvPr>
          <p:cNvPicPr>
            <a:picLocks noChangeAspect="1"/>
          </p:cNvPicPr>
          <p:nvPr/>
        </p:nvPicPr>
        <p:blipFill>
          <a:blip r:embed="rId4"/>
          <a:stretch>
            <a:fillRect/>
          </a:stretch>
        </p:blipFill>
        <p:spPr>
          <a:xfrm>
            <a:off x="6252487" y="3321338"/>
            <a:ext cx="258386" cy="215322"/>
          </a:xfrm>
          <a:prstGeom prst="rect">
            <a:avLst/>
          </a:prstGeom>
        </p:spPr>
      </p:pic>
      <p:pic>
        <p:nvPicPr>
          <p:cNvPr id="7" name="Picture 6" descr="A yellow cube with black background&#10;&#10;AI-generated content may be incorrect.">
            <a:extLst>
              <a:ext uri="{FF2B5EF4-FFF2-40B4-BE49-F238E27FC236}">
                <a16:creationId xmlns:a16="http://schemas.microsoft.com/office/drawing/2014/main" id="{8D7E7DC4-A056-4CA2-7D3D-6273262F43AA}"/>
              </a:ext>
            </a:extLst>
          </p:cNvPr>
          <p:cNvPicPr>
            <a:picLocks noChangeAspect="1"/>
          </p:cNvPicPr>
          <p:nvPr/>
        </p:nvPicPr>
        <p:blipFill>
          <a:blip r:embed="rId4"/>
          <a:stretch>
            <a:fillRect/>
          </a:stretch>
        </p:blipFill>
        <p:spPr>
          <a:xfrm>
            <a:off x="6462154" y="3327433"/>
            <a:ext cx="258386" cy="215322"/>
          </a:xfrm>
          <a:prstGeom prst="rect">
            <a:avLst/>
          </a:prstGeom>
        </p:spPr>
      </p:pic>
      <p:pic>
        <p:nvPicPr>
          <p:cNvPr id="22" name="Picture 21" descr="A yellow cube with black background&#10;&#10;AI-generated content may be incorrect.">
            <a:extLst>
              <a:ext uri="{FF2B5EF4-FFF2-40B4-BE49-F238E27FC236}">
                <a16:creationId xmlns:a16="http://schemas.microsoft.com/office/drawing/2014/main" id="{1E14F600-B546-312D-C5AC-CED80641EA3D}"/>
              </a:ext>
            </a:extLst>
          </p:cNvPr>
          <p:cNvPicPr>
            <a:picLocks noChangeAspect="1"/>
          </p:cNvPicPr>
          <p:nvPr/>
        </p:nvPicPr>
        <p:blipFill>
          <a:blip r:embed="rId4"/>
          <a:stretch>
            <a:fillRect/>
          </a:stretch>
        </p:blipFill>
        <p:spPr>
          <a:xfrm>
            <a:off x="6686480" y="3334617"/>
            <a:ext cx="258386" cy="215322"/>
          </a:xfrm>
          <a:prstGeom prst="rect">
            <a:avLst/>
          </a:prstGeom>
        </p:spPr>
      </p:pic>
      <p:pic>
        <p:nvPicPr>
          <p:cNvPr id="23" name="Picture 22" descr="A yellow cube with black background&#10;&#10;AI-generated content may be incorrect.">
            <a:extLst>
              <a:ext uri="{FF2B5EF4-FFF2-40B4-BE49-F238E27FC236}">
                <a16:creationId xmlns:a16="http://schemas.microsoft.com/office/drawing/2014/main" id="{A642C216-A031-9C67-2521-09F30E07E69F}"/>
              </a:ext>
            </a:extLst>
          </p:cNvPr>
          <p:cNvPicPr>
            <a:picLocks noChangeAspect="1"/>
          </p:cNvPicPr>
          <p:nvPr/>
        </p:nvPicPr>
        <p:blipFill>
          <a:blip r:embed="rId4"/>
          <a:stretch>
            <a:fillRect/>
          </a:stretch>
        </p:blipFill>
        <p:spPr>
          <a:xfrm>
            <a:off x="6880797" y="3341255"/>
            <a:ext cx="258386" cy="215322"/>
          </a:xfrm>
          <a:prstGeom prst="rect">
            <a:avLst/>
          </a:prstGeom>
        </p:spPr>
      </p:pic>
      <p:pic>
        <p:nvPicPr>
          <p:cNvPr id="24" name="Picture 23" descr="A yellow cube with black background&#10;&#10;AI-generated content may be incorrect.">
            <a:extLst>
              <a:ext uri="{FF2B5EF4-FFF2-40B4-BE49-F238E27FC236}">
                <a16:creationId xmlns:a16="http://schemas.microsoft.com/office/drawing/2014/main" id="{50675498-4D01-D243-7DB3-B656BF95EE18}"/>
              </a:ext>
            </a:extLst>
          </p:cNvPr>
          <p:cNvPicPr>
            <a:picLocks noChangeAspect="1"/>
          </p:cNvPicPr>
          <p:nvPr/>
        </p:nvPicPr>
        <p:blipFill>
          <a:blip r:embed="rId4"/>
          <a:stretch>
            <a:fillRect/>
          </a:stretch>
        </p:blipFill>
        <p:spPr>
          <a:xfrm>
            <a:off x="7075114" y="3339626"/>
            <a:ext cx="258386" cy="2153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10 · 10_MAKE_SET.png</a:t>
            </a:r>
          </a:p>
        </p:txBody>
      </p:sp>
      <p:pic>
        <p:nvPicPr>
          <p:cNvPr id="3" name="Picture 2" descr="10_MAKE_SET.png"/>
          <p:cNvPicPr>
            <a:picLocks noChangeAspect="1"/>
          </p:cNvPicPr>
          <p:nvPr/>
        </p:nvPicPr>
        <p:blipFill>
          <a:blip r:embed="rId2"/>
          <a:stretch>
            <a:fillRect/>
          </a:stretch>
        </p:blipFill>
        <p:spPr>
          <a:xfrm>
            <a:off x="365760" y="731520"/>
            <a:ext cx="7680960" cy="4298571"/>
          </a:xfrm>
          <a:prstGeom prst="rect">
            <a:avLst/>
          </a:prstGeom>
        </p:spPr>
      </p:pic>
      <p:sp>
        <p:nvSpPr>
          <p:cNvPr id="6" name="TextBox 5">
            <a:extLst>
              <a:ext uri="{FF2B5EF4-FFF2-40B4-BE49-F238E27FC236}">
                <a16:creationId xmlns:a16="http://schemas.microsoft.com/office/drawing/2014/main" id="{41B00492-488D-4D78-B8B0-FFE6F5E3DF21}"/>
              </a:ext>
            </a:extLst>
          </p:cNvPr>
          <p:cNvSpPr txBox="1"/>
          <p:nvPr/>
        </p:nvSpPr>
        <p:spPr>
          <a:xfrm>
            <a:off x="8229600" y="39663"/>
            <a:ext cx="3596335" cy="4955203"/>
          </a:xfrm>
          <a:prstGeom prst="rect">
            <a:avLst/>
          </a:prstGeom>
          <a:noFill/>
        </p:spPr>
        <p:txBody>
          <a:bodyPr wrap="square">
            <a:spAutoFit/>
          </a:bodyPr>
          <a:lstStyle/>
          <a:p>
            <a:r>
              <a:rPr sz="1600" b="1" dirty="0">
                <a:solidFill>
                  <a:srgbClr val="0B3D8C"/>
                </a:solidFill>
              </a:rPr>
              <a:t>Recommendations</a:t>
            </a:r>
          </a:p>
          <a:p>
            <a:pPr lvl="0" defTabSz="914400" eaLnBrk="0" fontAlgn="base" hangingPunct="0">
              <a:spcBef>
                <a:spcPct val="0"/>
              </a:spcBef>
              <a:spcAft>
                <a:spcPct val="0"/>
              </a:spcAft>
            </a:pPr>
            <a:r>
              <a:rPr lang="en-US" altLang="en-US" sz="1200" dirty="0"/>
              <a:t>Replace the entire slide content with the following:</a:t>
            </a:r>
          </a:p>
          <a:p>
            <a:r>
              <a:rPr lang="en-IN" sz="1200" b="1" dirty="0"/>
              <a:t>Instruction:</a:t>
            </a:r>
            <a:r>
              <a:rPr lang="en-IN" sz="1200" dirty="0"/>
              <a:t> </a:t>
            </a:r>
            <a:r>
              <a:rPr lang="hi-IN" sz="1200" strike="sngStrike" dirty="0"/>
              <a:t>संख्याएँ</a:t>
            </a:r>
            <a:r>
              <a:rPr lang="hi-IN" sz="1200" dirty="0"/>
              <a:t> जोड़िए।</a:t>
            </a:r>
            <a:br>
              <a:rPr lang="hi-IN" sz="1200" dirty="0"/>
            </a:br>
            <a:r>
              <a:rPr lang="en-IN" sz="1200" b="1" dirty="0"/>
              <a:t>Equation:</a:t>
            </a:r>
            <a:r>
              <a:rPr lang="en-IN" sz="1200" dirty="0"/>
              <a:t> </a:t>
            </a:r>
            <a:r>
              <a:rPr lang="en-IN" sz="1200" b="1" dirty="0"/>
              <a:t>40 + 30 = ?</a:t>
            </a:r>
            <a:endParaRPr lang="en-IN" sz="1200" dirty="0"/>
          </a:p>
          <a:p>
            <a:pPr lvl="0" defTabSz="914400" eaLnBrk="0" fontAlgn="base" hangingPunct="0">
              <a:spcBef>
                <a:spcPct val="0"/>
              </a:spcBef>
              <a:spcAft>
                <a:spcPct val="0"/>
              </a:spcAft>
            </a:pPr>
            <a:r>
              <a:rPr lang="en-US" sz="1200" dirty="0"/>
              <a:t>Show the PV tables with the numbers built using blocks one by one. </a:t>
            </a:r>
          </a:p>
          <a:p>
            <a:endParaRPr lang="en-IN" sz="1200" dirty="0"/>
          </a:p>
          <a:p>
            <a:r>
              <a:rPr lang="en-IN" sz="1200" b="1" dirty="0"/>
              <a:t>VO:</a:t>
            </a:r>
            <a:r>
              <a:rPr lang="en-IN" sz="1200" dirty="0"/>
              <a:t> 40 </a:t>
            </a:r>
            <a:r>
              <a:rPr lang="hi-IN" sz="1200" dirty="0"/>
              <a:t>और </a:t>
            </a:r>
            <a:r>
              <a:rPr lang="en-US" sz="1200" dirty="0"/>
              <a:t>30</a:t>
            </a:r>
            <a:r>
              <a:rPr lang="hi-IN" sz="1200" dirty="0"/>
              <a:t> को जोड़िए</a:t>
            </a:r>
            <a:r>
              <a:rPr lang="en-US" sz="1200" dirty="0"/>
              <a:t> </a:t>
            </a:r>
            <a:r>
              <a:rPr lang="hi-IN" sz="1200" dirty="0"/>
              <a:t>और सही जोड़ टाइप करिए। </a:t>
            </a:r>
            <a:r>
              <a:rPr lang="hi-IN" sz="1200" i="1" dirty="0"/>
              <a:t>[</a:t>
            </a:r>
            <a:r>
              <a:rPr lang="en-US" sz="1200" i="1" dirty="0"/>
              <a:t>Show </a:t>
            </a:r>
            <a:r>
              <a:rPr lang="en-IN" sz="1200" i="1" dirty="0"/>
              <a:t>an answer counter below with a hand nudge. On tap, open the number pad for the child to enter the answer.]</a:t>
            </a:r>
          </a:p>
          <a:p>
            <a:endParaRPr lang="en-IN" sz="1200" dirty="0"/>
          </a:p>
          <a:p>
            <a:r>
              <a:rPr lang="en-IN" sz="1200" b="1" dirty="0"/>
              <a:t>CR:</a:t>
            </a:r>
            <a:r>
              <a:rPr lang="en-IN" sz="1200" dirty="0"/>
              <a:t> </a:t>
            </a:r>
            <a:r>
              <a:rPr lang="hi-IN" sz="1200" dirty="0"/>
              <a:t>शाबाश! </a:t>
            </a:r>
            <a:r>
              <a:rPr lang="en-IN" sz="1200" dirty="0"/>
              <a:t>40 </a:t>
            </a:r>
            <a:r>
              <a:rPr lang="hi-IN" sz="1200" dirty="0"/>
              <a:t>जोड़ </a:t>
            </a:r>
            <a:r>
              <a:rPr lang="en-US" sz="1200" dirty="0"/>
              <a:t>30</a:t>
            </a:r>
            <a:r>
              <a:rPr lang="hi-IN" sz="1200" dirty="0"/>
              <a:t> बराबर</a:t>
            </a:r>
            <a:r>
              <a:rPr lang="en-US" sz="1200" dirty="0"/>
              <a:t> 70</a:t>
            </a:r>
            <a:br>
              <a:rPr lang="hi-IN" sz="1200" dirty="0"/>
            </a:br>
            <a:r>
              <a:rPr lang="hi-IN" sz="1200" i="1" dirty="0"/>
              <a:t>[</a:t>
            </a:r>
            <a:r>
              <a:rPr lang="en-IN" sz="1200" i="1" dirty="0"/>
              <a:t>Move the typed answer to the equation, replacing the </a:t>
            </a:r>
            <a:r>
              <a:rPr lang="en-IN" sz="1200" b="1" i="1" dirty="0"/>
              <a:t>“?”</a:t>
            </a:r>
            <a:r>
              <a:rPr lang="en-IN" sz="1200" i="1" dirty="0"/>
              <a:t> symbol.]</a:t>
            </a:r>
          </a:p>
          <a:p>
            <a:endParaRPr lang="en-IN" sz="1200" dirty="0"/>
          </a:p>
          <a:p>
            <a:r>
              <a:rPr lang="en-IN" sz="1200" b="1" dirty="0"/>
              <a:t>Feedback/Hint</a:t>
            </a:r>
            <a:endParaRPr lang="en-IN" sz="1200" dirty="0"/>
          </a:p>
          <a:p>
            <a:r>
              <a:rPr lang="en-IN" sz="1200" b="1" dirty="0"/>
              <a:t>WA1:</a:t>
            </a:r>
            <a:r>
              <a:rPr lang="en-IN" sz="1200" dirty="0"/>
              <a:t> Wiggle + VO: </a:t>
            </a:r>
            <a:r>
              <a:rPr lang="hi-IN" sz="1200" b="1" dirty="0"/>
              <a:t>ब्लॉक्स को गिनिए और सही जोड़ टाइप करिए।</a:t>
            </a:r>
            <a:endParaRPr lang="hi-IN" sz="1200" dirty="0"/>
          </a:p>
          <a:p>
            <a:r>
              <a:rPr lang="en-IN" sz="1200" b="1" dirty="0"/>
              <a:t>WA2:</a:t>
            </a:r>
            <a:r>
              <a:rPr lang="en-IN" sz="1200" dirty="0"/>
              <a:t> Wiggle + </a:t>
            </a:r>
            <a:r>
              <a:rPr lang="en-US" sz="1200" dirty="0"/>
              <a:t>Animate the blocks moving to a third PV table, then remove the first two tables and center the sum PV table </a:t>
            </a:r>
            <a:r>
              <a:rPr lang="en-IN" sz="1200" dirty="0"/>
              <a:t>+ VO: </a:t>
            </a:r>
            <a:r>
              <a:rPr lang="hi-IN" sz="1200" b="1" dirty="0"/>
              <a:t>ध्यान से देखिए, कुल 4 दहाइयाँ और </a:t>
            </a:r>
            <a:r>
              <a:rPr lang="en-US" sz="1200" b="1" dirty="0"/>
              <a:t>0 </a:t>
            </a:r>
            <a:r>
              <a:rPr lang="hi-IN" sz="1200" b="1" dirty="0"/>
              <a:t>इकाई हैं।</a:t>
            </a:r>
            <a:endParaRPr lang="hi-IN" sz="1200" dirty="0"/>
          </a:p>
          <a:p>
            <a:r>
              <a:rPr lang="en-IN" sz="1200" b="1" dirty="0"/>
              <a:t>WA3:</a:t>
            </a:r>
            <a:r>
              <a:rPr lang="en-IN" sz="1200" dirty="0"/>
              <a:t> Wiggle + highlight the correct digit buttons in sequence. As the child taps them, enter the digits in the answer counter. </a:t>
            </a:r>
            <a:endParaRPr lang="hi-IN" sz="1200" dirty="0"/>
          </a:p>
        </p:txBody>
      </p:sp>
      <p:graphicFrame>
        <p:nvGraphicFramePr>
          <p:cNvPr id="7" name="Table 6">
            <a:extLst>
              <a:ext uri="{FF2B5EF4-FFF2-40B4-BE49-F238E27FC236}">
                <a16:creationId xmlns:a16="http://schemas.microsoft.com/office/drawing/2014/main" id="{156845B1-F892-E0E6-7763-9004F1087B0A}"/>
              </a:ext>
            </a:extLst>
          </p:cNvPr>
          <p:cNvGraphicFramePr>
            <a:graphicFrameLocks noGrp="1"/>
          </p:cNvGraphicFramePr>
          <p:nvPr>
            <p:extLst>
              <p:ext uri="{D42A27DB-BD31-4B8C-83A1-F6EECF244321}">
                <p14:modId xmlns:p14="http://schemas.microsoft.com/office/powerpoint/2010/main" val="2351959879"/>
              </p:ext>
            </p:extLst>
          </p:nvPr>
        </p:nvGraphicFramePr>
        <p:xfrm>
          <a:off x="843284"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dirty="0"/>
                    </a:p>
                  </a:txBody>
                  <a:tcPr>
                    <a:solidFill>
                      <a:schemeClr val="accent5">
                        <a:lumMod val="20000"/>
                        <a:lumOff val="80000"/>
                      </a:schemeClr>
                    </a:solidFill>
                  </a:tcPr>
                </a:tc>
                <a:tc>
                  <a:txBody>
                    <a:bodyPr/>
                    <a:lstStyle/>
                    <a:p>
                      <a:endParaRPr lang="en-IN"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graphicFrame>
        <p:nvGraphicFramePr>
          <p:cNvPr id="11" name="Table 10">
            <a:extLst>
              <a:ext uri="{FF2B5EF4-FFF2-40B4-BE49-F238E27FC236}">
                <a16:creationId xmlns:a16="http://schemas.microsoft.com/office/drawing/2014/main" id="{0E140FFE-FE74-FCFD-307E-87C8886F2BD2}"/>
              </a:ext>
            </a:extLst>
          </p:cNvPr>
          <p:cNvGraphicFramePr>
            <a:graphicFrameLocks noGrp="1"/>
          </p:cNvGraphicFramePr>
          <p:nvPr>
            <p:extLst>
              <p:ext uri="{D42A27DB-BD31-4B8C-83A1-F6EECF244321}">
                <p14:modId xmlns:p14="http://schemas.microsoft.com/office/powerpoint/2010/main" val="3062368042"/>
              </p:ext>
            </p:extLst>
          </p:nvPr>
        </p:nvGraphicFramePr>
        <p:xfrm>
          <a:off x="4445002" y="2365192"/>
          <a:ext cx="3225796" cy="1767896"/>
        </p:xfrm>
        <a:graphic>
          <a:graphicData uri="http://schemas.openxmlformats.org/drawingml/2006/table">
            <a:tbl>
              <a:tblPr firstRow="1" bandRow="1">
                <a:tableStyleId>{5C22544A-7EE6-4342-B048-85BDC9FD1C3A}</a:tableStyleId>
              </a:tblPr>
              <a:tblGrid>
                <a:gridCol w="1612898">
                  <a:extLst>
                    <a:ext uri="{9D8B030D-6E8A-4147-A177-3AD203B41FA5}">
                      <a16:colId xmlns:a16="http://schemas.microsoft.com/office/drawing/2014/main" val="1758657152"/>
                    </a:ext>
                  </a:extLst>
                </a:gridCol>
                <a:gridCol w="1612898">
                  <a:extLst>
                    <a:ext uri="{9D8B030D-6E8A-4147-A177-3AD203B41FA5}">
                      <a16:colId xmlns:a16="http://schemas.microsoft.com/office/drawing/2014/main" val="4045408627"/>
                    </a:ext>
                  </a:extLst>
                </a:gridCol>
              </a:tblGrid>
              <a:tr h="363357">
                <a:tc>
                  <a:txBody>
                    <a:bodyPr/>
                    <a:lstStyle/>
                    <a:p>
                      <a:pPr algn="ctr"/>
                      <a:r>
                        <a:rPr lang="hi-IN" sz="1200" dirty="0"/>
                        <a:t>दहाई </a:t>
                      </a:r>
                      <a:endParaRPr lang="en-IN" sz="1200" dirty="0"/>
                    </a:p>
                  </a:txBody>
                  <a:tcPr anchor="ctr"/>
                </a:tc>
                <a:tc>
                  <a:txBody>
                    <a:bodyPr/>
                    <a:lstStyle/>
                    <a:p>
                      <a:pPr algn="ctr"/>
                      <a:r>
                        <a:rPr lang="hi-IN" sz="1200" dirty="0"/>
                        <a:t>इकाई </a:t>
                      </a:r>
                      <a:endParaRPr lang="en-IN" sz="1200" dirty="0"/>
                    </a:p>
                  </a:txBody>
                  <a:tcPr anchor="ctr"/>
                </a:tc>
                <a:extLst>
                  <a:ext uri="{0D108BD9-81ED-4DB2-BD59-A6C34878D82A}">
                    <a16:rowId xmlns:a16="http://schemas.microsoft.com/office/drawing/2014/main" val="2006277989"/>
                  </a:ext>
                </a:extLst>
              </a:tr>
              <a:tr h="1404539">
                <a:tc>
                  <a:txBody>
                    <a:bodyPr/>
                    <a:lstStyle/>
                    <a:p>
                      <a:endParaRPr lang="en-IN" sz="1200" dirty="0"/>
                    </a:p>
                  </a:txBody>
                  <a:tcPr>
                    <a:solidFill>
                      <a:schemeClr val="accent5">
                        <a:lumMod val="20000"/>
                        <a:lumOff val="80000"/>
                      </a:schemeClr>
                    </a:solidFill>
                  </a:tcPr>
                </a:tc>
                <a:tc>
                  <a:txBody>
                    <a:bodyPr/>
                    <a:lstStyle/>
                    <a:p>
                      <a:endParaRPr lang="en-IN" sz="1200" dirty="0"/>
                    </a:p>
                  </a:txBody>
                  <a:tcPr>
                    <a:solidFill>
                      <a:schemeClr val="accent5">
                        <a:lumMod val="20000"/>
                        <a:lumOff val="80000"/>
                      </a:schemeClr>
                    </a:solidFill>
                  </a:tcPr>
                </a:tc>
                <a:extLst>
                  <a:ext uri="{0D108BD9-81ED-4DB2-BD59-A6C34878D82A}">
                    <a16:rowId xmlns:a16="http://schemas.microsoft.com/office/drawing/2014/main" val="493348077"/>
                  </a:ext>
                </a:extLst>
              </a:tr>
            </a:tbl>
          </a:graphicData>
        </a:graphic>
      </p:graphicFrame>
      <p:pic>
        <p:nvPicPr>
          <p:cNvPr id="12" name="Picture 11" descr="A green rectangular object with black background&#10;&#10;AI-generated content may be incorrect.">
            <a:extLst>
              <a:ext uri="{FF2B5EF4-FFF2-40B4-BE49-F238E27FC236}">
                <a16:creationId xmlns:a16="http://schemas.microsoft.com/office/drawing/2014/main" id="{8C6B7E23-93CB-5018-55DC-DC828CA1F854}"/>
              </a:ext>
            </a:extLst>
          </p:cNvPr>
          <p:cNvPicPr>
            <a:picLocks noChangeAspect="1"/>
          </p:cNvPicPr>
          <p:nvPr/>
        </p:nvPicPr>
        <p:blipFill>
          <a:blip r:embed="rId3"/>
          <a:srcRect l="32916" r="35816"/>
          <a:stretch>
            <a:fillRect/>
          </a:stretch>
        </p:blipFill>
        <p:spPr>
          <a:xfrm>
            <a:off x="1205313" y="2837339"/>
            <a:ext cx="246660" cy="1183319"/>
          </a:xfrm>
          <a:prstGeom prst="rect">
            <a:avLst/>
          </a:prstGeom>
        </p:spPr>
      </p:pic>
      <p:sp>
        <p:nvSpPr>
          <p:cNvPr id="13" name="Rectangle: Rounded Corners 12">
            <a:extLst>
              <a:ext uri="{FF2B5EF4-FFF2-40B4-BE49-F238E27FC236}">
                <a16:creationId xmlns:a16="http://schemas.microsoft.com/office/drawing/2014/main" id="{BDB0FC51-2749-DFBD-74DC-5D565273D140}"/>
              </a:ext>
            </a:extLst>
          </p:cNvPr>
          <p:cNvSpPr/>
          <p:nvPr/>
        </p:nvSpPr>
        <p:spPr>
          <a:xfrm>
            <a:off x="2926080" y="1563624"/>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40  +  30  =  ?</a:t>
            </a:r>
            <a:endParaRPr lang="en-IN" sz="3200" b="1" dirty="0"/>
          </a:p>
        </p:txBody>
      </p:sp>
      <p:pic>
        <p:nvPicPr>
          <p:cNvPr id="14" name="Picture 13" descr="A green rectangular object with black background&#10;&#10;AI-generated content may be incorrect.">
            <a:extLst>
              <a:ext uri="{FF2B5EF4-FFF2-40B4-BE49-F238E27FC236}">
                <a16:creationId xmlns:a16="http://schemas.microsoft.com/office/drawing/2014/main" id="{04082482-D891-707A-E995-FAA6665187F8}"/>
              </a:ext>
            </a:extLst>
          </p:cNvPr>
          <p:cNvPicPr>
            <a:picLocks noChangeAspect="1"/>
          </p:cNvPicPr>
          <p:nvPr/>
        </p:nvPicPr>
        <p:blipFill>
          <a:blip r:embed="rId3"/>
          <a:srcRect l="32916" r="35816"/>
          <a:stretch>
            <a:fillRect/>
          </a:stretch>
        </p:blipFill>
        <p:spPr>
          <a:xfrm>
            <a:off x="1402418" y="2848935"/>
            <a:ext cx="246660" cy="1183319"/>
          </a:xfrm>
          <a:prstGeom prst="rect">
            <a:avLst/>
          </a:prstGeom>
        </p:spPr>
      </p:pic>
      <p:pic>
        <p:nvPicPr>
          <p:cNvPr id="15" name="Picture 14" descr="A green rectangular object with black background&#10;&#10;AI-generated content may be incorrect.">
            <a:extLst>
              <a:ext uri="{FF2B5EF4-FFF2-40B4-BE49-F238E27FC236}">
                <a16:creationId xmlns:a16="http://schemas.microsoft.com/office/drawing/2014/main" id="{869B0B6D-E176-306B-CEAF-746EAAF6EA8E}"/>
              </a:ext>
            </a:extLst>
          </p:cNvPr>
          <p:cNvPicPr>
            <a:picLocks noChangeAspect="1"/>
          </p:cNvPicPr>
          <p:nvPr/>
        </p:nvPicPr>
        <p:blipFill>
          <a:blip r:embed="rId3"/>
          <a:srcRect l="32916" r="35816"/>
          <a:stretch>
            <a:fillRect/>
          </a:stretch>
        </p:blipFill>
        <p:spPr>
          <a:xfrm>
            <a:off x="1612230" y="2837340"/>
            <a:ext cx="246660" cy="1183319"/>
          </a:xfrm>
          <a:prstGeom prst="rect">
            <a:avLst/>
          </a:prstGeom>
        </p:spPr>
      </p:pic>
      <p:pic>
        <p:nvPicPr>
          <p:cNvPr id="16" name="Picture 15" descr="A green rectangular object with black background&#10;&#10;AI-generated content may be incorrect.">
            <a:extLst>
              <a:ext uri="{FF2B5EF4-FFF2-40B4-BE49-F238E27FC236}">
                <a16:creationId xmlns:a16="http://schemas.microsoft.com/office/drawing/2014/main" id="{CDC0E5EC-EBED-E073-E2DB-682FE1587772}"/>
              </a:ext>
            </a:extLst>
          </p:cNvPr>
          <p:cNvPicPr>
            <a:picLocks noChangeAspect="1"/>
          </p:cNvPicPr>
          <p:nvPr/>
        </p:nvPicPr>
        <p:blipFill>
          <a:blip r:embed="rId3"/>
          <a:srcRect l="32916" r="35816"/>
          <a:stretch>
            <a:fillRect/>
          </a:stretch>
        </p:blipFill>
        <p:spPr>
          <a:xfrm>
            <a:off x="1809855" y="2837338"/>
            <a:ext cx="246660" cy="1183319"/>
          </a:xfrm>
          <a:prstGeom prst="rect">
            <a:avLst/>
          </a:prstGeom>
        </p:spPr>
      </p:pic>
      <p:pic>
        <p:nvPicPr>
          <p:cNvPr id="17" name="Picture 16" descr="A green rectangular object with black background&#10;&#10;AI-generated content may be incorrect.">
            <a:extLst>
              <a:ext uri="{FF2B5EF4-FFF2-40B4-BE49-F238E27FC236}">
                <a16:creationId xmlns:a16="http://schemas.microsoft.com/office/drawing/2014/main" id="{AA4A6C6E-2266-5E43-9985-126D10C2850B}"/>
              </a:ext>
            </a:extLst>
          </p:cNvPr>
          <p:cNvPicPr>
            <a:picLocks noChangeAspect="1"/>
          </p:cNvPicPr>
          <p:nvPr/>
        </p:nvPicPr>
        <p:blipFill>
          <a:blip r:embed="rId3"/>
          <a:srcRect l="32916" r="35816"/>
          <a:stretch>
            <a:fillRect/>
          </a:stretch>
        </p:blipFill>
        <p:spPr>
          <a:xfrm>
            <a:off x="5037803" y="2848937"/>
            <a:ext cx="246660" cy="1183319"/>
          </a:xfrm>
          <a:prstGeom prst="rect">
            <a:avLst/>
          </a:prstGeom>
        </p:spPr>
      </p:pic>
      <p:pic>
        <p:nvPicPr>
          <p:cNvPr id="18" name="Picture 17" descr="A green rectangular object with black background&#10;&#10;AI-generated content may be incorrect.">
            <a:extLst>
              <a:ext uri="{FF2B5EF4-FFF2-40B4-BE49-F238E27FC236}">
                <a16:creationId xmlns:a16="http://schemas.microsoft.com/office/drawing/2014/main" id="{F963E1F1-70BC-CF2D-BD98-2F3DFC9FB6CD}"/>
              </a:ext>
            </a:extLst>
          </p:cNvPr>
          <p:cNvPicPr>
            <a:picLocks noChangeAspect="1"/>
          </p:cNvPicPr>
          <p:nvPr/>
        </p:nvPicPr>
        <p:blipFill>
          <a:blip r:embed="rId3"/>
          <a:srcRect l="32916" r="35816"/>
          <a:stretch>
            <a:fillRect/>
          </a:stretch>
        </p:blipFill>
        <p:spPr>
          <a:xfrm>
            <a:off x="5257904" y="2848937"/>
            <a:ext cx="246660" cy="1183319"/>
          </a:xfrm>
          <a:prstGeom prst="rect">
            <a:avLst/>
          </a:prstGeom>
        </p:spPr>
      </p:pic>
      <p:sp>
        <p:nvSpPr>
          <p:cNvPr id="23" name="Rectangle: Rounded Corners 22">
            <a:extLst>
              <a:ext uri="{FF2B5EF4-FFF2-40B4-BE49-F238E27FC236}">
                <a16:creationId xmlns:a16="http://schemas.microsoft.com/office/drawing/2014/main" id="{4F6AD0F5-8815-85C3-3944-116C1422EE38}"/>
              </a:ext>
            </a:extLst>
          </p:cNvPr>
          <p:cNvSpPr/>
          <p:nvPr/>
        </p:nvSpPr>
        <p:spPr>
          <a:xfrm>
            <a:off x="3749040" y="4379976"/>
            <a:ext cx="914400" cy="57607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24" name="Picture 2" descr="black and white icons Stock Vector | Adobe Stock">
            <a:extLst>
              <a:ext uri="{FF2B5EF4-FFF2-40B4-BE49-F238E27FC236}">
                <a16:creationId xmlns:a16="http://schemas.microsoft.com/office/drawing/2014/main" id="{5C0F53EF-8FB1-05E6-7688-D9D9F38F6FB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950" t="13066" r="16336" b="14533"/>
          <a:stretch>
            <a:fillRect/>
          </a:stretch>
        </p:blipFill>
        <p:spPr bwMode="auto">
          <a:xfrm>
            <a:off x="3645573" y="5075811"/>
            <a:ext cx="1282082" cy="1391371"/>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11">
            <a:extLst>
              <a:ext uri="{FF2B5EF4-FFF2-40B4-BE49-F238E27FC236}">
                <a16:creationId xmlns:a16="http://schemas.microsoft.com/office/drawing/2014/main" id="{EAF69B1C-A346-A078-E5E4-74CEA16B1239}"/>
              </a:ext>
            </a:extLst>
          </p:cNvPr>
          <p:cNvSpPr txBox="1"/>
          <p:nvPr/>
        </p:nvSpPr>
        <p:spPr>
          <a:xfrm>
            <a:off x="4133088" y="3092739"/>
            <a:ext cx="274320" cy="457200"/>
          </a:xfrm>
          <a:prstGeom prst="rect">
            <a:avLst/>
          </a:prstGeom>
          <a:noFill/>
        </p:spPr>
        <p:txBody>
          <a:bodyPr wrap="square" rtlCol="0">
            <a:spAutoFit/>
          </a:bodyPr>
          <a:lstStyle/>
          <a:p>
            <a:pPr algn="ctr"/>
            <a:r>
              <a:rPr lang="en-US" sz="2800" b="1" dirty="0">
                <a:latin typeface="ADLaM Display" panose="02010000000000000000" pitchFamily="2" charset="0"/>
                <a:ea typeface="ADLaM Display" panose="02010000000000000000" pitchFamily="2" charset="0"/>
                <a:cs typeface="ADLaM Display" panose="02010000000000000000" pitchFamily="2" charset="0"/>
              </a:rPr>
              <a:t>+</a:t>
            </a:r>
            <a:endParaRPr lang="en-IN" sz="2800" b="1" dirty="0">
              <a:latin typeface="ADLaM Display" panose="02010000000000000000" pitchFamily="2" charset="0"/>
              <a:ea typeface="ADLaM Display" panose="02010000000000000000" pitchFamily="2" charset="0"/>
              <a:cs typeface="ADLaM Display" panose="02010000000000000000" pitchFamily="2" charset="0"/>
            </a:endParaRPr>
          </a:p>
        </p:txBody>
      </p:sp>
      <p:pic>
        <p:nvPicPr>
          <p:cNvPr id="26" name="Picture 25" descr="A green rectangular object with black background&#10;&#10;AI-generated content may be incorrect.">
            <a:extLst>
              <a:ext uri="{FF2B5EF4-FFF2-40B4-BE49-F238E27FC236}">
                <a16:creationId xmlns:a16="http://schemas.microsoft.com/office/drawing/2014/main" id="{845BF9A7-95EF-3ADA-8770-3619B58A363D}"/>
              </a:ext>
            </a:extLst>
          </p:cNvPr>
          <p:cNvPicPr>
            <a:picLocks noChangeAspect="1"/>
          </p:cNvPicPr>
          <p:nvPr/>
        </p:nvPicPr>
        <p:blipFill>
          <a:blip r:embed="rId3"/>
          <a:srcRect l="32916" r="35816"/>
          <a:stretch>
            <a:fillRect/>
          </a:stretch>
        </p:blipFill>
        <p:spPr>
          <a:xfrm>
            <a:off x="5486400" y="2848934"/>
            <a:ext cx="246660" cy="11833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11 · 11_CONSERVE_COUNT.png</a:t>
            </a:r>
          </a:p>
        </p:txBody>
      </p:sp>
      <p:pic>
        <p:nvPicPr>
          <p:cNvPr id="3" name="Picture 2" descr="11_CONSERVE_COUNT.png"/>
          <p:cNvPicPr>
            <a:picLocks noChangeAspect="1"/>
          </p:cNvPicPr>
          <p:nvPr/>
        </p:nvPicPr>
        <p:blipFill>
          <a:blip r:embed="rId2"/>
          <a:stretch>
            <a:fillRect/>
          </a:stretch>
        </p:blipFill>
        <p:spPr>
          <a:xfrm>
            <a:off x="365760" y="731520"/>
            <a:ext cx="7680960" cy="4298571"/>
          </a:xfrm>
          <a:prstGeom prst="rect">
            <a:avLst/>
          </a:prstGeom>
        </p:spPr>
      </p:pic>
      <p:sp>
        <p:nvSpPr>
          <p:cNvPr id="5" name="TextBox 4"/>
          <p:cNvSpPr txBox="1"/>
          <p:nvPr/>
        </p:nvSpPr>
        <p:spPr>
          <a:xfrm>
            <a:off x="8229905" y="864868"/>
            <a:ext cx="3596335" cy="4585871"/>
          </a:xfrm>
          <a:prstGeom prst="rect">
            <a:avLst/>
          </a:prstGeom>
          <a:noFill/>
        </p:spPr>
        <p:txBody>
          <a:bodyPr wrap="square">
            <a:spAutoFit/>
          </a:bodyPr>
          <a:lstStyle/>
          <a:p>
            <a:r>
              <a:rPr sz="1600" b="1" dirty="0">
                <a:solidFill>
                  <a:srgbClr val="0B3D8C"/>
                </a:solidFill>
              </a:rPr>
              <a:t>Recommendations</a:t>
            </a:r>
          </a:p>
          <a:p>
            <a:r>
              <a:rPr lang="en-US" sz="1200" dirty="0"/>
              <a:t>Replace the entire slide content with the following:</a:t>
            </a:r>
          </a:p>
          <a:p>
            <a:r>
              <a:rPr lang="en-IN" sz="1200" b="1" dirty="0"/>
              <a:t>Instruction:</a:t>
            </a:r>
            <a:r>
              <a:rPr lang="en-IN" sz="1200" dirty="0"/>
              <a:t> </a:t>
            </a:r>
            <a:r>
              <a:rPr lang="hi-IN" sz="1200" dirty="0"/>
              <a:t>संख्याएँ जोड़िए।</a:t>
            </a:r>
            <a:br>
              <a:rPr lang="hi-IN" sz="1200" dirty="0"/>
            </a:br>
            <a:r>
              <a:rPr lang="en-IN" sz="1200" b="1" dirty="0"/>
              <a:t>Equation:</a:t>
            </a:r>
            <a:r>
              <a:rPr lang="en-IN" sz="1200" dirty="0"/>
              <a:t> </a:t>
            </a:r>
            <a:r>
              <a:rPr lang="en-IN" sz="1200" b="1" dirty="0"/>
              <a:t>20 + 15 = ?</a:t>
            </a:r>
            <a:endParaRPr lang="en-IN" sz="1200" dirty="0"/>
          </a:p>
          <a:p>
            <a:r>
              <a:rPr lang="en-IN" sz="1200" dirty="0"/>
              <a:t>Show three answer options below. The child solves the addition mentally and selects the correct answer.</a:t>
            </a:r>
          </a:p>
          <a:p>
            <a:endParaRPr lang="en-IN" sz="1200" dirty="0"/>
          </a:p>
          <a:p>
            <a:r>
              <a:rPr lang="en-IN" sz="1200" b="1" dirty="0"/>
              <a:t>VO:</a:t>
            </a:r>
            <a:r>
              <a:rPr lang="en-IN" sz="1200" dirty="0"/>
              <a:t> </a:t>
            </a:r>
            <a:r>
              <a:rPr lang="hi-IN" sz="1200" dirty="0"/>
              <a:t>सही जोड़ चुनिए।</a:t>
            </a:r>
            <a:endParaRPr lang="en-US" sz="1200" dirty="0"/>
          </a:p>
          <a:p>
            <a:endParaRPr lang="hi-IN" sz="1200" dirty="0"/>
          </a:p>
          <a:p>
            <a:r>
              <a:rPr lang="en-IN" sz="1200" b="1" dirty="0"/>
              <a:t>CR:</a:t>
            </a:r>
            <a:r>
              <a:rPr lang="en-IN" sz="1200" dirty="0"/>
              <a:t> </a:t>
            </a:r>
            <a:r>
              <a:rPr lang="hi-IN" sz="1200" dirty="0"/>
              <a:t>शाबाश! 20 जोड़ 15 बराबर 35।</a:t>
            </a:r>
          </a:p>
          <a:p>
            <a:endParaRPr lang="en-IN" sz="1200" b="1" dirty="0"/>
          </a:p>
          <a:p>
            <a:r>
              <a:rPr lang="en-IN" sz="1200" b="1" dirty="0"/>
              <a:t>Feedback/Hint</a:t>
            </a:r>
            <a:endParaRPr lang="en-IN" sz="1200" dirty="0"/>
          </a:p>
          <a:p>
            <a:r>
              <a:rPr lang="en-IN" sz="1200" b="1" dirty="0"/>
              <a:t>WA1:</a:t>
            </a:r>
            <a:r>
              <a:rPr lang="en-IN" sz="1200" dirty="0"/>
              <a:t> Wiggle + VO: </a:t>
            </a:r>
            <a:r>
              <a:rPr lang="hi-IN" sz="1200" b="1" dirty="0"/>
              <a:t>ध्यान से देखिए—2 दहाई और 1 दहाई; 0 इकाई और 5 इकाई। अब सही जोड़ चुनिए।</a:t>
            </a:r>
            <a:br>
              <a:rPr lang="hi-IN" sz="1200" dirty="0"/>
            </a:br>
            <a:r>
              <a:rPr lang="hi-IN" sz="1200" i="1" dirty="0"/>
              <a:t>[</a:t>
            </a:r>
            <a:r>
              <a:rPr lang="en-IN" sz="1200" i="1" dirty="0"/>
              <a:t>Highlight the respective Tens and Ones digits in sync with the VO.]</a:t>
            </a:r>
            <a:endParaRPr lang="en-IN" sz="1200" dirty="0"/>
          </a:p>
          <a:p>
            <a:r>
              <a:rPr lang="en-IN" sz="1200" b="1" dirty="0"/>
              <a:t>WA2:</a:t>
            </a:r>
            <a:r>
              <a:rPr lang="en-IN" sz="1200" dirty="0"/>
              <a:t> Wiggle + show </a:t>
            </a:r>
            <a:r>
              <a:rPr lang="en-IN" sz="1200" b="1" dirty="0"/>
              <a:t>20</a:t>
            </a:r>
            <a:r>
              <a:rPr lang="en-IN" sz="1200" dirty="0"/>
              <a:t> and </a:t>
            </a:r>
            <a:r>
              <a:rPr lang="en-IN" sz="1200" b="1" dirty="0"/>
              <a:t>15</a:t>
            </a:r>
            <a:r>
              <a:rPr lang="en-IN" sz="1200" dirty="0"/>
              <a:t> using blocks on separate PV tables + VO: </a:t>
            </a:r>
            <a:r>
              <a:rPr lang="hi-IN" sz="1200" b="1" dirty="0"/>
              <a:t>ब्लॉक्स को गिनिए और सही जोड़ चुनिए।</a:t>
            </a:r>
            <a:endParaRPr lang="hi-IN" sz="1200" dirty="0"/>
          </a:p>
          <a:p>
            <a:r>
              <a:rPr lang="en-IN" sz="1200" b="1" dirty="0"/>
              <a:t>WA3:</a:t>
            </a:r>
            <a:r>
              <a:rPr lang="en-IN" sz="1200" dirty="0"/>
              <a:t> Wiggle + </a:t>
            </a:r>
            <a:r>
              <a:rPr lang="en-US" sz="1200" dirty="0"/>
              <a:t>A</a:t>
            </a:r>
            <a:r>
              <a:rPr lang="en-IN" sz="1200" dirty="0" err="1"/>
              <a:t>nimate</a:t>
            </a:r>
            <a:r>
              <a:rPr lang="en-IN" sz="1200" dirty="0"/>
              <a:t> the blocks moving to a third PV table. Hide the answer options during the animation. Once complete, remove the first two PV tables, </a:t>
            </a:r>
            <a:r>
              <a:rPr lang="en-IN" sz="1200" dirty="0" err="1"/>
              <a:t>center</a:t>
            </a:r>
            <a:r>
              <a:rPr lang="en-IN" sz="1200" dirty="0"/>
              <a:t> the sum PV table, show the answer options again, and highlight the correct option.</a:t>
            </a:r>
          </a:p>
        </p:txBody>
      </p:sp>
      <p:sp>
        <p:nvSpPr>
          <p:cNvPr id="6" name="Rectangle: Rounded Corners 5">
            <a:extLst>
              <a:ext uri="{FF2B5EF4-FFF2-40B4-BE49-F238E27FC236}">
                <a16:creationId xmlns:a16="http://schemas.microsoft.com/office/drawing/2014/main" id="{26DDAB57-3C93-ED6F-D77A-D2E56FAEEEA3}"/>
              </a:ext>
            </a:extLst>
          </p:cNvPr>
          <p:cNvSpPr/>
          <p:nvPr/>
        </p:nvSpPr>
        <p:spPr>
          <a:xfrm>
            <a:off x="2916936" y="1954108"/>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20  +  15  =  ?</a:t>
            </a:r>
            <a:endParaRPr lang="en-IN" sz="3200" b="1" dirty="0"/>
          </a:p>
        </p:txBody>
      </p:sp>
      <p:sp>
        <p:nvSpPr>
          <p:cNvPr id="8" name="Rectangle: Rounded Corners 7">
            <a:extLst>
              <a:ext uri="{FF2B5EF4-FFF2-40B4-BE49-F238E27FC236}">
                <a16:creationId xmlns:a16="http://schemas.microsoft.com/office/drawing/2014/main" id="{6196E149-8048-F20E-52F9-044C591F521A}"/>
              </a:ext>
            </a:extLst>
          </p:cNvPr>
          <p:cNvSpPr/>
          <p:nvPr/>
        </p:nvSpPr>
        <p:spPr>
          <a:xfrm>
            <a:off x="1770393" y="3390163"/>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25</a:t>
            </a:r>
            <a:endParaRPr lang="en-IN" sz="4000" b="1" dirty="0"/>
          </a:p>
        </p:txBody>
      </p:sp>
      <p:sp>
        <p:nvSpPr>
          <p:cNvPr id="9" name="Rectangle: Rounded Corners 8">
            <a:extLst>
              <a:ext uri="{FF2B5EF4-FFF2-40B4-BE49-F238E27FC236}">
                <a16:creationId xmlns:a16="http://schemas.microsoft.com/office/drawing/2014/main" id="{87B9D392-4A9D-B66B-474C-EEF3EEBFDC6D}"/>
              </a:ext>
            </a:extLst>
          </p:cNvPr>
          <p:cNvSpPr/>
          <p:nvPr/>
        </p:nvSpPr>
        <p:spPr>
          <a:xfrm>
            <a:off x="3623824" y="3390163"/>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35</a:t>
            </a:r>
            <a:endParaRPr lang="en-IN" sz="4000" b="1" dirty="0"/>
          </a:p>
        </p:txBody>
      </p:sp>
      <p:sp>
        <p:nvSpPr>
          <p:cNvPr id="10" name="Rectangle: Rounded Corners 9">
            <a:extLst>
              <a:ext uri="{FF2B5EF4-FFF2-40B4-BE49-F238E27FC236}">
                <a16:creationId xmlns:a16="http://schemas.microsoft.com/office/drawing/2014/main" id="{B4D5EA30-0240-8097-CF99-6D4D7108E099}"/>
              </a:ext>
            </a:extLst>
          </p:cNvPr>
          <p:cNvSpPr/>
          <p:nvPr/>
        </p:nvSpPr>
        <p:spPr>
          <a:xfrm>
            <a:off x="5381488" y="3390163"/>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70</a:t>
            </a:r>
            <a:endParaRPr lang="en-IN" sz="4000" b="1"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12 · 12_CONSERVE_COUNT.png</a:t>
            </a:r>
          </a:p>
        </p:txBody>
      </p:sp>
      <p:pic>
        <p:nvPicPr>
          <p:cNvPr id="3" name="Picture 2" descr="12_CONSERVE_COUNT.png"/>
          <p:cNvPicPr>
            <a:picLocks noChangeAspect="1"/>
          </p:cNvPicPr>
          <p:nvPr/>
        </p:nvPicPr>
        <p:blipFill>
          <a:blip r:embed="rId2"/>
          <a:stretch>
            <a:fillRect/>
          </a:stretch>
        </p:blipFill>
        <p:spPr>
          <a:xfrm>
            <a:off x="365760" y="731520"/>
            <a:ext cx="7680960" cy="4298571"/>
          </a:xfrm>
          <a:prstGeom prst="rect">
            <a:avLst/>
          </a:prstGeom>
        </p:spPr>
      </p:pic>
      <p:sp>
        <p:nvSpPr>
          <p:cNvPr id="5" name="TextBox 4">
            <a:extLst>
              <a:ext uri="{FF2B5EF4-FFF2-40B4-BE49-F238E27FC236}">
                <a16:creationId xmlns:a16="http://schemas.microsoft.com/office/drawing/2014/main" id="{5402F5BC-7690-9EB0-DF01-0974D7A6F183}"/>
              </a:ext>
            </a:extLst>
          </p:cNvPr>
          <p:cNvSpPr txBox="1"/>
          <p:nvPr/>
        </p:nvSpPr>
        <p:spPr>
          <a:xfrm>
            <a:off x="8229599" y="864868"/>
            <a:ext cx="3596335" cy="4401205"/>
          </a:xfrm>
          <a:prstGeom prst="rect">
            <a:avLst/>
          </a:prstGeom>
          <a:noFill/>
        </p:spPr>
        <p:txBody>
          <a:bodyPr wrap="square">
            <a:spAutoFit/>
          </a:bodyPr>
          <a:lstStyle/>
          <a:p>
            <a:r>
              <a:rPr sz="1600" b="1" dirty="0">
                <a:solidFill>
                  <a:srgbClr val="0B3D8C"/>
                </a:solidFill>
              </a:rPr>
              <a:t>Recommendations</a:t>
            </a:r>
          </a:p>
          <a:p>
            <a:r>
              <a:rPr lang="en-US" sz="1200" dirty="0"/>
              <a:t>Replace the entire slide content with the following:</a:t>
            </a:r>
          </a:p>
          <a:p>
            <a:r>
              <a:rPr lang="en-IN" sz="1200" b="1" dirty="0" err="1"/>
              <a:t>nstruction</a:t>
            </a:r>
            <a:r>
              <a:rPr lang="en-IN" sz="1200" b="1" dirty="0"/>
              <a:t>:</a:t>
            </a:r>
            <a:r>
              <a:rPr lang="en-IN" sz="1200" dirty="0"/>
              <a:t> </a:t>
            </a:r>
            <a:r>
              <a:rPr lang="hi-IN" sz="1200" dirty="0"/>
              <a:t>संख्याएँ जोड़िए।</a:t>
            </a:r>
            <a:br>
              <a:rPr lang="hi-IN" sz="1200" dirty="0"/>
            </a:br>
            <a:r>
              <a:rPr lang="en-IN" sz="1200" b="1" dirty="0"/>
              <a:t>Equation:</a:t>
            </a:r>
            <a:r>
              <a:rPr lang="en-IN" sz="1200" dirty="0"/>
              <a:t> </a:t>
            </a:r>
            <a:r>
              <a:rPr lang="en-IN" sz="1200" b="1" dirty="0"/>
              <a:t>14 + 30 = ?</a:t>
            </a:r>
            <a:endParaRPr lang="en-IN" sz="1200" dirty="0"/>
          </a:p>
          <a:p>
            <a:r>
              <a:rPr lang="en-IN" sz="1200" dirty="0"/>
              <a:t>Show three answer options below. The child solves the addition mentally and selects the correct answer.</a:t>
            </a:r>
          </a:p>
          <a:p>
            <a:r>
              <a:rPr lang="en-IN" sz="1200" b="1" dirty="0"/>
              <a:t>VO:</a:t>
            </a:r>
            <a:r>
              <a:rPr lang="en-IN" sz="1200" dirty="0"/>
              <a:t> </a:t>
            </a:r>
            <a:r>
              <a:rPr lang="hi-IN" sz="1200" dirty="0"/>
              <a:t>सही जोड़ चुनिए।</a:t>
            </a:r>
            <a:endParaRPr lang="en-US" sz="1200" dirty="0"/>
          </a:p>
          <a:p>
            <a:endParaRPr lang="hi-IN" sz="1200" dirty="0"/>
          </a:p>
          <a:p>
            <a:r>
              <a:rPr lang="en-IN" sz="1200" b="1" dirty="0"/>
              <a:t>CR:</a:t>
            </a:r>
            <a:r>
              <a:rPr lang="en-IN" sz="1200" dirty="0"/>
              <a:t> </a:t>
            </a:r>
            <a:r>
              <a:rPr lang="hi-IN" sz="1200" dirty="0"/>
              <a:t>शाबाश! </a:t>
            </a:r>
            <a:r>
              <a:rPr lang="en-US" sz="1200" dirty="0"/>
              <a:t>14</a:t>
            </a:r>
            <a:r>
              <a:rPr lang="hi-IN" sz="1200" dirty="0"/>
              <a:t> जोड़ </a:t>
            </a:r>
            <a:r>
              <a:rPr lang="en-US" sz="1200" dirty="0"/>
              <a:t>30</a:t>
            </a:r>
            <a:r>
              <a:rPr lang="hi-IN" sz="1200" dirty="0"/>
              <a:t> बराबर </a:t>
            </a:r>
            <a:r>
              <a:rPr lang="en-US" sz="1200" dirty="0"/>
              <a:t>44</a:t>
            </a:r>
            <a:endParaRPr lang="hi-IN" sz="1200" dirty="0"/>
          </a:p>
          <a:p>
            <a:endParaRPr lang="en-IN" sz="1200" b="1" dirty="0"/>
          </a:p>
          <a:p>
            <a:r>
              <a:rPr lang="en-IN" sz="1200" b="1" dirty="0"/>
              <a:t>Feedback/Hint</a:t>
            </a:r>
            <a:endParaRPr lang="en-IN" sz="1200" dirty="0"/>
          </a:p>
          <a:p>
            <a:r>
              <a:rPr lang="en-IN" sz="1200" b="1" dirty="0"/>
              <a:t>WA1:</a:t>
            </a:r>
            <a:r>
              <a:rPr lang="en-IN" sz="1200" dirty="0"/>
              <a:t> Wiggle + VO: </a:t>
            </a:r>
            <a:r>
              <a:rPr lang="hi-IN" sz="1200" b="1" dirty="0"/>
              <a:t>ध्यान से देखिए—</a:t>
            </a:r>
            <a:r>
              <a:rPr lang="en-US" sz="1200" b="1" dirty="0"/>
              <a:t>1</a:t>
            </a:r>
            <a:r>
              <a:rPr lang="hi-IN" sz="1200" b="1" dirty="0"/>
              <a:t> दहाई और </a:t>
            </a:r>
            <a:r>
              <a:rPr lang="en-US" sz="1200" b="1" dirty="0"/>
              <a:t>3</a:t>
            </a:r>
            <a:r>
              <a:rPr lang="hi-IN" sz="1200" b="1" dirty="0"/>
              <a:t> दहाई; </a:t>
            </a:r>
            <a:r>
              <a:rPr lang="en-US" sz="1200" b="1" dirty="0"/>
              <a:t>4</a:t>
            </a:r>
            <a:r>
              <a:rPr lang="hi-IN" sz="1200" b="1" dirty="0"/>
              <a:t> इकाई और </a:t>
            </a:r>
            <a:r>
              <a:rPr lang="en-US" sz="1200" b="1" dirty="0"/>
              <a:t>0</a:t>
            </a:r>
            <a:r>
              <a:rPr lang="hi-IN" sz="1200" b="1" dirty="0"/>
              <a:t> इकाई। अब सही जोड़ चुनिए।</a:t>
            </a:r>
            <a:br>
              <a:rPr lang="hi-IN" sz="1200" dirty="0"/>
            </a:br>
            <a:r>
              <a:rPr lang="hi-IN" sz="1200" i="1" dirty="0"/>
              <a:t>[</a:t>
            </a:r>
            <a:r>
              <a:rPr lang="en-IN" sz="1200" i="1" dirty="0"/>
              <a:t>Highlight the respective Tens and Ones digits in sync with the VO.]</a:t>
            </a:r>
            <a:endParaRPr lang="en-IN" sz="1200" dirty="0"/>
          </a:p>
          <a:p>
            <a:r>
              <a:rPr lang="en-IN" sz="1200" b="1" dirty="0"/>
              <a:t>WA2:</a:t>
            </a:r>
            <a:r>
              <a:rPr lang="en-IN" sz="1200" dirty="0"/>
              <a:t> Wiggle + show </a:t>
            </a:r>
            <a:r>
              <a:rPr lang="en-IN" sz="1200" b="1" dirty="0"/>
              <a:t>14</a:t>
            </a:r>
            <a:r>
              <a:rPr lang="en-IN" sz="1200" dirty="0"/>
              <a:t> and </a:t>
            </a:r>
            <a:r>
              <a:rPr lang="en-IN" sz="1200" b="1" dirty="0"/>
              <a:t>30</a:t>
            </a:r>
            <a:r>
              <a:rPr lang="en-IN" sz="1200" dirty="0"/>
              <a:t> using blocks on separate PV tables + VO: </a:t>
            </a:r>
            <a:r>
              <a:rPr lang="hi-IN" sz="1200" b="1" dirty="0"/>
              <a:t>ब्लॉक्स को गिनिए और सही जोड़ चुनिए।</a:t>
            </a:r>
            <a:endParaRPr lang="hi-IN" sz="1200" dirty="0"/>
          </a:p>
          <a:p>
            <a:r>
              <a:rPr lang="en-IN" sz="1200" b="1" dirty="0"/>
              <a:t>WA3:</a:t>
            </a:r>
            <a:r>
              <a:rPr lang="en-IN" sz="1200" dirty="0"/>
              <a:t> Wiggle + Animate the blocks moving to a third PV table. Hide the answer options during the animation. Once complete, remove the first two PV tables, </a:t>
            </a:r>
            <a:r>
              <a:rPr lang="en-IN" sz="1200" dirty="0" err="1"/>
              <a:t>center</a:t>
            </a:r>
            <a:r>
              <a:rPr lang="en-IN" sz="1200" dirty="0"/>
              <a:t> the sum PV table, show the answer options again, and highlight the correct option.</a:t>
            </a:r>
          </a:p>
        </p:txBody>
      </p:sp>
      <p:sp>
        <p:nvSpPr>
          <p:cNvPr id="6" name="Rectangle: Rounded Corners 5">
            <a:extLst>
              <a:ext uri="{FF2B5EF4-FFF2-40B4-BE49-F238E27FC236}">
                <a16:creationId xmlns:a16="http://schemas.microsoft.com/office/drawing/2014/main" id="{6F6D18DE-6BE1-6B52-6AD3-7B487A22FC31}"/>
              </a:ext>
            </a:extLst>
          </p:cNvPr>
          <p:cNvSpPr/>
          <p:nvPr/>
        </p:nvSpPr>
        <p:spPr>
          <a:xfrm>
            <a:off x="2916936" y="1954108"/>
            <a:ext cx="2560320" cy="6826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b="1" dirty="0"/>
              <a:t>14  +  30  =  ?</a:t>
            </a:r>
            <a:endParaRPr lang="en-IN" sz="3200" b="1" dirty="0"/>
          </a:p>
        </p:txBody>
      </p:sp>
      <p:sp>
        <p:nvSpPr>
          <p:cNvPr id="7" name="Rectangle: Rounded Corners 6">
            <a:extLst>
              <a:ext uri="{FF2B5EF4-FFF2-40B4-BE49-F238E27FC236}">
                <a16:creationId xmlns:a16="http://schemas.microsoft.com/office/drawing/2014/main" id="{9330033E-67D4-8398-CB94-40363CDC01BD}"/>
              </a:ext>
            </a:extLst>
          </p:cNvPr>
          <p:cNvSpPr/>
          <p:nvPr/>
        </p:nvSpPr>
        <p:spPr>
          <a:xfrm>
            <a:off x="1770393" y="3390163"/>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34</a:t>
            </a:r>
            <a:endParaRPr lang="en-IN" sz="4000" b="1" dirty="0"/>
          </a:p>
        </p:txBody>
      </p:sp>
      <p:sp>
        <p:nvSpPr>
          <p:cNvPr id="8" name="Rectangle: Rounded Corners 7">
            <a:extLst>
              <a:ext uri="{FF2B5EF4-FFF2-40B4-BE49-F238E27FC236}">
                <a16:creationId xmlns:a16="http://schemas.microsoft.com/office/drawing/2014/main" id="{5AEF26FF-F00B-BA3F-4314-EB2C7B35FDBC}"/>
              </a:ext>
            </a:extLst>
          </p:cNvPr>
          <p:cNvSpPr/>
          <p:nvPr/>
        </p:nvSpPr>
        <p:spPr>
          <a:xfrm>
            <a:off x="3623824" y="3390163"/>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17</a:t>
            </a:r>
            <a:endParaRPr lang="en-IN" sz="4000" b="1" dirty="0"/>
          </a:p>
        </p:txBody>
      </p:sp>
      <p:sp>
        <p:nvSpPr>
          <p:cNvPr id="9" name="Rectangle: Rounded Corners 8">
            <a:extLst>
              <a:ext uri="{FF2B5EF4-FFF2-40B4-BE49-F238E27FC236}">
                <a16:creationId xmlns:a16="http://schemas.microsoft.com/office/drawing/2014/main" id="{17C0CECC-22F4-05C6-8D17-60C82FCA90FC}"/>
              </a:ext>
            </a:extLst>
          </p:cNvPr>
          <p:cNvSpPr/>
          <p:nvPr/>
        </p:nvSpPr>
        <p:spPr>
          <a:xfrm>
            <a:off x="5381488" y="3390163"/>
            <a:ext cx="1146543" cy="767201"/>
          </a:xfrm>
          <a:prstGeom prst="roundRect">
            <a:avLst/>
          </a:prstGeom>
        </p:spPr>
        <p:style>
          <a:lnRef idx="2">
            <a:schemeClr val="accent5"/>
          </a:lnRef>
          <a:fillRef idx="1">
            <a:schemeClr val="lt1"/>
          </a:fillRef>
          <a:effectRef idx="0">
            <a:schemeClr val="accent5"/>
          </a:effectRef>
          <a:fontRef idx="minor">
            <a:schemeClr val="dk1"/>
          </a:fontRef>
        </p:style>
        <p:txBody>
          <a:bodyPr rtlCol="0" anchor="ctr"/>
          <a:lstStyle/>
          <a:p>
            <a:pPr algn="ctr"/>
            <a:r>
              <a:rPr lang="en-US" sz="4000" b="1" dirty="0"/>
              <a:t>44</a:t>
            </a:r>
            <a:endParaRPr lang="en-IN" sz="4000"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13 · 13_MAKE_SET.png</a:t>
            </a:r>
          </a:p>
        </p:txBody>
      </p:sp>
      <p:pic>
        <p:nvPicPr>
          <p:cNvPr id="3" name="Picture 2" descr="13_MAKE_SET.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29600" y="731520"/>
            <a:ext cx="3596335" cy="754053"/>
          </a:xfrm>
          <a:prstGeom prst="rect">
            <a:avLst/>
          </a:prstGeom>
          <a:noFill/>
        </p:spPr>
        <p:txBody>
          <a:bodyPr wrap="square">
            <a:spAutoFit/>
          </a:bodyPr>
          <a:lstStyle/>
          <a:p>
            <a:r>
              <a:rPr sz="1600" b="1" dirty="0">
                <a:solidFill>
                  <a:srgbClr val="0B3D8C"/>
                </a:solidFill>
              </a:rPr>
              <a:t>Recommendations</a:t>
            </a:r>
          </a:p>
          <a:p>
            <a:r>
              <a:rPr sz="1300" dirty="0">
                <a:solidFill>
                  <a:srgbClr val="1B2A44"/>
                </a:solidFill>
              </a:rPr>
              <a:t>• </a:t>
            </a:r>
            <a:r>
              <a:rPr lang="en-US" sz="1400" dirty="0"/>
              <a:t>Delete this slide.</a:t>
            </a:r>
          </a:p>
          <a:p>
            <a:endParaRPr sz="1300" dirty="0">
              <a:solidFill>
                <a:srgbClr val="1B2A44"/>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14 · 14_CONSERVE_COUNT.png</a:t>
            </a:r>
          </a:p>
        </p:txBody>
      </p:sp>
      <p:pic>
        <p:nvPicPr>
          <p:cNvPr id="3" name="Picture 2" descr="14_CONSERVE_COUNT.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29600" y="731520"/>
            <a:ext cx="3596335" cy="754053"/>
          </a:xfrm>
          <a:prstGeom prst="rect">
            <a:avLst/>
          </a:prstGeom>
          <a:noFill/>
        </p:spPr>
        <p:txBody>
          <a:bodyPr wrap="square">
            <a:spAutoFit/>
          </a:bodyPr>
          <a:lstStyle/>
          <a:p>
            <a:r>
              <a:rPr sz="1600" b="1" dirty="0">
                <a:solidFill>
                  <a:srgbClr val="0B3D8C"/>
                </a:solidFill>
              </a:rPr>
              <a:t>Recommendations</a:t>
            </a:r>
          </a:p>
          <a:p>
            <a:r>
              <a:rPr sz="1300" dirty="0">
                <a:solidFill>
                  <a:srgbClr val="1B2A44"/>
                </a:solidFill>
              </a:rPr>
              <a:t>• </a:t>
            </a:r>
            <a:r>
              <a:rPr lang="en-US" sz="1400" dirty="0"/>
              <a:t>Delete this slide.</a:t>
            </a:r>
          </a:p>
          <a:p>
            <a:endParaRPr sz="1300" dirty="0">
              <a:solidFill>
                <a:srgbClr val="1B2A44"/>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15 · 15_COUNT_ACTION.png</a:t>
            </a:r>
          </a:p>
        </p:txBody>
      </p:sp>
      <p:pic>
        <p:nvPicPr>
          <p:cNvPr id="3" name="Picture 2" descr="15_COUNT_ACTION.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29600" y="731520"/>
            <a:ext cx="3596335" cy="754053"/>
          </a:xfrm>
          <a:prstGeom prst="rect">
            <a:avLst/>
          </a:prstGeom>
          <a:noFill/>
        </p:spPr>
        <p:txBody>
          <a:bodyPr wrap="square">
            <a:spAutoFit/>
          </a:bodyPr>
          <a:lstStyle/>
          <a:p>
            <a:r>
              <a:rPr sz="1600" b="1" dirty="0">
                <a:solidFill>
                  <a:srgbClr val="0B3D8C"/>
                </a:solidFill>
              </a:rPr>
              <a:t>Recommendations</a:t>
            </a:r>
          </a:p>
          <a:p>
            <a:r>
              <a:rPr sz="1300" dirty="0">
                <a:solidFill>
                  <a:srgbClr val="1B2A44"/>
                </a:solidFill>
              </a:rPr>
              <a:t>• </a:t>
            </a:r>
            <a:r>
              <a:rPr lang="en-US" sz="1400" dirty="0"/>
              <a:t>Delete this slide.</a:t>
            </a:r>
          </a:p>
          <a:p>
            <a:endParaRPr sz="1300" dirty="0">
              <a:solidFill>
                <a:srgbClr val="1B2A44"/>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37160"/>
            <a:ext cx="7680960" cy="548640"/>
          </a:xfrm>
          <a:prstGeom prst="rect">
            <a:avLst/>
          </a:prstGeom>
          <a:noFill/>
        </p:spPr>
        <p:txBody>
          <a:bodyPr wrap="none">
            <a:spAutoFit/>
          </a:bodyPr>
          <a:lstStyle/>
          <a:p>
            <a:r>
              <a:rPr sz="1400" b="1">
                <a:solidFill>
                  <a:srgbClr val="0B3D8C"/>
                </a:solidFill>
              </a:rPr>
              <a:t>Page 16 · 16_CELEBRATION.png</a:t>
            </a:r>
          </a:p>
        </p:txBody>
      </p:sp>
      <p:pic>
        <p:nvPicPr>
          <p:cNvPr id="3" name="Picture 2" descr="16_CELEBRATION.png"/>
          <p:cNvPicPr>
            <a:picLocks noChangeAspect="1"/>
          </p:cNvPicPr>
          <p:nvPr/>
        </p:nvPicPr>
        <p:blipFill>
          <a:blip r:embed="rId2"/>
          <a:stretch>
            <a:fillRect/>
          </a:stretch>
        </p:blipFill>
        <p:spPr>
          <a:xfrm>
            <a:off x="365760" y="731520"/>
            <a:ext cx="7680960" cy="4298571"/>
          </a:xfrm>
          <a:prstGeom prst="rect">
            <a:avLst/>
          </a:prstGeom>
        </p:spPr>
      </p:pic>
      <p:sp>
        <p:nvSpPr>
          <p:cNvPr id="4" name="TextBox 3"/>
          <p:cNvSpPr txBox="1"/>
          <p:nvPr/>
        </p:nvSpPr>
        <p:spPr>
          <a:xfrm>
            <a:off x="8229600" y="731520"/>
            <a:ext cx="3596335" cy="1754326"/>
          </a:xfrm>
          <a:prstGeom prst="rect">
            <a:avLst/>
          </a:prstGeom>
          <a:noFill/>
        </p:spPr>
        <p:txBody>
          <a:bodyPr wrap="square">
            <a:spAutoFit/>
          </a:bodyPr>
          <a:lstStyle/>
          <a:p>
            <a:r>
              <a:rPr sz="1600" b="1" dirty="0">
                <a:solidFill>
                  <a:srgbClr val="0B3D8C"/>
                </a:solidFill>
              </a:rPr>
              <a:t>Recommendations</a:t>
            </a:r>
          </a:p>
          <a:p>
            <a:r>
              <a:rPr sz="1300" dirty="0">
                <a:solidFill>
                  <a:srgbClr val="1B2A44"/>
                </a:solidFill>
              </a:rPr>
              <a:t>• Celebration: </a:t>
            </a:r>
            <a:r>
              <a:rPr sz="1300" dirty="0" err="1">
                <a:solidFill>
                  <a:srgbClr val="1B2A44"/>
                </a:solidFill>
              </a:rPr>
              <a:t>Swiftie</a:t>
            </a:r>
            <a:r>
              <a:rPr sz="1300" dirty="0">
                <a:solidFill>
                  <a:srgbClr val="1B2A44"/>
                </a:solidFill>
              </a:rPr>
              <a:t> celebrates</a:t>
            </a:r>
            <a:r>
              <a:rPr lang="en-US" sz="1300" dirty="0">
                <a:solidFill>
                  <a:srgbClr val="1B2A44"/>
                </a:solidFill>
              </a:rPr>
              <a:t>. </a:t>
            </a:r>
          </a:p>
          <a:p>
            <a:endParaRPr lang="hi-IN" sz="1300" dirty="0">
              <a:solidFill>
                <a:srgbClr val="1B2A44"/>
              </a:solidFill>
            </a:endParaRPr>
          </a:p>
          <a:p>
            <a:r>
              <a:rPr lang="en-US" sz="1300" dirty="0">
                <a:solidFill>
                  <a:srgbClr val="1B2A44"/>
                </a:solidFill>
              </a:rPr>
              <a:t>Replace the text with “</a:t>
            </a:r>
            <a:r>
              <a:rPr lang="hi-IN" sz="1300" dirty="0">
                <a:solidFill>
                  <a:srgbClr val="1B2A44"/>
                </a:solidFill>
              </a:rPr>
              <a:t>शाबाश! आपने संख्याओं को जोड़ना सीख लिया।”</a:t>
            </a:r>
          </a:p>
          <a:p>
            <a:endParaRPr lang="hi-IN" sz="1300" dirty="0">
              <a:solidFill>
                <a:srgbClr val="1B2A44"/>
              </a:solidFill>
            </a:endParaRPr>
          </a:p>
          <a:p>
            <a:r>
              <a:rPr lang="en-US" sz="1400" b="1" dirty="0"/>
              <a:t>VO:</a:t>
            </a:r>
            <a:r>
              <a:rPr lang="hi-IN" sz="1400" b="1" dirty="0"/>
              <a:t> </a:t>
            </a:r>
            <a:r>
              <a:rPr lang="en-US" sz="1300" dirty="0">
                <a:solidFill>
                  <a:srgbClr val="1B2A44"/>
                </a:solidFill>
              </a:rPr>
              <a:t>“</a:t>
            </a:r>
            <a:r>
              <a:rPr lang="hi-IN" sz="1300" dirty="0">
                <a:solidFill>
                  <a:srgbClr val="1B2A44"/>
                </a:solidFill>
              </a:rPr>
              <a:t>शाबाश! आपने संख्याओं को जोड़ना सीख लिया।”</a:t>
            </a:r>
            <a:endParaRPr sz="1300" dirty="0">
              <a:solidFill>
                <a:srgbClr val="1B2A44"/>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2042</TotalTime>
  <Words>3410</Words>
  <Application>Microsoft Office PowerPoint</Application>
  <PresentationFormat>Widescreen</PresentationFormat>
  <Paragraphs>310</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ADLaM Display</vt:lpstr>
      <vt:lpstr>Arial</vt:lpstr>
      <vt:lpstr>Calibri</vt:lpstr>
      <vt:lpstr>Mangal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Suresh Kumar</cp:lastModifiedBy>
  <cp:revision>16</cp:revision>
  <dcterms:created xsi:type="dcterms:W3CDTF">2013-01-27T09:14:16Z</dcterms:created>
  <dcterms:modified xsi:type="dcterms:W3CDTF">2026-10-06T09:52:34Z</dcterms:modified>
  <cp:category/>
</cp:coreProperties>
</file>